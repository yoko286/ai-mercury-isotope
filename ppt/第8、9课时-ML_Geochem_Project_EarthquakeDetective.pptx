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90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65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封面】欢迎来到"地震侦探社"！今天你将面对一个真正的地球科学问题——用实时地震数据发现板块运动的规律。数据不是模拟的，而是刚刚从USGS（美国地质调查局）API获取的真实地震记录！你的电脑正在和全世界的 seismometer（地震仪）对话。准备好了吗？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总览】本项目分5步。与之前方案最大的不同：数据是真的！每一行数据都对应着地球上刚刚发生过的一次真实地震。你不需要ICP-MS、不需要显微镜——只需要联网和一双手。科学问题是：地震的深度和震级有关吗？地震都发生在哪里？这些模式说明了什么？——这是板块构造理论的核心问题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科学背景】在动手之前，先了解一下地震究竟是怎么回事。地球的外壳（岩石圈）并不是一整块的，而是由大约15块巨大的"板块"拼成的，就像破碎的鸡蛋壳。这些板块在不停地缓慢移动（每年几厘米，和你的指甲生长速度差不多！）。板块交界处就是地震最频繁的地方——互相挤压、拉张或错动。地震的震源深度也反映了板块的运动方式：浅源地震（&lt;70km）发生在板块边界附近，而深源地震（&gt;300km）只出现在板块俯冲带——一大块板块"钻"到另一块下面去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科学背景详介】地震的三个关键属性——震级、深度、位置。85%的地震是浅源的，发生在脆性地壳中。深源地震（&gt;300km）更有意思：它们只出现在板块俯冲带（比如日本、印尼），因为只有俯冲的冷板块才能把"脆性断裂"带到那么深的地方。这是理解后面ML分析结果的关键！全球三大地震带：环太平洋"火环"（80%地震）、阿尔卑斯-喜马拉雅带（15%）、洋中脊带（5%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【Step 1】最酷的部分来了！你不需要找老师要数据文件，不需要下载CSV——一行代码直接从USGS地震监测网的API获取数据。USGS = 美国地质调查局，他们有一个免费公开的API，任何人都可以查询全球实时地震数据。你现在查询的数据和科学家在实验室查询的是同一个来源！注意URL中的参数：minmagnitude=2.5（只取2.5级以上的地震）、starttime和endtime控制时间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代码-获取数据】重点解释requests库做了什么：你的电脑向USGS服务器发送一个请求，说"请给我最近200条震级&gt;2.5的地震数据"，服务器返回一个JSON格式的"包裹"，然后你把它拆开、整理成一个表格。注意starttime参数要改成今天的日期。运行这段代码后，你会得到一张有200行、每行包含一次真实地震信息的表格。建议让学生观察一下"place"列——能看到很多在海洋里、在人烟稀少的地方发生的地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【Step 2】数据下载好之后，先不要急着上ML——先画图！数据科学的第一原则是"先画图，再分析"。最简单的散点图就能告诉你很多信息：震源深度和震级有关系吗？你会发现有趣的现象——最浅的地震往往震级较小，而深度在10km左右的地震震级分布范围最广。为什么会这样？因为浅层地壳断裂更困难，需要积累更多能量。而到了300km以下的深源地震，震级分布又有不同的特征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代码-探索】两张图——散点图和柱状图。散点图以深度为x轴、震级为y轴，每个点代表一次地震。颜色越深代表深度越大的地震。你注意看：绝大多数地震集中在0-70km的浅层（这是地壳的厚度范围），但少数地震深达600km以上——这些深层地震一定出现在板块俯冲带。柱状图统计三类深度的地震数量。猜猜看：浅源、中源、深源各有多少？真实数据显示约85%的地震是浅源的，10%中源，5%深源。你能从你的数据中验证这个比例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关键科学问题】这是整个项目中最重要的思考环节！停下来，不要急着跑代码——先观察你的图。你可能会发现：深度&lt;70km的地震震级分布很广（M2.5~6.5），深度&gt;300km的地震震级反而比较均匀（M4~6）。这是因为浅层地壳断裂机制多样，而深部岩石在高温高压下变得"塑性"，只有积累足够能量才能断裂。还有：深度超过600km的地震几乎没有——因为岩石在这个深度已经太"软"了，根本不会脆性断裂！这就是"地震深度极限"的科学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【Step 3】现在上ML！我们做两件事：第一，用KMeans聚类算法，让电脑根据地震的经纬度自动找出"地震集群"——不出意外的话，电脑会发现环太平洋地震带、阿尔卑斯带等。第二，用KNN分类，根据深度和震级预测地震属于哪个"深度类别"（浅/中/深）。这两个ML任务都和数据中的真实物理规律相对应——你不是在"玩数字"，而是在用ML发现地球的构造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ML代码】两个ML任务。KMeans聚类是"无监督学习"——你不告诉电脑地震应该在哪儿，它自己根据经纬度"发现"5个群集。你猜它会找到什么？可能1群=日本/台湾（俯冲带）、2群=美国西海岸（圣安德烈斯断层）、3群=印度尼西亞（俯冲带）、4群=大西洋洋中脊、5群=南美洲西海岸。KNN分类任务中，我们看看能不能用震级和深度"猜"出地震属于浅源/中源/深源。准确率可能不会很高（60-70%），因为有些浅源地震和中源地震在特征上确实很相似。这在科研中很常见——不是所有问题ML都能完美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聚类可视化】把KMeans聚类结果画在世界地图上——你会看到5种颜色的点群，自然地分成了环太平洋地震带、阿尔卑斯-喜马拉雅带、东非裂谷、洋中脊等。这正是板块边界！最酷的是：电脑完全不知道板块构造理论，它只是"看了"经纬度数据就自动发现了这些结构。这就像让一个完全不懂汽车的人看全世界汽车的位置，他自动发现了"高速公路"的存在。这就是无监督学习的威力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【Step 4】现在你已经用自己的分析发现了地震的分布规律。但"发现了规律"和"理解规律为什么存在"是两回事。这时候大语言模型就派上用场了！把你的分析结果（聚类发现了5个群、深度分类准确率等）整理好，然后向AI提问："为什么全球地震会分布成这几个群？为什么浅源地震远多于深源地震？"AI会用板块构造理论给你一个专业的地球科学解释。记住：你发现了什么+AI解释了为什么=完整的研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【AI提示词】这是一个高质量的AI提问模板。注意它包含了：背景（我是初中生）、具体数据（200条记录、比例、准确率）、结构化问题（4个递进的问题）。好的提示词 = 好的回答。如果你只问"为什么地震会这样"，AI的回答会很泛泛。但你把你的发现列出来，让AI基于你的数据做解释——它就会给你"私人定制"的分析。另外，问题4问"我的准确率好不好"——这是一个元认知问题，让AI帮你评估你的分析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【Step 5】最后一步！把你的数据和发现整理成一份简短的科学报告。报告不是复制代码，而是"讲一个故事"：你提出了什么问题？你是怎么分析的？你发现了什么？这些发现意味着什么？报告要写得让不懂编程的人也能看懂。这可能是最重要的技能——数据科学家花了80%的时间做分析，剩下的20%时间写报告——但正是这20%决定了你的工作有没有影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报告模板】注意每个部分都在引导你讲一个完整的故事。特别是第5部分"结论与收获"——这没有标准答案，完全取决于你从数据中看到了什么。如果你发现你的数据和科学常识不符合（比如没有发现环太平洋地震带），那本身就是有趣的发现——说明你的数据采样范围有限。这也是科学家面对真实数据的日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进阶挑战】三个挑战。挑战1最简单——改参数看结果变化，理解K值对聚类的影响。挑战2更有科学深度——浅源地震遍布全球板块边界，但深源地震只出现在俯冲带。分别聚类这两组数据，你会发现浅源地震的群集更多样。挑战3最实用——你把KMeans模型保存下来，输入任意经纬度，它就能预测"这里属于哪个地震带"——这就是一个"地震带预测器"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满分范例】这个报告优秀在哪里？①他认真观察了散点图，发现了"深源地震震级范围更窄"这个细节——大部分人都不会注意到。②KMeans的5个群集他一个个说了对应哪里——不是笼统说"5个群"。③KNN准确率62%他诚实地写出来了，没有编造一个90%——而且他解释了为什么不高。④他使用了AI解释。这里最值得学习的是：诚实地面对"不好"的结果，并思考原因——这才是真正的科学精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职业拓展】今天你做的每一步——从API获取数据、画散点图、KMeans聚类、KNN分类——都是地震学家的日常工作。不同之处在于：他们有更复杂的数据（地震波形、断层几何）和更专业的工具。但数据分析的"思维"完全一样！中国地震局、美国USGS、日本气象厅都在用ML分析地震数据。如果你对这个领域感兴趣，可以考虑学习地球物理学或数据科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评分标准】特别想强调"独立思考"这一项——如果你的KNN准确率只有62%，但你能诚实写出来、分析为什么不高，这比编造一个90%更能得高分。科学的核心不是"做出漂亮的结果"，而是"诚实地面对真实数据"。还有：如果你发现你的数据里深源地震特别多（可能是因为你下载数据时正好有深源地震群），那反而是一个有趣的发现——你可以探究为什么这几天深源地震特别活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结束页】最酷的一点：你的代码明天、下周、下个月都还能用——每次运行都会从USGS获取最新的地震数据。这不是"一次性的作业"，而是一个"活得"的数据分析工具。如果你每天运行一次，记录结果，你就能观察到全球地震活动的长期变化——这是真正的科学监测！Sharing note: 如果学生做得很认真，可以把报告分享到班级群——让其他同学也看看你的发现。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54864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5088636"/>
            <a:ext cx="9144000" cy="54864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</a:pPr>
            <a:r>
              <a:rPr sz="3800" b="1">
                <a:solidFill>
                  <a:srgbClr val="FFD700"/>
                </a:solidFill>
                <a:latin typeface="Microsoft YaHei"/>
              </a:rPr>
              <a:t>🌍 地震侦探社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</a:pPr>
            <a:r>
              <a:rPr sz="2200" b="0">
                <a:solidFill>
                  <a:srgbClr val="FFCC66"/>
                </a:solidFill>
                <a:latin typeface="Microsoft YaHei"/>
              </a:rPr>
              <a:t>用机器学习分析真实地震数据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从USGS（美国地质调查局）获取实时地震数据 → 用Python分析 → 发现规律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适合已学完主课的同学  |  预计用时：1.5-2小时  |  零安装（Colab）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</a:pPr>
            <a:r>
              <a:rPr sz="1400" b="0">
                <a:solidFill>
                  <a:srgbClr val="DDDDDD"/>
                </a:solidFill>
                <a:latin typeface="Microsoft YaHei"/>
              </a:rPr>
              <a:t>你的数据来自：正在发生的真实地震！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项目总览：地震侦探社的使命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8595360" cy="109728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全球地震分布有规律吗？深源地震和浅源地震有什么不同？</a:t>
            </a:r>
          </a:p>
          <a:p>
            <a:pPr algn="l">
              <a:lnSpc>
                <a:spcPts val="132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能否用震源深度预测震级？地震带和板块边界有什么关系？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920240"/>
            <a:ext cx="2743200" cy="1371600"/>
          </a:xfrm>
          <a:prstGeom prst="roundRect">
            <a:avLst/>
          </a:prstGeom>
          <a:solidFill>
            <a:srgbClr val="FFF0E0"/>
          </a:solidFill>
          <a:ln w="6350">
            <a:solidFill>
              <a:srgbClr val="8B5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9" y="1993391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>
                <a:solidFill>
                  <a:srgbClr val="1A1A1A"/>
                </a:solidFill>
                <a:latin typeface="Microsoft YaHei"/>
              </a:rPr>
              <a:t>获取地震数据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一行代码从USGS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下载200个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最新地震数据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920240"/>
            <a:ext cx="2743200" cy="1371600"/>
          </a:xfrm>
          <a:prstGeom prst="roundRect">
            <a:avLst/>
          </a:prstGeom>
          <a:solidFill>
            <a:srgbClr val="E8F5F0"/>
          </a:solidFill>
          <a:ln w="6350">
            <a:solidFill>
              <a:srgbClr val="3CA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83280" y="2011680"/>
            <a:ext cx="365760" cy="365760"/>
          </a:xfrm>
          <a:prstGeom prst="ellipse">
            <a:avLst/>
          </a:prstGeom>
          <a:solidFill>
            <a:srgbClr val="3C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39" y="199022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>
                <a:solidFill>
                  <a:srgbClr val="3CA86C"/>
                </a:solidFill>
                <a:latin typeface="Microsoft YaHei"/>
              </a:rPr>
              <a:t>探索+画图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画散点图看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深度vs震级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统计分布规律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920240"/>
            <a:ext cx="2743200" cy="1371600"/>
          </a:xfrm>
          <a:prstGeom prst="roundRect">
            <a:avLst/>
          </a:prstGeom>
          <a:solidFill>
            <a:srgbClr val="FFF5E0"/>
          </a:solidFill>
          <a:ln w="6350">
            <a:solidFill>
              <a:srgbClr val="E89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09360" y="2011680"/>
            <a:ext cx="365760" cy="365760"/>
          </a:xfrm>
          <a:prstGeom prst="ellipse">
            <a:avLst/>
          </a:prstGeom>
          <a:solidFill>
            <a:srgbClr val="E89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987053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>
                <a:solidFill>
                  <a:srgbClr val="E89C3C"/>
                </a:solidFill>
                <a:latin typeface="Microsoft YaHei"/>
              </a:rPr>
              <a:t>ML分析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KMeans聚类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找地震带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分类深度类型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474720"/>
            <a:ext cx="4114800" cy="914400"/>
          </a:xfrm>
          <a:prstGeom prst="roundRect">
            <a:avLst/>
          </a:prstGeom>
          <a:solidFill>
            <a:srgbClr val="F5E8E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3200400" cy="32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dirty="0" err="1">
                <a:solidFill>
                  <a:srgbClr val="3B82F6"/>
                </a:solidFill>
                <a:latin typeface="Microsoft YaHei"/>
              </a:rPr>
              <a:t>AI大模型辅助解释</a:t>
            </a:r>
            <a:endParaRPr sz="1300" b="1" dirty="0">
              <a:solidFill>
                <a:srgbClr val="3B82F6"/>
              </a:solidFill>
              <a:latin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把分析结果给AI，让它用板块构造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理论解释你发现的模式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3474720"/>
            <a:ext cx="4114800" cy="914400"/>
          </a:xfrm>
          <a:prstGeom prst="roundRect">
            <a:avLst/>
          </a:prstGeom>
          <a:solidFill>
            <a:srgbClr val="F0E8F0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937760" y="3566160"/>
            <a:ext cx="365760" cy="36576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77840" y="3566160"/>
            <a:ext cx="3200400" cy="32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dirty="0" err="1">
                <a:solidFill>
                  <a:srgbClr val="FF4444"/>
                </a:solidFill>
                <a:latin typeface="Microsoft YaHei"/>
              </a:rPr>
              <a:t>结论报告</a:t>
            </a:r>
            <a:endParaRPr sz="1300" b="1" dirty="0">
              <a:solidFill>
                <a:srgbClr val="FF4444"/>
              </a:solidFill>
              <a:latin typeface="Microsoft Ya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7784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写出你的发现</a:t>
            </a:r>
          </a:p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回答科学问题</a:t>
            </a:r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C82E705F-2684-726B-9D8F-89B266C68BA2}"/>
              </a:ext>
            </a:extLst>
          </p:cNvPr>
          <p:cNvSpPr txBox="1"/>
          <p:nvPr/>
        </p:nvSpPr>
        <p:spPr>
          <a:xfrm>
            <a:off x="365759" y="3539304"/>
            <a:ext cx="548640" cy="372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 b="1" dirty="0">
                <a:solidFill>
                  <a:srgbClr val="FFFFFF"/>
                </a:solidFill>
                <a:latin typeface="Microsoft YaHei"/>
              </a:rPr>
              <a:t>4</a:t>
            </a:r>
            <a:endParaRPr sz="16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1562D17A-94C3-F2A5-8166-AA34D5041881}"/>
              </a:ext>
            </a:extLst>
          </p:cNvPr>
          <p:cNvSpPr txBox="1"/>
          <p:nvPr/>
        </p:nvSpPr>
        <p:spPr>
          <a:xfrm>
            <a:off x="4846320" y="3542436"/>
            <a:ext cx="548640" cy="3720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0"/>
              </a:lnSpc>
            </a:pPr>
            <a:r>
              <a:rPr lang="en-US" sz="1600" b="1" dirty="0">
                <a:solidFill>
                  <a:srgbClr val="FFFFFF"/>
                </a:solidFill>
                <a:latin typeface="Microsoft YaHei"/>
              </a:rPr>
              <a:t>5</a:t>
            </a:r>
            <a:endParaRPr sz="1600" b="1" dirty="0">
              <a:solidFill>
                <a:srgbClr val="FFFFFF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914400"/>
            <a:ext cx="731520" cy="73152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60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科学背景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FFCC66"/>
                </a:solidFill>
                <a:latin typeface="Microsoft YaHei"/>
              </a:rPr>
              <a:t>地球的"外壳"是由十几块巨大的板块拼成的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1828800" cy="27432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板块构造与地震——你需要知道的基础知识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8595360" cy="2729520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66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</a:pPr>
            <a:r>
              <a:rPr sz="1400" b="1" dirty="0" err="1">
                <a:solidFill>
                  <a:srgbClr val="FFD700"/>
                </a:solidFill>
                <a:latin typeface="Microsoft YaHei"/>
              </a:rPr>
              <a:t>地球的"碎片拼图</a:t>
            </a:r>
            <a:r>
              <a:rPr sz="1400" b="1" dirty="0">
                <a:solidFill>
                  <a:srgbClr val="FFD700"/>
                </a:solidFill>
                <a:latin typeface="Microsoft YaHei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9040"/>
            <a:ext cx="8229600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 dirty="0">
                <a:solidFill>
                  <a:srgbClr val="DDDDFF"/>
                </a:solidFill>
                <a:latin typeface="Microsoft YaHei"/>
              </a:rPr>
              <a:t>板块是地球外壳的"碎片"。全球有15大板块，在软流圈上缓慢漂移。</a:t>
            </a:r>
          </a:p>
          <a:p>
            <a:pPr algn="l">
              <a:lnSpc>
                <a:spcPts val="1600"/>
              </a:lnSpc>
            </a:pPr>
            <a:r>
              <a:rPr sz="1100" b="0" dirty="0" err="1">
                <a:solidFill>
                  <a:srgbClr val="DDDDFF"/>
                </a:solidFill>
                <a:latin typeface="Microsoft YaHei"/>
              </a:rPr>
              <a:t>地震的三个关键属性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：</a:t>
            </a:r>
          </a:p>
          <a:p>
            <a:pPr algn="l">
              <a:lnSpc>
                <a:spcPts val="1600"/>
              </a:lnSpc>
            </a:pPr>
            <a:r>
              <a:rPr sz="1100" b="0" dirty="0">
                <a:solidFill>
                  <a:srgbClr val="DDDDFF"/>
                </a:solidFill>
                <a:latin typeface="Microsoft YaHei"/>
              </a:rPr>
              <a:t>①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震级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 (Magnitude) —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表示地震释放的能量大小，用里氏震级衡量</a:t>
            </a:r>
            <a:endParaRPr sz="1100" b="0" dirty="0">
              <a:solidFill>
                <a:srgbClr val="DDDDFF"/>
              </a:solidFill>
              <a:latin typeface="Microsoft YaHei"/>
            </a:endParaRPr>
          </a:p>
          <a:p>
            <a:pPr algn="l">
              <a:lnSpc>
                <a:spcPts val="1600"/>
              </a:lnSpc>
            </a:pPr>
            <a:r>
              <a:rPr sz="1100" b="0" dirty="0">
                <a:solidFill>
                  <a:srgbClr val="DDDDFF"/>
                </a:solidFill>
                <a:latin typeface="Microsoft YaHei"/>
              </a:rPr>
              <a:t>   M&lt;3: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人几乎感觉不到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 | M3-5: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有震感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 | M5-7: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破坏性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 | M&gt;7: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大地震</a:t>
            </a:r>
            <a:endParaRPr sz="1100" b="0" dirty="0">
              <a:solidFill>
                <a:srgbClr val="DDDDFF"/>
              </a:solidFill>
              <a:latin typeface="Microsoft YaHei"/>
            </a:endParaRPr>
          </a:p>
          <a:p>
            <a:pPr algn="l">
              <a:lnSpc>
                <a:spcPts val="1600"/>
              </a:lnSpc>
            </a:pPr>
            <a:r>
              <a:rPr sz="1100" b="0" dirty="0">
                <a:solidFill>
                  <a:srgbClr val="DDDDFF"/>
                </a:solidFill>
                <a:latin typeface="Microsoft YaHei"/>
              </a:rPr>
              <a:t>②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震源深度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 (Depth) —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地震发生处距地表的距离</a:t>
            </a:r>
            <a:endParaRPr sz="1100" b="0" dirty="0">
              <a:solidFill>
                <a:srgbClr val="DDDDFF"/>
              </a:solidFill>
              <a:latin typeface="Microsoft YaHei"/>
            </a:endParaRPr>
          </a:p>
          <a:p>
            <a:pPr algn="l">
              <a:lnSpc>
                <a:spcPts val="1600"/>
              </a:lnSpc>
            </a:pPr>
            <a:r>
              <a:rPr sz="1100" b="0" dirty="0">
                <a:solidFill>
                  <a:srgbClr val="DDDDFF"/>
                </a:solidFill>
                <a:latin typeface="Microsoft YaHei"/>
              </a:rPr>
              <a:t>  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浅源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 (0-70km) : 发生在脆性的地壳中，约85%的地震都是浅源</a:t>
            </a:r>
          </a:p>
          <a:p>
            <a:pPr algn="l">
              <a:lnSpc>
                <a:spcPts val="1600"/>
              </a:lnSpc>
            </a:pPr>
            <a:r>
              <a:rPr sz="1100" b="0" dirty="0">
                <a:solidFill>
                  <a:srgbClr val="DDDDFF"/>
                </a:solidFill>
                <a:latin typeface="Microsoft YaHei"/>
              </a:rPr>
              <a:t>  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中源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 (70-300km):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发生在地幔顶部，与板块俯冲有关</a:t>
            </a:r>
            <a:endParaRPr sz="1100" b="0" dirty="0">
              <a:solidFill>
                <a:srgbClr val="DDDDFF"/>
              </a:solidFill>
              <a:latin typeface="Microsoft YaHei"/>
            </a:endParaRPr>
          </a:p>
          <a:p>
            <a:pPr algn="l">
              <a:lnSpc>
                <a:spcPts val="1600"/>
              </a:lnSpc>
            </a:pPr>
            <a:r>
              <a:rPr sz="1100" b="0" dirty="0">
                <a:solidFill>
                  <a:srgbClr val="DDDDFF"/>
                </a:solidFill>
                <a:latin typeface="Microsoft YaHei"/>
              </a:rPr>
              <a:t>  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深源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 (300-700km):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只发生在板块俯冲带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！（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为什么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？）</a:t>
            </a:r>
          </a:p>
          <a:p>
            <a:pPr algn="l">
              <a:lnSpc>
                <a:spcPts val="1600"/>
              </a:lnSpc>
            </a:pPr>
            <a:r>
              <a:rPr sz="1100" b="0" dirty="0">
                <a:solidFill>
                  <a:srgbClr val="DDDDFF"/>
                </a:solidFill>
                <a:latin typeface="Microsoft YaHei"/>
              </a:rPr>
              <a:t>③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位置</a:t>
            </a:r>
            <a:r>
              <a:rPr sz="1100" b="0" dirty="0">
                <a:solidFill>
                  <a:srgbClr val="DDDDFF"/>
                </a:solidFill>
                <a:latin typeface="Microsoft YaHei"/>
              </a:rPr>
              <a:t> (Latitude/Longitude) — </a:t>
            </a:r>
            <a:r>
              <a:rPr sz="1100" b="0" dirty="0" err="1">
                <a:solidFill>
                  <a:srgbClr val="DDDDFF"/>
                </a:solidFill>
                <a:latin typeface="Microsoft YaHei"/>
              </a:rPr>
              <a:t>地震发生的经纬度</a:t>
            </a:r>
            <a:endParaRPr sz="1100" b="0" dirty="0">
              <a:solidFill>
                <a:srgbClr val="DDDDFF"/>
              </a:solidFill>
              <a:latin typeface="Microsoft YaHei"/>
            </a:endParaRPr>
          </a:p>
          <a:p>
            <a:pPr algn="l">
              <a:lnSpc>
                <a:spcPts val="1600"/>
              </a:lnSpc>
            </a:pPr>
            <a:r>
              <a:rPr sz="1100" b="0" dirty="0">
                <a:solidFill>
                  <a:srgbClr val="DDDDFF"/>
                </a:solidFill>
                <a:latin typeface="Microsoft YaHei"/>
              </a:rPr>
              <a:t>   95%的地震发生在板块边界上，这就是"地震带"！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483360"/>
            <a:ext cx="2743200" cy="1371600"/>
          </a:xfrm>
          <a:prstGeom prst="roundRect">
            <a:avLst/>
          </a:prstGeom>
          <a:solidFill>
            <a:srgbClr val="FFF0E0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517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dirty="0">
                <a:solidFill>
                  <a:srgbClr val="FF4444"/>
                </a:solidFill>
                <a:latin typeface="Microsoft YaHei"/>
              </a:rPr>
              <a:t>🌋 </a:t>
            </a:r>
            <a:r>
              <a:rPr sz="1200" b="1" dirty="0" err="1">
                <a:solidFill>
                  <a:srgbClr val="FF4444"/>
                </a:solidFill>
                <a:latin typeface="Microsoft YaHei"/>
              </a:rPr>
              <a:t>环太平洋地震带</a:t>
            </a:r>
            <a:endParaRPr sz="1200" b="1" dirty="0">
              <a:solidFill>
                <a:srgbClr val="FF4444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813120"/>
            <a:ext cx="2286000" cy="1078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全球80%的地震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发生在这里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"火环"（Ring of Fire）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板块俯冲带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483360"/>
            <a:ext cx="2743200" cy="1371600"/>
          </a:xfrm>
          <a:prstGeom prst="roundRect">
            <a:avLst/>
          </a:prstGeom>
          <a:solidFill>
            <a:srgbClr val="E8F5F0"/>
          </a:solidFill>
          <a:ln w="6350">
            <a:solidFill>
              <a:srgbClr val="3CA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3517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1">
                <a:solidFill>
                  <a:srgbClr val="3CA86C"/>
                </a:solidFill>
                <a:latin typeface="Microsoft YaHei"/>
              </a:rPr>
              <a:t>🏔️ 阿尔卑斯-喜马拉雅带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13120"/>
            <a:ext cx="2286000" cy="82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印度板块撞欧亚板块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形成了喜马拉雅山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地震频繁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483360"/>
            <a:ext cx="2743200" cy="1371600"/>
          </a:xfrm>
          <a:prstGeom prst="roundRect">
            <a:avLst/>
          </a:prstGeom>
          <a:solidFill>
            <a:srgbClr val="E8E0F0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3517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🌊 洋中脊地震带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13120"/>
            <a:ext cx="2286000" cy="82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大西洋洋中脊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板块张裂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Microsoft YaHei"/>
              </a:rPr>
              <a:t>地震较小较浅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914400"/>
            <a:ext cx="731520" cy="73152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60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第一步：获取真实地震数据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FFCC66"/>
                </a:solidFill>
                <a:latin typeface="Microsoft YaHei"/>
              </a:rPr>
              <a:t>用一行Python代码从USGS下载正在发生的地震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1828800" cy="27432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Step 1 — 下载实时地震数据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73840" y="93496"/>
            <a:ext cx="4880880" cy="4912843"/>
          </a:xfrm>
          <a:prstGeom prst="roundRect">
            <a:avLst>
              <a:gd name="adj" fmla="val 6443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1960" y="794444"/>
            <a:ext cx="3365640" cy="29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 dirty="0" err="1">
                <a:solidFill>
                  <a:srgbClr val="8B3A3A"/>
                </a:solidFill>
                <a:latin typeface="Microsoft YaHei"/>
              </a:rPr>
              <a:t>复制到Colab，一键获取真实地震数据</a:t>
            </a:r>
            <a:endParaRPr sz="1400" b="1" dirty="0">
              <a:solidFill>
                <a:srgbClr val="8B3A3A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60400" y="107585"/>
            <a:ext cx="44820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Step 1: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从USGS下载最近的地震数据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import requests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import pandas as pd</a:t>
            </a: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import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json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请求USGS的API（完全免费，无需注册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）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url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 "https://earthquake.usgs.gov/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fdsnws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/event/1/query"</a:t>
            </a: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params = {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"format": 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geojson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",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starttime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": "2026-06-01",  # ←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改成今天的日期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endtime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": "2026-06-17",    # ←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改成今天的日期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minmagnitude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": 2.5,</a:t>
            </a: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"limit": 200</a:t>
            </a:r>
            <a:r>
              <a:rPr lang="en-US" sz="1100" b="0" dirty="0">
                <a:solidFill>
                  <a:srgbClr val="1A1A1A"/>
                </a:solidFill>
                <a:latin typeface="Microsoft YaHei"/>
              </a:rPr>
              <a:t> 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}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response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requests.get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url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, params=params)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data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response.json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()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提取为DataFrame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records = []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for eq in data["features"]: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p = eq["properties"]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geo = eq["geometry"]["coordinates"]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records.append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({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"magnitude": p["mag"],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"depth": geo[2],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"longitude": geo[0],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"latitude": geo[1],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"place": p["place"],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"time": p["time"],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"tsunami": p["tsunami"],</a:t>
            </a:r>
            <a:r>
              <a:rPr lang="en-US" sz="1100" b="0" dirty="0">
                <a:solidFill>
                  <a:srgbClr val="1A1A1A"/>
                </a:solidFill>
                <a:latin typeface="Microsoft YaHei"/>
              </a:rPr>
              <a:t> 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})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pd.DataFrame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(records)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f"成功获取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{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len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)}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条地震记录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！")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df.head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(10))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8340" y="2048220"/>
            <a:ext cx="3512880" cy="202320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9980" y="2147255"/>
            <a:ext cx="3189600" cy="65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1" dirty="0" err="1">
                <a:solidFill>
                  <a:srgbClr val="8B3A3A"/>
                </a:solidFill>
                <a:latin typeface="Microsoft YaHei"/>
              </a:rPr>
              <a:t>你不只是在"写代码</a:t>
            </a:r>
            <a:r>
              <a:rPr sz="1300" b="1" dirty="0">
                <a:solidFill>
                  <a:srgbClr val="8B3A3A"/>
                </a:solidFill>
                <a:latin typeface="Microsoft YaHei"/>
              </a:rPr>
              <a:t>"——</a:t>
            </a:r>
            <a:r>
              <a:rPr sz="1300" b="1" dirty="0" err="1">
                <a:solidFill>
                  <a:srgbClr val="8B3A3A"/>
                </a:solidFill>
                <a:latin typeface="Microsoft YaHei"/>
              </a:rPr>
              <a:t>你在和USGS的全球地震监测网对话</a:t>
            </a:r>
            <a:r>
              <a:rPr sz="1300" b="1" dirty="0">
                <a:solidFill>
                  <a:srgbClr val="8B3A3A"/>
                </a:solidFill>
                <a:latin typeface="Microsoft YaHei"/>
              </a:rPr>
              <a:t>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540" y="2898831"/>
            <a:ext cx="2617200" cy="1078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dirty="0">
                <a:solidFill>
                  <a:srgbClr val="666666"/>
                </a:solidFill>
                <a:latin typeface="Microsoft YaHei"/>
              </a:rPr>
              <a:t>每天有10,000+次地震被USGS记录 | 你的代码下载了其中200次最大的</a:t>
            </a:r>
          </a:p>
          <a:p>
            <a:pPr algn="ctr">
              <a:lnSpc>
                <a:spcPct val="150000"/>
              </a:lnSpc>
            </a:pPr>
            <a:r>
              <a:rPr sz="1100" b="0" dirty="0" err="1">
                <a:solidFill>
                  <a:srgbClr val="666666"/>
                </a:solidFill>
                <a:latin typeface="Microsoft YaHei"/>
              </a:rPr>
              <a:t>伸手拿一拿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——</a:t>
            </a:r>
            <a:r>
              <a:rPr sz="1100" b="0" dirty="0" err="1">
                <a:solidFill>
                  <a:srgbClr val="666666"/>
                </a:solidFill>
                <a:latin typeface="Microsoft YaHei"/>
              </a:rPr>
              <a:t>这些数据几分钟前还是地震仪上的电子信号</a:t>
            </a:r>
            <a:r>
              <a:rPr sz="1100" b="0" dirty="0">
                <a:solidFill>
                  <a:srgbClr val="666666"/>
                </a:solidFill>
                <a:latin typeface="Microsoft YaHei"/>
              </a:rPr>
              <a:t>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914400"/>
            <a:ext cx="731520" cy="73152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60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第二步：探索数据中的模式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FFCC66"/>
                </a:solidFill>
                <a:latin typeface="Microsoft YaHei"/>
              </a:rPr>
              <a:t>画图看看深度和震级有什么关系？地震都分布在哪里？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1828800" cy="27432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Step 2 — 画图探索数据规律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85200" y="45720"/>
            <a:ext cx="4975920" cy="5006340"/>
          </a:xfrm>
          <a:prstGeom prst="roundRect">
            <a:avLst>
              <a:gd name="adj" fmla="val 3639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96480"/>
            <a:ext cx="3345120" cy="29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 dirty="0" err="1">
                <a:solidFill>
                  <a:srgbClr val="8B3A3A"/>
                </a:solidFill>
                <a:latin typeface="Microsoft YaHei"/>
              </a:rPr>
              <a:t>探索代码</a:t>
            </a:r>
            <a:r>
              <a:rPr sz="1400" b="1" dirty="0">
                <a:solidFill>
                  <a:srgbClr val="8B3A3A"/>
                </a:solidFill>
                <a:latin typeface="Microsoft YaHei"/>
              </a:rPr>
              <a:t>——</a:t>
            </a:r>
            <a:r>
              <a:rPr sz="1400" b="1" dirty="0" err="1">
                <a:solidFill>
                  <a:srgbClr val="8B3A3A"/>
                </a:solidFill>
                <a:latin typeface="Microsoft YaHei"/>
              </a:rPr>
              <a:t>复制进Colab继续</a:t>
            </a:r>
            <a:endParaRPr sz="1400" b="1" dirty="0">
              <a:solidFill>
                <a:srgbClr val="8B3A3A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68080" y="45720"/>
            <a:ext cx="4793040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import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matplotlib.pyplot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as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35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1.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数据概览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print("===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基本统计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===")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[["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magnitude","depth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"]].describe())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2.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vs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震级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散点图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plt.figure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figsize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=(8,5))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plt.scatter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["depth"],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["magnitude"],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    c=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["depth"],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cmap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="Reds",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    alpha=0.6, s=30)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plt.colorbar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(label="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(km)")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plt.xlabel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震源深度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(km)")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plt.ylabel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震级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(Magnitude)")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plt.title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地震深度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vs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震级分布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plt.grid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(True, alpha=0.3)</a:t>
            </a:r>
          </a:p>
          <a:p>
            <a:pPr algn="l">
              <a:lnSpc>
                <a:spcPts val="135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plt.show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35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3.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深度分类直方图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shallow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len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["depth"] &lt; 70])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intermediate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len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["depth"] &gt;= 70) &amp; 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["depth"] &lt; 300)])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deep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len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["depth"] &gt;= 300])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plt.figure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figsize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=(6,4))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plt.bar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(["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浅源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(&lt;70km)", 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中源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(70-300km)", 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(&gt;=300km)"],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[shallow, intermediate, deep],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color=["#FF8844", "#CC5555", "#882222"])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plt.title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地震按深度分类的分布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plt.ylabel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地震数量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plt.grid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(True, alpha=0.3)</a:t>
            </a:r>
          </a:p>
          <a:p>
            <a:pPr algn="l">
              <a:lnSpc>
                <a:spcPts val="135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plt.show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f"浅源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: {shallow},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中源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: {intermediate},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: {deep}")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关键科学问题——从图中能观察到什么？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8595360" cy="193167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停下来想一想：你的散点图告诉你什么？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1444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 err="1">
                <a:solidFill>
                  <a:srgbClr val="1A1A1A"/>
                </a:solidFill>
                <a:latin typeface="Microsoft YaHei"/>
              </a:rPr>
              <a:t>观察你的散点图，回答以下问题</a:t>
            </a:r>
            <a:r>
              <a:rPr sz="1200" b="0" dirty="0">
                <a:solidFill>
                  <a:srgbClr val="1A1A1A"/>
                </a:solidFill>
                <a:latin typeface="Microsoft YaHei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1A1A1A"/>
                </a:solidFill>
                <a:latin typeface="Microsoft YaHei"/>
              </a:rPr>
              <a:t>1. </a:t>
            </a:r>
            <a:r>
              <a:rPr sz="1200" b="0" dirty="0" err="1">
                <a:solidFill>
                  <a:srgbClr val="1A1A1A"/>
                </a:solidFill>
                <a:latin typeface="Microsoft YaHei"/>
              </a:rPr>
              <a:t>深度浅的地震</a:t>
            </a:r>
            <a:r>
              <a:rPr sz="1200" b="0" dirty="0">
                <a:solidFill>
                  <a:srgbClr val="1A1A1A"/>
                </a:solidFill>
                <a:latin typeface="Microsoft YaHei"/>
              </a:rPr>
              <a:t>（&lt;70km）震级范围大还是小？（从M2.5到M6+都有）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1A1A1A"/>
                </a:solidFill>
                <a:latin typeface="Microsoft YaHei"/>
              </a:rPr>
              <a:t>2. </a:t>
            </a:r>
            <a:r>
              <a:rPr sz="1200" b="0" dirty="0" err="1">
                <a:solidFill>
                  <a:srgbClr val="1A1A1A"/>
                </a:solidFill>
                <a:latin typeface="Microsoft YaHei"/>
              </a:rPr>
              <a:t>深度深的地震</a:t>
            </a:r>
            <a:r>
              <a:rPr sz="1200" b="0" dirty="0">
                <a:solidFill>
                  <a:srgbClr val="1A1A1A"/>
                </a:solidFill>
                <a:latin typeface="Microsoft YaHei"/>
              </a:rPr>
              <a:t>（&gt;300km）震级有什么特点？（</a:t>
            </a:r>
            <a:r>
              <a:rPr sz="1200" b="0" dirty="0" err="1">
                <a:solidFill>
                  <a:srgbClr val="1A1A1A"/>
                </a:solidFill>
                <a:latin typeface="Microsoft YaHei"/>
              </a:rPr>
              <a:t>通常偏大还是偏小</a:t>
            </a:r>
            <a:r>
              <a:rPr sz="1200" b="0" dirty="0">
                <a:solidFill>
                  <a:srgbClr val="1A1A1A"/>
                </a:solidFill>
                <a:latin typeface="Microsoft YaHei"/>
              </a:rPr>
              <a:t>？）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1A1A1A"/>
                </a:solidFill>
                <a:latin typeface="Microsoft YaHei"/>
              </a:rPr>
              <a:t>3. </a:t>
            </a:r>
            <a:r>
              <a:rPr sz="1200" b="0" dirty="0" err="1">
                <a:solidFill>
                  <a:srgbClr val="1A1A1A"/>
                </a:solidFill>
                <a:latin typeface="Microsoft YaHei"/>
              </a:rPr>
              <a:t>有没有某种"上限</a:t>
            </a:r>
            <a:r>
              <a:rPr sz="1200" b="0" dirty="0">
                <a:solidFill>
                  <a:srgbClr val="1A1A1A"/>
                </a:solidFill>
                <a:latin typeface="Microsoft YaHei"/>
              </a:rPr>
              <a:t>"——</a:t>
            </a:r>
            <a:r>
              <a:rPr sz="1200" b="0" dirty="0" err="1">
                <a:solidFill>
                  <a:srgbClr val="1A1A1A"/>
                </a:solidFill>
                <a:latin typeface="Microsoft YaHei"/>
              </a:rPr>
              <a:t>在特定深度上不会超过某个震级</a:t>
            </a:r>
            <a:r>
              <a:rPr sz="1200" b="0" dirty="0">
                <a:solidFill>
                  <a:srgbClr val="1A1A1A"/>
                </a:solidFill>
                <a:latin typeface="Microsoft YaHei"/>
              </a:rPr>
              <a:t>？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1A1A1A"/>
                </a:solidFill>
                <a:latin typeface="Microsoft YaHei"/>
              </a:rPr>
              <a:t>4. </a:t>
            </a:r>
            <a:r>
              <a:rPr sz="1200" b="0" dirty="0" err="1">
                <a:solidFill>
                  <a:srgbClr val="1A1A1A"/>
                </a:solidFill>
                <a:latin typeface="Microsoft YaHei"/>
              </a:rPr>
              <a:t>数据中哪次地震最深？发生在哪里</a:t>
            </a:r>
            <a:r>
              <a:rPr sz="1200" b="0" dirty="0">
                <a:solidFill>
                  <a:srgbClr val="1A1A1A"/>
                </a:solidFill>
                <a:latin typeface="Microsoft YaHei"/>
              </a:rPr>
              <a:t>？（</a:t>
            </a:r>
            <a:r>
              <a:rPr sz="1200" b="0" dirty="0" err="1">
                <a:solidFill>
                  <a:srgbClr val="1A1A1A"/>
                </a:solidFill>
                <a:latin typeface="Microsoft YaHei"/>
              </a:rPr>
              <a:t>看看place列</a:t>
            </a:r>
            <a:r>
              <a:rPr sz="1200" b="0" dirty="0">
                <a:solidFill>
                  <a:srgbClr val="1A1A1A"/>
                </a:solidFill>
                <a:latin typeface="Microsoft YaHei"/>
              </a:rPr>
              <a:t>！）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848320"/>
            <a:ext cx="4114800" cy="2076480"/>
          </a:xfrm>
          <a:prstGeom prst="roundRect">
            <a:avLst/>
          </a:prstGeom>
          <a:solidFill>
            <a:srgbClr val="E8F0E8"/>
          </a:solidFill>
          <a:ln w="6350">
            <a:solidFill>
              <a:srgbClr val="3CA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939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>
                <a:solidFill>
                  <a:srgbClr val="3CA86C"/>
                </a:solidFill>
                <a:latin typeface="Microsoft YaHei"/>
              </a:rPr>
              <a:t>地球科学解释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14080"/>
            <a:ext cx="3657600" cy="158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浅源地震多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→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地壳断裂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深源地震只在俯冲带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→</a:t>
            </a: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冷板块把脆性带到深处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深度加大、震级上限降低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→</a:t>
            </a: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高温高压下岩石变"塑性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</a:t>
            </a: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不容易脆性断裂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0" y="2848320"/>
            <a:ext cx="4114800" cy="2076480"/>
          </a:xfrm>
          <a:prstGeom prst="roundRect">
            <a:avLst/>
          </a:prstGeom>
          <a:solidFill>
            <a:srgbClr val="FFF0E0"/>
          </a:solidFill>
          <a:ln w="6350">
            <a:solidFill>
              <a:srgbClr val="E89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2939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>
                <a:solidFill>
                  <a:srgbClr val="E89C3C"/>
                </a:solidFill>
                <a:latin typeface="Microsoft YaHei"/>
              </a:rPr>
              <a:t>这就是ML要学的"规律"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214080"/>
            <a:ext cx="3657600" cy="1332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深度和震级之间没有简单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的线性关系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——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这正是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机器学习需要发挥作用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的地方：不是"算公式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</a:t>
            </a:r>
          </a:p>
          <a:p>
            <a:pPr algn="l">
              <a:lnSpc>
                <a:spcPct val="1500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而是从数据中"找模式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914400"/>
            <a:ext cx="731520" cy="73152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60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第三步：用机器学习做分析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FFCC66"/>
                </a:solidFill>
                <a:latin typeface="Microsoft YaHei"/>
              </a:rPr>
              <a:t>KMeans聚类 + KNN分类——找出地震的空间规律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1828800" cy="27432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Step 3 — 用ML发现地震规律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84000" y="45720"/>
            <a:ext cx="4860000" cy="5044680"/>
          </a:xfrm>
          <a:prstGeom prst="roundRect">
            <a:avLst>
              <a:gd name="adj" fmla="val 9187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30185"/>
            <a:ext cx="3020400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1" dirty="0" err="1">
                <a:solidFill>
                  <a:srgbClr val="8B3A3A"/>
                </a:solidFill>
                <a:latin typeface="Microsoft YaHei"/>
              </a:rPr>
              <a:t>ML分析代码</a:t>
            </a:r>
            <a:endParaRPr sz="1400" b="1" dirty="0">
              <a:solidFill>
                <a:srgbClr val="8B3A3A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28800" y="239217"/>
            <a:ext cx="4561200" cy="465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from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sklearn.cluster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import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KMeans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from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sklearn.neighbors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import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KNeighborsClassifier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from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sklearn.model_selection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import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cross_val_score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import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numpy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as np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=== ML任务1: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KMeans聚类找地震带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===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根据经纬度把地震自动分成5个"群"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coords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[["latitude", "longitude"]]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kmeans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KMeans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n_clusters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=5,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random_state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=42,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n_init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=10)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["cluster"]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kmeans.fit_predict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(coords)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看看每个集群的地震数量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print("===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KMeans聚类结果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===")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["cluster"].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value_counts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().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sort_index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())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看每个集群的平均深度和震级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print("\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n每群的平均特征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:")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df.groupby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("cluster")[["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depth","magnitude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"]].mean())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=== ML任务2: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KNN分类深度类型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===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根据震级+深度预测是浅源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/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中源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/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深源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depth_type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"]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pd.cut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["depth"],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bins=[-1, 70, 300, 1000],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labels=["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浅源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", 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中源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", 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"])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X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[["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magnitude","depth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"]]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y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depth_type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"]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knn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KNeighborsClassifier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n_neighbors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=5)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scores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cross_val_score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knn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, X, y, cv=5)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print(f"\n===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KNN分类深度类型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===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准确率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: {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scores.mean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():.0%}")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43200"/>
            <a:ext cx="3714480" cy="205200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617200" cy="32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解读结果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3380400" cy="158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KMeans找到的5个"簇"对应了哪5个地震带？打印每个簇的平均经纬度你就知道了！</a:t>
            </a: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KNN预测深度类型的准确率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——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如果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&gt;80%说明深度和震级确实能预测地震类型。但如果&lt;70%呢？说明地质过程更复杂，单靠两个特征不够——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这是真实的科研情况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可视化聚类结果——地震带"现身"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2080" y="573660"/>
            <a:ext cx="5137920" cy="4432680"/>
          </a:xfrm>
          <a:prstGeom prst="roundRect">
            <a:avLst>
              <a:gd name="adj" fmla="val 6588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59625"/>
            <a:ext cx="3351600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1" dirty="0" err="1">
                <a:solidFill>
                  <a:srgbClr val="8B3A3A"/>
                </a:solidFill>
                <a:latin typeface="Microsoft YaHei"/>
              </a:rPr>
              <a:t>把聚类结果画在地图上</a:t>
            </a:r>
            <a:endParaRPr sz="1400" b="1" dirty="0">
              <a:solidFill>
                <a:srgbClr val="8B3A3A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42440" y="731520"/>
            <a:ext cx="4777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画聚类颜色散点图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plt.figure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figsize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=(10,5))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colors = ["#FF4444", "#4488FF", "#44CC88", "#FF8844", "#AA44AA"]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for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i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in range(5):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cluster_data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["cluster"] ==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i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plt.scatter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cluster_data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["longitude"],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      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cluster_data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["latitude"],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        c=colors[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i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], label=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f"群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{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i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}",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            alpha=0.6, s=20)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35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标注大概的地理区域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plt.xlabel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经度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(Longitude)")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plt.ylabel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纬度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(Latitude)")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plt.title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("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KMeans自动发现的地震群集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")</a:t>
            </a:r>
          </a:p>
          <a:p>
            <a:pPr algn="l">
              <a:lnSpc>
                <a:spcPts val="135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plt.legend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()</a:t>
            </a: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plt.grid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(True, alpha=0.3)</a:t>
            </a:r>
          </a:p>
          <a:p>
            <a:pPr algn="l">
              <a:lnSpc>
                <a:spcPts val="135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plt.show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()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35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看看每群主要位置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for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i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in range(5):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sub 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df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["cluster"] ==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i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top_place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 sub["place"].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value_counts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().index[0]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 print(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f"群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{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i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}: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主要区域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= {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top_place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17520"/>
            <a:ext cx="3404880" cy="182808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3351600" cy="32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结果解读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142800" cy="92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电脑"无师自通"地发现了全球主要地震带！你自己观察：5个群的颜色，是不是大致对应了环太平洋、地中海、洋中脊等区域？</a:t>
            </a:r>
          </a:p>
          <a:p>
            <a:pPr algn="l">
              <a:lnSpc>
                <a:spcPts val="132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注意在经度-180到-120、纬度30-60的区域——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这是美国西海岸，圣安德烈斯断层所在地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914400"/>
            <a:ext cx="731520" cy="73152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60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第四步：用大模型AI解释发现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FFCC66"/>
                </a:solidFill>
                <a:latin typeface="Microsoft YaHei"/>
              </a:rPr>
              <a:t>把分析结果给AI，让它用板块构造理论来解释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1828800" cy="27432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怎样问AI？——提示词模板（复制粘贴）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8595360" cy="432054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把下面的内容复制到ChatGPT/通义千问/DeepSeek等AI助手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【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我的地震数据分析结果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】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你好！我是一名初中生，刚刚完成了一个地震数据分析项目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。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35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我做的分析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：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1. 从USGS下载了200条最近的地震记录（震级≥2.5）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2.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发现浅源地震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(&lt;70km)占[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填你的比例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]%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3. 用KMeans聚类发现地震自动分成5个群集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4.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用KNN预测深度类型，准确率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填你的准确率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]%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5.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发现深源地震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(&gt;300km)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数量很少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35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请问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：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1. 为什么地震主要分布在这5个区域？和板块边界有什么关系？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2.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为什么深源地震比浅源地震少那么多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？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3. 为什么深度超过700km就几乎没有地震了？（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提示：岩石圈厚度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）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4.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我的KNN准确率是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填你的准确率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]%，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这个结果好还是不好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？</a:t>
            </a: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如果不好，可能是因为什么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？</a:t>
            </a:r>
          </a:p>
          <a:p>
            <a:pPr algn="l">
              <a:lnSpc>
                <a:spcPts val="135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08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请用初中生能听懂的语言回答，尽量简短，每条2-4句话。谢谢！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914400"/>
            <a:ext cx="731520" cy="73152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60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第五步：完成你的科学报告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>
                <a:solidFill>
                  <a:srgbClr val="FFCC66"/>
                </a:solidFill>
                <a:latin typeface="Microsoft YaHei"/>
              </a:rPr>
              <a:t>把你的发现写下来——就像科学家一样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1828800" cy="27432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报告模板——填入你的结果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26640" y="320040"/>
            <a:ext cx="5510160" cy="4776660"/>
          </a:xfrm>
          <a:prstGeom prst="roundRect">
            <a:avLst>
              <a:gd name="adj" fmla="val 6099"/>
            </a:avLst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21120"/>
            <a:ext cx="3155040" cy="29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 dirty="0" err="1">
                <a:solidFill>
                  <a:srgbClr val="8B3A3A"/>
                </a:solidFill>
                <a:latin typeface="Microsoft YaHei"/>
              </a:rPr>
              <a:t>复制到文档，在括号里填上你的数据</a:t>
            </a:r>
            <a:endParaRPr sz="1400" b="1" dirty="0">
              <a:solidFill>
                <a:srgbClr val="8B3A3A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2400" y="357574"/>
            <a:ext cx="5338800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地震侦探社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·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分析报告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报告人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：** 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你的名字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      **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分析日期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：** 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日期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</a:t>
            </a: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**1.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问题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全球地震的分布有规律吗？震源深度和震级之间有关系吗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？</a:t>
            </a: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**2.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数据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从USGS实时API获取了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[200]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条地震记录（震级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&gt;=2.5，时间范围：[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日期区间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]）。</a:t>
            </a: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**3.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分析过程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散点图观察：深度与震级的关系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KMeans聚类：根据经纬度自动发现地震群集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KNN分类：用震级+深度预测浅源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/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中源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/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深源（准确率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[填]%）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AI辅助：用大模型解释发现的地质意义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**4.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关键发现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全球地震明显分成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[5]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个群集，对应板块边界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浅源地震占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[填]%，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深源地震仅占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[填]%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深度和震级之间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[有/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没有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明显的线性关系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最深的地震发生在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深度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km，位置在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[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地点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]</a:t>
            </a: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**5.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结论与收获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这次分析让我发现：地震确实主要集中在板块边界上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，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尤其是环太平洋俯冲带。深源地震只出现在这些地方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，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说明冷板块的俯冲是"把脆性断裂带到深处"的关键机制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。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用机器学习自动发现地震带是最让我惊讶的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——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电脑不需要学板块构造理论，只看经纬度数据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就"发现"了板块边界的存在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🎯 进阶挑战——做完基本任务后试试这些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8595360" cy="91440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以下挑战难度递增，按顺序尝试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37360"/>
            <a:ext cx="8595360" cy="914400"/>
          </a:xfrm>
          <a:prstGeom prst="roundRect">
            <a:avLst/>
          </a:prstGeom>
          <a:solidFill>
            <a:srgbClr val="FFF5E0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挑战1 (⭐⭐): 把KMeans的n_clusters从5改成3和8，看看聚类结果有什么变化？哪个数更符合真实板块数量？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834640"/>
            <a:ext cx="8595360" cy="914400"/>
          </a:xfrm>
          <a:prstGeom prst="roundRect">
            <a:avLst/>
          </a:prstGeom>
          <a:solidFill>
            <a:srgbClr val="E8F5F0"/>
          </a:solidFill>
          <a:ln w="6350">
            <a:solidFill>
              <a:srgbClr val="3CA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" y="2926080"/>
            <a:ext cx="320040" cy="320040"/>
          </a:xfrm>
          <a:prstGeom prst="ellipse">
            <a:avLst/>
          </a:prstGeom>
          <a:solidFill>
            <a:srgbClr val="3C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挑战2 (⭐⭐⭐): 只取深度&lt;70km的浅源地震，再做KMeans聚类。浅源地震的分布和全部地震的分布有什么不同？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8595360" cy="914400"/>
          </a:xfrm>
          <a:prstGeom prst="roundRect">
            <a:avLst/>
          </a:prstGeom>
          <a:solidFill>
            <a:srgbClr val="E8E0F0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402336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0">
                <a:solidFill>
                  <a:srgbClr val="1A1A1A"/>
                </a:solidFill>
                <a:latin typeface="Microsoft YaHei"/>
              </a:rPr>
              <a:t>挑战3 (⭐⭐⭐⭐): 自己写一个函数，输入经纬度，输出它属于哪个地震带（环太平洋/阿尔卑斯/洋中脊/其他）的预测——用你的KMeans模型来预测！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满分范例——看看一个优秀报告长什么样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95200" y="640080"/>
            <a:ext cx="5032800" cy="4366260"/>
          </a:xfrm>
          <a:prstGeom prst="roundRect">
            <a:avLst>
              <a:gd name="adj" fmla="val 9246"/>
            </a:avLst>
          </a:prstGeom>
          <a:solidFill>
            <a:srgbClr val="FD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>
                <a:solidFill>
                  <a:srgbClr val="E89C3C"/>
                </a:solidFill>
                <a:latin typeface="Microsoft YaHei"/>
              </a:rPr>
              <a:t>这是李小明同学的报告——他做得很认真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0400" y="731520"/>
            <a:ext cx="4813200" cy="400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##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地震侦探社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·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分析报告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报告人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：**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李小明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     **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日期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：** 2026年6月17日</a:t>
            </a: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**1.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问题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我想知道：地震的深度和震级有没有关系？全球地震是怎么分布的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？</a:t>
            </a: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**2.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数据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从USGS获取了200条地震记录（2026年6月1-16日，震级≥2.5）。</a:t>
            </a: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**3.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分析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① 画散点图发现：浅源地震的震级范围很广（M2.5~6.2），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但深源地震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(&gt;300km)的震级比较集中（M4.0~5.5），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没有发现特别大的深源地震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。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② KMeans聚类发现5个地震群：日本-台湾、印尼-菲律宾、美国西海岸、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地中海、南美洲西海岸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——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正好对应板块边界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！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③ KNN分类深度类型准确率62%——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不太高，说明震级+深度两个特征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  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不足以完美区分深度类型（有些浅源和中源地震特征相似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）。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④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AI告诉我：深源地震少是因为只有俯冲带才能把冷板块带到深处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。</a:t>
            </a:r>
          </a:p>
          <a:p>
            <a:pPr algn="l">
              <a:lnSpc>
                <a:spcPts val="1500"/>
              </a:lnSpc>
            </a:pP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5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**4.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结论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**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用KMeans自动发现地震带是最让我震撼的部分。电脑没学过地质学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，</a:t>
            </a:r>
          </a:p>
          <a:p>
            <a:pPr algn="l">
              <a:lnSpc>
                <a:spcPts val="12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但只看经纬度就"发现"了板块边界。但KNN的准确率不高也说明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：</a:t>
            </a:r>
          </a:p>
          <a:p>
            <a:pPr algn="l">
              <a:lnSpc>
                <a:spcPts val="15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地球比我们想象的复杂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延伸：地震学家的日常——你刚才做的事就是他们的工作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3657600" cy="1978200"/>
          </a:xfrm>
          <a:prstGeom prst="round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🌍 地震学家做什么？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200400" cy="158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监测全球地震活动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分析地震波数据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研究地球内部结构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评估地震灾害风险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也用ML分析数据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！</a:t>
            </a:r>
          </a:p>
          <a:p>
            <a:pPr algn="l">
              <a:lnSpc>
                <a:spcPct val="1500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和你今天做的一样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0" y="640080"/>
            <a:ext cx="4754880" cy="1978200"/>
          </a:xfrm>
          <a:prstGeom prst="roundRect">
            <a:avLst/>
          </a:prstGeom>
          <a:solidFill>
            <a:srgbClr val="E8F5F0"/>
          </a:solidFill>
          <a:ln w="6350">
            <a:solidFill>
              <a:srgbClr val="3CA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731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>
                <a:solidFill>
                  <a:srgbClr val="3CA86C"/>
                </a:solidFill>
                <a:latin typeface="Microsoft YaHei"/>
              </a:rPr>
              <a:t>你知道吗？——地震冷知识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005840"/>
            <a:ext cx="4389120" cy="931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全球每年约50万次可检测地震——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你每天在"站"在一座活着的星球上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地震波可以"穿透"地球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——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就像给地球做CT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！</a:t>
            </a:r>
          </a:p>
          <a:p>
            <a:pPr algn="l">
              <a:lnSpc>
                <a:spcPts val="12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月球上也有"月震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"——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阿波罗号放的仪器测到的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•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你刚才用的USGS数据，它的总部就在科罗拉多州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" y="2832300"/>
            <a:ext cx="8595360" cy="1978200"/>
          </a:xfrm>
          <a:prstGeom prst="roundRect">
            <a:avLst/>
          </a:prstGeom>
          <a:solidFill>
            <a:srgbClr val="FDF5E0"/>
          </a:solidFill>
          <a:ln w="6350">
            <a:solidFill>
              <a:srgbClr val="E89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89575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 b="1" dirty="0" err="1">
                <a:solidFill>
                  <a:srgbClr val="E89C3C"/>
                </a:solidFill>
                <a:latin typeface="Microsoft YaHei"/>
              </a:rPr>
              <a:t>你在这个项目中学到的技能</a:t>
            </a:r>
            <a:r>
              <a:rPr sz="1300" b="1" dirty="0">
                <a:solidFill>
                  <a:srgbClr val="E89C3C"/>
                </a:solidFill>
                <a:latin typeface="Microsoft YaHei"/>
              </a:rPr>
              <a:t>——</a:t>
            </a:r>
            <a:r>
              <a:rPr sz="1300" b="1" dirty="0" err="1">
                <a:solidFill>
                  <a:srgbClr val="E89C3C"/>
                </a:solidFill>
                <a:latin typeface="Microsoft YaHei"/>
              </a:rPr>
              <a:t>正是地震学家的日常</a:t>
            </a:r>
            <a:endParaRPr sz="1300" b="1" dirty="0">
              <a:solidFill>
                <a:srgbClr val="E89C3C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106293"/>
            <a:ext cx="8229600" cy="158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1.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从API获取数据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→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地震学家每天从全球地震台网下载数据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2.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画图探索规律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→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震源机制解、地震分布图是他们的"日常看图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"</a:t>
            </a: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3.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聚类分析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→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识别地震群、前震-主震-余震序列、火山地震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4.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分类预测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→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早期预警系统（你做的KNN分类，科学家用它做地震类型识别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）</a:t>
            </a:r>
          </a:p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1A1A1A"/>
                </a:solidFill>
                <a:latin typeface="Microsoft YaHei"/>
              </a:rPr>
              <a:t>5.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AI辅助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 → </a:t>
            </a:r>
            <a:r>
              <a:rPr sz="1100" b="0" dirty="0" err="1">
                <a:solidFill>
                  <a:srgbClr val="1A1A1A"/>
                </a:solidFill>
                <a:latin typeface="Microsoft YaHei"/>
              </a:rPr>
              <a:t>地震学家现在也使用大模型分析文献、写报告</a:t>
            </a:r>
            <a:endParaRPr sz="1100" b="0" dirty="0">
              <a:solidFill>
                <a:srgbClr val="1A1A1A"/>
              </a:solidFill>
              <a:latin typeface="Microsoft YaHei"/>
            </a:endParaRPr>
          </a:p>
          <a:p>
            <a:pPr algn="l">
              <a:lnSpc>
                <a:spcPct val="150000"/>
              </a:lnSpc>
            </a:pPr>
            <a:r>
              <a:rPr sz="1100" b="0" dirty="0" err="1">
                <a:solidFill>
                  <a:srgbClr val="1A1A1A"/>
                </a:solidFill>
                <a:latin typeface="Microsoft YaHei"/>
              </a:rPr>
              <a:t>你的每一步都有科学家的影子</a:t>
            </a:r>
            <a:r>
              <a:rPr sz="1100" b="0" dirty="0">
                <a:solidFill>
                  <a:srgbClr val="1A1A1A"/>
                </a:solidFill>
                <a:latin typeface="Microsoft YaHei"/>
              </a:rPr>
              <a:t>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45720"/>
          </a:xfrm>
          <a:prstGeom prst="round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>
                <a:solidFill>
                  <a:srgbClr val="8B3A3A"/>
                </a:solidFill>
                <a:latin typeface="Microsoft YaHei"/>
              </a:rPr>
              <a:t>评分标准——怎样才能得满分？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8595360" cy="347472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满分50分，≥40分为优秀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931920" cy="822960"/>
          </a:xfrm>
          <a:prstGeom prst="roundRect">
            <a:avLst/>
          </a:prstGeom>
          <a:solidFill>
            <a:srgbClr val="E8F5F0"/>
          </a:solidFill>
          <a:ln w="6350">
            <a:solidFill>
              <a:srgbClr val="3CA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3CA86C"/>
                </a:solidFill>
                <a:latin typeface="Microsoft YaHei"/>
              </a:rPr>
              <a:t>代码运行成功 + 数据获取（10分）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成功从USGS获取数据，代码无报错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3931920" cy="822960"/>
          </a:xfrm>
          <a:prstGeom prst="roundRect">
            <a:avLst/>
          </a:prstGeom>
          <a:solidFill>
            <a:srgbClr val="E8F5F0"/>
          </a:solidFill>
          <a:ln w="6350">
            <a:solidFill>
              <a:srgbClr val="3CA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>
                <a:solidFill>
                  <a:srgbClr val="3CA86C"/>
                </a:solidFill>
                <a:latin typeface="Microsoft YaHei"/>
              </a:rPr>
              <a:t>画图并观察规律（10分）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散点图+柱状图，能说出至少1个观察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3931920" cy="822960"/>
          </a:xfrm>
          <a:prstGeom prst="roundRect">
            <a:avLst/>
          </a:prstGeom>
          <a:solidFill>
            <a:srgbClr val="FFF5E0"/>
          </a:solidFill>
          <a:ln w="6350">
            <a:solidFill>
              <a:srgbClr val="E89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E89C3C"/>
                </a:solidFill>
                <a:latin typeface="Microsoft YaHei"/>
              </a:rPr>
              <a:t>ML分析并理解结果（10分）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KMeans+KNN运行，能说出聚类发现了什么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103120"/>
            <a:ext cx="3931920" cy="822960"/>
          </a:xfrm>
          <a:prstGeom prst="roundRect">
            <a:avLst/>
          </a:prstGeom>
          <a:solidFill>
            <a:srgbClr val="FFF5E0"/>
          </a:solidFill>
          <a:ln w="6350">
            <a:solidFill>
              <a:srgbClr val="E89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>
                <a:solidFill>
                  <a:srgbClr val="E89C3C"/>
                </a:solidFill>
                <a:latin typeface="Microsoft YaHei"/>
              </a:rPr>
              <a:t>用AI辅助解释（10分）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复制提示词，得到有意义的回答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3931920" cy="822960"/>
          </a:xfrm>
          <a:prstGeom prst="roundRect">
            <a:avLst/>
          </a:prstGeom>
          <a:solidFill>
            <a:srgbClr val="F0E8F0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FF4444"/>
                </a:solidFill>
                <a:latin typeface="Microsoft YaHei"/>
              </a:rPr>
              <a:t>独立思考 + 报告（10分）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诚实地写出发现，包含自己的观察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108960"/>
            <a:ext cx="3931920" cy="822960"/>
          </a:xfrm>
          <a:prstGeom prst="roundRect">
            <a:avLst/>
          </a:prstGeom>
          <a:solidFill>
            <a:srgbClr val="F0E8F0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>
                <a:solidFill>
                  <a:srgbClr val="FF4444"/>
                </a:solidFill>
                <a:latin typeface="Microsoft YaHei"/>
              </a:rPr>
              <a:t>额外加分（+5分）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完成任意进阶挑战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54864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5088636"/>
            <a:ext cx="9144000" cy="54864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FFD700"/>
                </a:solidFill>
                <a:latin typeface="Microsoft YaHei"/>
              </a:rPr>
              <a:t>🌏 恭喜！你是一个真正的地震数据科学家了！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000" y="1264211"/>
            <a:ext cx="8370000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0" dirty="0" err="1">
                <a:solidFill>
                  <a:srgbClr val="FFCC66"/>
                </a:solidFill>
                <a:latin typeface="Microsoft YaHei"/>
              </a:rPr>
              <a:t>你今天：下载了真实地震数据</a:t>
            </a:r>
            <a:r>
              <a:rPr sz="1600" b="0" dirty="0">
                <a:solidFill>
                  <a:srgbClr val="FFCC66"/>
                </a:solidFill>
                <a:latin typeface="Microsoft YaHei"/>
              </a:rPr>
              <a:t> → </a:t>
            </a:r>
            <a:r>
              <a:rPr sz="1600" b="0" dirty="0" err="1">
                <a:solidFill>
                  <a:srgbClr val="FFCC66"/>
                </a:solidFill>
                <a:latin typeface="Microsoft YaHei"/>
              </a:rPr>
              <a:t>画图发现了规律</a:t>
            </a:r>
            <a:r>
              <a:rPr sz="1600" b="0" dirty="0">
                <a:solidFill>
                  <a:srgbClr val="FFCC66"/>
                </a:solidFill>
                <a:latin typeface="Microsoft YaHei"/>
              </a:rPr>
              <a:t> → </a:t>
            </a:r>
            <a:r>
              <a:rPr sz="1600" b="0" dirty="0" err="1">
                <a:solidFill>
                  <a:srgbClr val="FFCC66"/>
                </a:solidFill>
                <a:latin typeface="Microsoft YaHei"/>
              </a:rPr>
              <a:t>用ML发现了地震带</a:t>
            </a:r>
            <a:r>
              <a:rPr sz="1600" b="0" dirty="0">
                <a:solidFill>
                  <a:srgbClr val="FFCC66"/>
                </a:solidFill>
                <a:latin typeface="Microsoft YaHei"/>
              </a:rPr>
              <a:t> → </a:t>
            </a:r>
            <a:r>
              <a:rPr sz="1600" b="0" dirty="0" err="1">
                <a:solidFill>
                  <a:srgbClr val="FFCC66"/>
                </a:solidFill>
                <a:latin typeface="Microsoft YaHei"/>
              </a:rPr>
              <a:t>用AI解释了原因</a:t>
            </a:r>
            <a:endParaRPr sz="1600" b="0" dirty="0">
              <a:solidFill>
                <a:srgbClr val="FFCC66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你在分析的不是模拟数据——是真实的地球心跳！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USGS实时地震API: https://earthquake.usgs.gov/fdsnws/event/1/query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下次打开新闻看到"某地发生地震"时，你知道背后发生什么了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DDDDDD"/>
                </a:solidFill>
                <a:latin typeface="Microsoft YaHei"/>
              </a:rPr>
              <a:t>你的代码还有一个"隐藏技能"——明天再运行一遍，数据就是全新的！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3156</Words>
  <Application>Microsoft Office PowerPoint</Application>
  <PresentationFormat>全屏显示(16:9)</PresentationFormat>
  <Paragraphs>372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Qiang Huang</cp:lastModifiedBy>
  <cp:revision>3</cp:revision>
  <dcterms:created xsi:type="dcterms:W3CDTF">2013-01-27T09:14:16Z</dcterms:created>
  <dcterms:modified xsi:type="dcterms:W3CDTF">2026-06-17T03:16:31Z</dcterms:modified>
  <cp:category/>
</cp:coreProperties>
</file>