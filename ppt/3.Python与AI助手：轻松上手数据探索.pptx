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media/image4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12192000" cy="6858000"/>
  <p:notesSz cx="6858000" cy="12192000"/>
  <p:embeddedFontLst>
    <p:embeddedFont>
      <p:font typeface="MiSans" pitchFamily="34" charset="-122"/>
      <p:regular r:id="rId38"/>
    </p:embeddedFont>
    <p:embeddedFont>
      <p:font typeface="MiSans" pitchFamily="34" charset="-120"/>
      <p:regular r:id="rId39"/>
    </p:embeddedFont>
    <p:embeddedFont>
      <p:font typeface="Calibri" panose="020F0502020204030204" charset="0"/>
      <p:regular r:id="rId40"/>
      <p:bold r:id="rId41"/>
      <p:italic r:id="rId42"/>
      <p:boldItalic r:id="rId43"/>
    </p:embeddedFont>
    <p:embeddedFont>
      <p:font typeface="等线" panose="02010600030101010101" charset="-122"/>
      <p:regular r:id="rId4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font" Target="fonts/font7.fntdata"/><Relationship Id="rId43" Type="http://schemas.openxmlformats.org/officeDocument/2006/relationships/font" Target="fonts/font6.fntdata"/><Relationship Id="rId42" Type="http://schemas.openxmlformats.org/officeDocument/2006/relationships/font" Target="fonts/font5.fntdata"/><Relationship Id="rId41" Type="http://schemas.openxmlformats.org/officeDocument/2006/relationships/font" Target="fonts/font4.fntdata"/><Relationship Id="rId40" Type="http://schemas.openxmlformats.org/officeDocument/2006/relationships/font" Target="fonts/font3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2.fntdata"/><Relationship Id="rId38" Type="http://schemas.openxmlformats.org/officeDocument/2006/relationships/font" Target="fonts/font1.fntdata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欢迎来到第三节课</a:t>
            </a:r>
            <a:r>
              <a:rPr lang="en-US" altLang="zh-CN" dirty="0"/>
              <a:t>——Python</a:t>
            </a:r>
            <a:r>
              <a:rPr lang="zh-CN" altLang="en-US" dirty="0"/>
              <a:t>与</a:t>
            </a:r>
            <a:r>
              <a:rPr lang="en-US" altLang="zh-CN" dirty="0"/>
              <a:t>AI</a:t>
            </a:r>
            <a:r>
              <a:rPr lang="zh-CN" altLang="en-US" dirty="0"/>
              <a:t>助手：轻松上手数据探索。</a:t>
            </a:r>
            <a:endParaRPr lang="en-US" altLang="zh-CN" dirty="0"/>
          </a:p>
          <a:p>
            <a:r>
              <a:rPr lang="zh-CN" altLang="en-US" dirty="0"/>
              <a:t>前两节课我们认识了</a:t>
            </a:r>
            <a:r>
              <a:rPr lang="en-US" altLang="zh-CN" dirty="0"/>
              <a:t>AI</a:t>
            </a:r>
            <a:r>
              <a:rPr lang="zh-CN" altLang="en-US" dirty="0"/>
              <a:t>和机器学习的基本概念，也了解了</a:t>
            </a:r>
            <a:r>
              <a:rPr lang="en-US" altLang="zh-CN" dirty="0"/>
              <a:t>MC-ICP-MS</a:t>
            </a:r>
            <a:r>
              <a:rPr lang="zh-CN" altLang="en-US" dirty="0"/>
              <a:t>这台</a:t>
            </a:r>
            <a:r>
              <a:rPr lang="en-US" altLang="zh-CN" dirty="0"/>
              <a:t>“</a:t>
            </a:r>
            <a:r>
              <a:rPr lang="zh-CN" altLang="en-US" dirty="0"/>
              <a:t>超级眼睛</a:t>
            </a:r>
            <a:r>
              <a:rPr lang="en-US" altLang="zh-CN" dirty="0"/>
              <a:t>”</a:t>
            </a:r>
            <a:r>
              <a:rPr lang="zh-CN" altLang="en-US" dirty="0"/>
              <a:t>是怎么工作的。但是，有了数据之后，我们怎么分析它、怎么让它</a:t>
            </a:r>
            <a:r>
              <a:rPr lang="en-US" altLang="zh-CN" dirty="0"/>
              <a:t>“</a:t>
            </a:r>
            <a:r>
              <a:rPr lang="zh-CN" altLang="en-US" dirty="0"/>
              <a:t>说话</a:t>
            </a:r>
            <a:r>
              <a:rPr lang="en-US" altLang="zh-CN" dirty="0"/>
              <a:t>”</a:t>
            </a:r>
            <a:r>
              <a:rPr lang="zh-CN" altLang="en-US" dirty="0"/>
              <a:t>呢？</a:t>
            </a:r>
            <a:endParaRPr lang="en-US" altLang="zh-CN" dirty="0"/>
          </a:p>
          <a:p>
            <a:r>
              <a:rPr lang="zh-CN" altLang="en-US" dirty="0"/>
              <a:t>这就是今天要解决的问题。我们将学习两样超级工具：</a:t>
            </a:r>
            <a:r>
              <a:rPr lang="en-US" altLang="zh-CN" dirty="0"/>
              <a:t>Python</a:t>
            </a:r>
            <a:r>
              <a:rPr lang="zh-CN" altLang="en-US" dirty="0"/>
              <a:t>编程语言和</a:t>
            </a:r>
            <a:r>
              <a:rPr lang="en-US" altLang="zh-CN" dirty="0"/>
              <a:t>AI</a:t>
            </a:r>
            <a:r>
              <a:rPr lang="zh-CN" altLang="en-US" dirty="0"/>
              <a:t>助手</a:t>
            </a:r>
            <a:r>
              <a:rPr lang="en-US" altLang="zh-CN" dirty="0"/>
              <a:t>DeepSeek</a:t>
            </a:r>
            <a:r>
              <a:rPr lang="zh-CN" altLang="en-US" dirty="0"/>
              <a:t>。有了它们，你就能自己动手探索数据背后的秘密了！</a:t>
            </a:r>
            <a:endParaRPr lang="en-US" altLang="zh-CN" dirty="0"/>
          </a:p>
          <a:p>
            <a:r>
              <a:rPr lang="zh-CN" altLang="en-US" dirty="0"/>
              <a:t>编程不再是遥不可及的技能，每个人都能成为数据探索家！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今天的课程分为六个部分：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第一部分，</a:t>
            </a:r>
            <a:r>
              <a:rPr lang="en-US" altLang="zh-CN" dirty="0"/>
              <a:t>AI</a:t>
            </a:r>
            <a:r>
              <a:rPr lang="zh-CN" altLang="en-US" dirty="0"/>
              <a:t>助手探秘</a:t>
            </a:r>
            <a:r>
              <a:rPr lang="en-US" altLang="zh-CN" dirty="0"/>
              <a:t>——</a:t>
            </a:r>
            <a:r>
              <a:rPr lang="zh-CN" altLang="en-US" dirty="0"/>
              <a:t>认识</a:t>
            </a:r>
            <a:r>
              <a:rPr lang="en-US" altLang="zh-CN" dirty="0"/>
              <a:t>DeepSeek</a:t>
            </a:r>
            <a:r>
              <a:rPr lang="zh-CN" altLang="en-US" dirty="0"/>
              <a:t>这位编程好帮手；</a:t>
            </a:r>
            <a:endParaRPr lang="zh-CN" altLang="en-US" dirty="0"/>
          </a:p>
          <a:p>
            <a:r>
              <a:rPr lang="zh-CN" altLang="en-US" dirty="0"/>
              <a:t>第二部分，环境搭建准备</a:t>
            </a:r>
            <a:r>
              <a:rPr lang="en-US" altLang="zh-CN" dirty="0"/>
              <a:t>——</a:t>
            </a:r>
            <a:r>
              <a:rPr lang="zh-CN" altLang="en-US" dirty="0"/>
              <a:t>安装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VS Code</a:t>
            </a:r>
            <a:r>
              <a:rPr lang="zh-CN" altLang="en-US" dirty="0"/>
              <a:t>，搭建编程环境；</a:t>
            </a:r>
            <a:endParaRPr lang="zh-CN" altLang="en-US" dirty="0"/>
          </a:p>
          <a:p>
            <a:r>
              <a:rPr lang="zh-CN" altLang="en-US" dirty="0"/>
              <a:t>第三部分，</a:t>
            </a:r>
            <a:r>
              <a:rPr lang="en-US" altLang="zh-CN" dirty="0"/>
              <a:t>Python</a:t>
            </a:r>
            <a:r>
              <a:rPr lang="zh-CN" altLang="en-US" dirty="0"/>
              <a:t>基础入门</a:t>
            </a:r>
            <a:r>
              <a:rPr lang="en-US" altLang="zh-CN" dirty="0"/>
              <a:t>——</a:t>
            </a:r>
            <a:r>
              <a:rPr lang="zh-CN" altLang="en-US" dirty="0"/>
              <a:t>学习变量、列表、循环、函数；</a:t>
            </a:r>
            <a:endParaRPr lang="zh-CN" altLang="en-US" dirty="0"/>
          </a:p>
          <a:p>
            <a:r>
              <a:rPr lang="zh-CN" altLang="en-US" dirty="0"/>
              <a:t>第四部分，数据可视化实战</a:t>
            </a:r>
            <a:r>
              <a:rPr lang="en-US" altLang="zh-CN" dirty="0"/>
              <a:t>——</a:t>
            </a:r>
            <a:r>
              <a:rPr lang="zh-CN" altLang="en-US" dirty="0"/>
              <a:t>用代码画出汞同位素图表；</a:t>
            </a:r>
            <a:endParaRPr lang="zh-CN" altLang="en-US" dirty="0"/>
          </a:p>
          <a:p>
            <a:r>
              <a:rPr lang="zh-CN" altLang="en-US" dirty="0"/>
              <a:t>第五部分，无代码探索工具</a:t>
            </a:r>
            <a:r>
              <a:rPr lang="en-US" altLang="zh-CN" dirty="0"/>
              <a:t>——</a:t>
            </a:r>
            <a:r>
              <a:rPr lang="zh-CN" altLang="en-US" dirty="0"/>
              <a:t>体验</a:t>
            </a:r>
            <a:r>
              <a:rPr lang="en-US" altLang="zh-CN" dirty="0"/>
              <a:t>Orange</a:t>
            </a:r>
            <a:r>
              <a:rPr lang="zh-CN" altLang="en-US" dirty="0"/>
              <a:t>这个不用写代码的工具；</a:t>
            </a:r>
            <a:endParaRPr lang="zh-CN" altLang="en-US" dirty="0"/>
          </a:p>
          <a:p>
            <a:r>
              <a:rPr lang="zh-CN" altLang="en-US" dirty="0"/>
              <a:t>第六部分，课程总结</a:t>
            </a:r>
            <a:r>
              <a:rPr lang="en-US" altLang="zh-CN" dirty="0"/>
              <a:t>——</a:t>
            </a:r>
            <a:r>
              <a:rPr lang="zh-CN" altLang="en-US" dirty="0"/>
              <a:t>回顾今天学了什么。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今天我们的主题是</a:t>
            </a:r>
            <a:r>
              <a:rPr lang="en-US" altLang="zh-CN" dirty="0"/>
              <a:t>“Python</a:t>
            </a:r>
            <a:r>
              <a:rPr lang="zh-CN" altLang="en-US" dirty="0"/>
              <a:t>与</a:t>
            </a:r>
            <a:r>
              <a:rPr lang="en-US" altLang="zh-CN" dirty="0"/>
              <a:t>AI</a:t>
            </a:r>
            <a:r>
              <a:rPr lang="zh-CN" altLang="en-US" dirty="0"/>
              <a:t>助手：轻松上手数据探索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为什么说</a:t>
            </a:r>
            <a:r>
              <a:rPr lang="en-US" altLang="zh-CN" dirty="0"/>
              <a:t>“</a:t>
            </a:r>
            <a:r>
              <a:rPr lang="zh-CN" altLang="en-US" dirty="0"/>
              <a:t>轻松</a:t>
            </a:r>
            <a:r>
              <a:rPr lang="en-US" altLang="zh-CN" dirty="0"/>
              <a:t>”</a:t>
            </a:r>
            <a:r>
              <a:rPr lang="zh-CN" altLang="en-US" dirty="0"/>
              <a:t>？因为有了</a:t>
            </a:r>
            <a:r>
              <a:rPr lang="en-US" altLang="zh-CN" dirty="0"/>
              <a:t>AI</a:t>
            </a:r>
            <a:r>
              <a:rPr lang="zh-CN" altLang="en-US" dirty="0"/>
              <a:t>助手的帮助，编程不再是难事。就像有一个</a:t>
            </a:r>
            <a:r>
              <a:rPr lang="en-US" altLang="zh-CN" dirty="0"/>
              <a:t>24</a:t>
            </a:r>
            <a:r>
              <a:rPr lang="zh-CN" altLang="en-US" dirty="0"/>
              <a:t>小时待命的编程家教，随时回答你的问题、帮你写代码、帮你改错误。</a:t>
            </a:r>
            <a:endParaRPr lang="en-US" altLang="zh-CN" dirty="0"/>
          </a:p>
          <a:p>
            <a:r>
              <a:rPr lang="zh-CN" altLang="en-US" dirty="0"/>
              <a:t>我们将化身数据侦探，用</a:t>
            </a:r>
            <a:r>
              <a:rPr lang="en-US" altLang="zh-CN" dirty="0"/>
              <a:t>Python</a:t>
            </a:r>
            <a:r>
              <a:rPr lang="zh-CN" altLang="en-US" dirty="0"/>
              <a:t>这把万能钥匙，加上</a:t>
            </a:r>
            <a:r>
              <a:rPr lang="en-US" altLang="zh-CN" dirty="0"/>
              <a:t>AI</a:t>
            </a:r>
            <a:r>
              <a:rPr lang="zh-CN" altLang="en-US" dirty="0"/>
              <a:t>助手这位贴心小老师，一起揭开汞同位素数据背后的环境秘密。</a:t>
            </a:r>
            <a:endParaRPr lang="en-US" altLang="zh-CN" dirty="0"/>
          </a:p>
          <a:p>
            <a:r>
              <a:rPr lang="zh-CN" altLang="en-US" dirty="0"/>
              <a:t>相信我，编程不再是遥不可及的技能，每个人都能成为探索家！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首先，快速回顾一下上节课的重点。</a:t>
            </a:r>
            <a:endParaRPr lang="en-US" altLang="zh-CN" dirty="0"/>
          </a:p>
          <a:p>
            <a:r>
              <a:rPr lang="zh-CN" altLang="en-US" dirty="0"/>
              <a:t>汞同位素指纹回顾：</a:t>
            </a:r>
            <a:endParaRPr lang="zh-CN" altLang="en-US" dirty="0"/>
          </a:p>
          <a:p>
            <a:r>
              <a:rPr lang="zh-CN" altLang="en-US" dirty="0"/>
              <a:t>还记得吗？汞同位素就像污染源的专属身份证。不同来源的汞</a:t>
            </a:r>
            <a:r>
              <a:rPr lang="en-US" altLang="zh-CN" dirty="0"/>
              <a:t>——</a:t>
            </a:r>
            <a:r>
              <a:rPr lang="zh-CN" altLang="en-US" dirty="0"/>
              <a:t>比如燃煤排放、金矿开采、自然来源</a:t>
            </a:r>
            <a:r>
              <a:rPr lang="en-US" altLang="zh-CN" dirty="0"/>
              <a:t>——</a:t>
            </a:r>
            <a:r>
              <a:rPr lang="zh-CN" altLang="en-US" dirty="0"/>
              <a:t>会留下独特的同位素特征。通过分析这些指纹，科学家能追踪污染从哪来、到哪里去。</a:t>
            </a:r>
            <a:endParaRPr lang="en-US" altLang="zh-CN" dirty="0"/>
          </a:p>
          <a:p>
            <a:r>
              <a:rPr lang="zh-CN" altLang="en-US" dirty="0"/>
              <a:t>今天的目标有三个：</a:t>
            </a:r>
            <a:endParaRPr lang="en-US" altLang="zh-CN" dirty="0"/>
          </a:p>
          <a:p>
            <a:r>
              <a:rPr lang="zh-CN" altLang="en-US" dirty="0"/>
              <a:t>目标一：认识</a:t>
            </a:r>
            <a:r>
              <a:rPr lang="en-US" altLang="zh-CN" dirty="0"/>
              <a:t>AI</a:t>
            </a:r>
            <a:r>
              <a:rPr lang="zh-CN" altLang="en-US" dirty="0"/>
              <a:t>助手</a:t>
            </a:r>
            <a:endParaRPr lang="zh-CN" altLang="en-US" dirty="0"/>
          </a:p>
          <a:p>
            <a:r>
              <a:rPr lang="zh-CN" altLang="en-US" dirty="0"/>
              <a:t>认识</a:t>
            </a:r>
            <a:r>
              <a:rPr lang="en-US" altLang="zh-CN" dirty="0"/>
              <a:t>DeepSeek</a:t>
            </a:r>
            <a:r>
              <a:rPr lang="zh-CN" altLang="en-US" dirty="0"/>
              <a:t>这位编程好帮手，学会让它帮我们写代码、解释代码、找错误、优化程序。</a:t>
            </a:r>
            <a:endParaRPr lang="zh-CN" altLang="en-US" dirty="0"/>
          </a:p>
          <a:p>
            <a:r>
              <a:rPr lang="zh-CN" altLang="en-US" dirty="0"/>
              <a:t>目标二：掌握提示词技巧</a:t>
            </a:r>
            <a:endParaRPr lang="zh-CN" altLang="en-US" dirty="0"/>
          </a:p>
          <a:p>
            <a:r>
              <a:rPr lang="zh-CN" altLang="en-US" dirty="0"/>
              <a:t>学习编写高质量的</a:t>
            </a:r>
            <a:r>
              <a:rPr lang="en-US" altLang="zh-CN" dirty="0"/>
              <a:t>AI</a:t>
            </a:r>
            <a:r>
              <a:rPr lang="zh-CN" altLang="en-US" dirty="0"/>
              <a:t>提示词。就像学会念正确的魔法咒语，让</a:t>
            </a:r>
            <a:r>
              <a:rPr lang="en-US" altLang="zh-CN" dirty="0"/>
              <a:t>AI</a:t>
            </a:r>
            <a:r>
              <a:rPr lang="zh-CN" altLang="en-US" dirty="0"/>
              <a:t>准确理解我们的需求。提示词写得好，</a:t>
            </a:r>
            <a:r>
              <a:rPr lang="en-US" altLang="zh-CN" dirty="0"/>
              <a:t>AI</a:t>
            </a:r>
            <a:r>
              <a:rPr lang="zh-CN" altLang="en-US" dirty="0"/>
              <a:t>回答就好；提示词写得差，</a:t>
            </a:r>
            <a:r>
              <a:rPr lang="en-US" altLang="zh-CN" dirty="0"/>
              <a:t>AI</a:t>
            </a:r>
            <a:r>
              <a:rPr lang="zh-CN" altLang="en-US" dirty="0"/>
              <a:t>也帮不了你。</a:t>
            </a:r>
            <a:endParaRPr lang="zh-CN" altLang="en-US" dirty="0"/>
          </a:p>
          <a:p>
            <a:r>
              <a:rPr lang="zh-CN" altLang="en-US" dirty="0"/>
              <a:t>目标三：动手实践绘图</a:t>
            </a:r>
            <a:endParaRPr lang="zh-CN" altLang="en-US" dirty="0"/>
          </a:p>
          <a:p>
            <a:r>
              <a:rPr lang="zh-CN" altLang="en-US" dirty="0"/>
              <a:t>完成环境搭建，学习</a:t>
            </a:r>
            <a:r>
              <a:rPr lang="en-US" altLang="zh-CN" dirty="0"/>
              <a:t>Python</a:t>
            </a:r>
            <a:r>
              <a:rPr lang="zh-CN" altLang="en-US" dirty="0"/>
              <a:t>基础，最终亲手绘制出漂亮的汞同位素数据图表！</a:t>
            </a:r>
            <a:endParaRPr lang="en-US" altLang="zh-CN" dirty="0"/>
          </a:p>
          <a:p>
            <a:r>
              <a:rPr lang="zh-CN" altLang="en-US" dirty="0"/>
              <a:t>好，现在进入第一部分</a:t>
            </a:r>
            <a:r>
              <a:rPr lang="en-US" altLang="zh-CN" dirty="0"/>
              <a:t>——AI</a:t>
            </a:r>
            <a:r>
              <a:rPr lang="zh-CN" altLang="en-US" dirty="0"/>
              <a:t>助手探秘！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首先，我们来认识今天的主角之一</a:t>
            </a:r>
            <a:r>
              <a:rPr lang="en-US" altLang="zh-CN" dirty="0"/>
              <a:t>——DeepSeek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DeepSeek</a:t>
            </a:r>
            <a:r>
              <a:rPr lang="zh-CN" altLang="en-US" dirty="0"/>
              <a:t>有四大超能力：</a:t>
            </a:r>
            <a:endParaRPr lang="en-US" altLang="zh-CN" dirty="0"/>
          </a:p>
          <a:p>
            <a:r>
              <a:rPr lang="zh-CN" altLang="en-US" dirty="0"/>
              <a:t>超能力一：写代码</a:t>
            </a:r>
            <a:endParaRPr lang="zh-CN" altLang="en-US" dirty="0"/>
          </a:p>
          <a:p>
            <a:r>
              <a:rPr lang="zh-CN" altLang="en-US" dirty="0"/>
              <a:t>就像拥有</a:t>
            </a:r>
            <a:r>
              <a:rPr lang="en-US" altLang="zh-CN" dirty="0"/>
              <a:t>24</a:t>
            </a:r>
            <a:r>
              <a:rPr lang="zh-CN" altLang="en-US" dirty="0"/>
              <a:t>小时待命的编程家教。你只需要描述需求，比如</a:t>
            </a:r>
            <a:r>
              <a:rPr lang="en-US" altLang="zh-CN" dirty="0"/>
              <a:t>“</a:t>
            </a:r>
            <a:r>
              <a:rPr lang="zh-CN" altLang="en-US" dirty="0"/>
              <a:t>帮我写一段代码，读取汞同位素数据并计算平均值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en-US" altLang="zh-CN" dirty="0"/>
              <a:t>DeepSeek</a:t>
            </a:r>
            <a:r>
              <a:rPr lang="zh-CN" altLang="en-US" dirty="0"/>
              <a:t>就能生成完整可用的代码。编程新手也能快速上手！</a:t>
            </a:r>
            <a:endParaRPr lang="en-US" altLang="zh-CN" dirty="0"/>
          </a:p>
          <a:p>
            <a:r>
              <a:rPr lang="zh-CN" altLang="en-US" dirty="0"/>
              <a:t>超能力二：解释代码</a:t>
            </a:r>
            <a:endParaRPr lang="zh-CN" altLang="en-US" dirty="0"/>
          </a:p>
          <a:p>
            <a:r>
              <a:rPr lang="zh-CN" altLang="en-US" dirty="0"/>
              <a:t>扮演翻译官的角色。看不懂的代码，贴给</a:t>
            </a:r>
            <a:r>
              <a:rPr lang="en-US" altLang="zh-CN" dirty="0"/>
              <a:t>DeepSeek</a:t>
            </a:r>
            <a:r>
              <a:rPr lang="zh-CN" altLang="en-US" dirty="0"/>
              <a:t>，它会用通俗易懂的人话解释每一行在做什么。</a:t>
            </a:r>
            <a:endParaRPr lang="en-US" altLang="zh-CN" dirty="0"/>
          </a:p>
          <a:p>
            <a:r>
              <a:rPr lang="zh-CN" altLang="en-US" dirty="0"/>
              <a:t>超能力三：改</a:t>
            </a:r>
            <a:r>
              <a:rPr lang="en-US" altLang="zh-CN" dirty="0"/>
              <a:t>Bug</a:t>
            </a:r>
            <a:endParaRPr lang="en-US" altLang="zh-CN" dirty="0"/>
          </a:p>
          <a:p>
            <a:r>
              <a:rPr lang="zh-CN" altLang="en-US" dirty="0"/>
              <a:t>化身程序医生。代码报错了？把错误信息贴给</a:t>
            </a:r>
            <a:r>
              <a:rPr lang="en-US" altLang="zh-CN" dirty="0"/>
              <a:t>DeepSeek</a:t>
            </a:r>
            <a:r>
              <a:rPr lang="zh-CN" altLang="en-US" dirty="0"/>
              <a:t>，它会快速诊断问题并给出修复方案。再也不用为红色报错信息头疼了！</a:t>
            </a:r>
            <a:endParaRPr lang="en-US" altLang="zh-CN" dirty="0"/>
          </a:p>
          <a:p>
            <a:r>
              <a:rPr lang="zh-CN" altLang="en-US" dirty="0"/>
              <a:t>超能力四：优化代码</a:t>
            </a:r>
            <a:endParaRPr lang="zh-CN" altLang="en-US" dirty="0"/>
          </a:p>
          <a:p>
            <a:r>
              <a:rPr lang="zh-CN" altLang="en-US" dirty="0"/>
              <a:t>像经验丰富的教练。它能让你的代码跑得更快、写得更优雅。同样的功能，优化后可能从</a:t>
            </a:r>
            <a:r>
              <a:rPr lang="en-US" altLang="zh-CN" dirty="0"/>
              <a:t>10</a:t>
            </a:r>
            <a:r>
              <a:rPr lang="zh-CN" altLang="en-US" dirty="0"/>
              <a:t>行变成</a:t>
            </a:r>
            <a:r>
              <a:rPr lang="en-US" altLang="zh-CN" dirty="0"/>
              <a:t>5</a:t>
            </a:r>
            <a:r>
              <a:rPr lang="zh-CN" altLang="en-US" dirty="0"/>
              <a:t>行，效率翻倍。</a:t>
            </a:r>
            <a:endParaRPr lang="en-US" altLang="zh-CN" dirty="0"/>
          </a:p>
          <a:p>
            <a:r>
              <a:rPr lang="zh-CN" altLang="en-US" dirty="0"/>
              <a:t>这四个能力，就是今天我们要学会使用的</a:t>
            </a:r>
            <a:r>
              <a:rPr lang="en-US" altLang="zh-CN" dirty="0"/>
              <a:t>“</a:t>
            </a:r>
            <a:r>
              <a:rPr lang="zh-CN" altLang="en-US" dirty="0"/>
              <a:t>魔法工具</a:t>
            </a:r>
            <a:r>
              <a:rPr lang="en-US" altLang="zh-CN" dirty="0"/>
              <a:t>”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有了</a:t>
            </a:r>
            <a:r>
              <a:rPr lang="en-US" altLang="zh-CN" dirty="0"/>
              <a:t>DeepSeek</a:t>
            </a:r>
            <a:r>
              <a:rPr lang="zh-CN" altLang="en-US" dirty="0"/>
              <a:t>，是不是随便问就行了？不是的。提示词的质量，决定了回答的质量。</a:t>
            </a:r>
            <a:endParaRPr lang="en-US" altLang="zh-CN" dirty="0"/>
          </a:p>
          <a:p>
            <a:r>
              <a:rPr lang="zh-CN" altLang="en-US" dirty="0"/>
              <a:t>提示词四要素：</a:t>
            </a:r>
            <a:endParaRPr lang="zh-CN" altLang="en-US" dirty="0"/>
          </a:p>
          <a:p>
            <a:r>
              <a:rPr lang="zh-CN" altLang="en-US" dirty="0"/>
              <a:t>好的提示词就像魔法咒语，需要包含四个要素：</a:t>
            </a:r>
            <a:endParaRPr lang="en-US" altLang="zh-CN" dirty="0"/>
          </a:p>
          <a:p>
            <a:r>
              <a:rPr lang="zh-CN" altLang="en-US" dirty="0"/>
              <a:t>明确角色设定：你希望</a:t>
            </a:r>
            <a:r>
              <a:rPr lang="en-US" altLang="zh-CN" dirty="0"/>
              <a:t>AI</a:t>
            </a:r>
            <a:r>
              <a:rPr lang="zh-CN" altLang="en-US" dirty="0"/>
              <a:t>以什么身份回答？（比如</a:t>
            </a:r>
            <a:r>
              <a:rPr lang="en-US" altLang="zh-CN" dirty="0"/>
              <a:t>“</a:t>
            </a:r>
            <a:r>
              <a:rPr lang="zh-CN" altLang="en-US" dirty="0"/>
              <a:t>你是一名</a:t>
            </a:r>
            <a:r>
              <a:rPr lang="en-US" altLang="zh-CN" dirty="0"/>
              <a:t>Python</a:t>
            </a:r>
            <a:r>
              <a:rPr lang="zh-CN" altLang="en-US" dirty="0"/>
              <a:t>编程专家</a:t>
            </a:r>
            <a:r>
              <a:rPr lang="en-US" altLang="zh-CN" dirty="0"/>
              <a:t>”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具体任务描述：你要做什么？（比如</a:t>
            </a:r>
            <a:r>
              <a:rPr lang="en-US" altLang="zh-CN" dirty="0"/>
              <a:t>“</a:t>
            </a:r>
            <a:r>
              <a:rPr lang="zh-CN" altLang="en-US" dirty="0"/>
              <a:t>绘制汞同位素散点图</a:t>
            </a:r>
            <a:r>
              <a:rPr lang="en-US" altLang="zh-CN" dirty="0"/>
              <a:t>”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清晰输入数据：数据在哪里？长什么样？</a:t>
            </a:r>
            <a:endParaRPr lang="en-US" altLang="zh-CN" dirty="0"/>
          </a:p>
          <a:p>
            <a:r>
              <a:rPr lang="zh-CN" altLang="en-US" dirty="0"/>
              <a:t>明确输出格式：你希望得到什么样的结果？</a:t>
            </a:r>
            <a:endParaRPr lang="en-US" altLang="zh-CN" dirty="0"/>
          </a:p>
          <a:p>
            <a:r>
              <a:rPr lang="zh-CN" altLang="en-US" dirty="0"/>
              <a:t>坏例子警示：</a:t>
            </a:r>
            <a:endParaRPr lang="zh-CN" altLang="en-US" dirty="0"/>
          </a:p>
          <a:p>
            <a:r>
              <a:rPr lang="en-US" altLang="en-US" dirty="0"/>
              <a:t>❌</a:t>
            </a:r>
            <a:r>
              <a:rPr lang="en-US" altLang="zh-CN" dirty="0"/>
              <a:t> “</a:t>
            </a:r>
            <a:r>
              <a:rPr lang="zh-CN" altLang="en-US" dirty="0"/>
              <a:t>帮我画个图</a:t>
            </a:r>
            <a:r>
              <a:rPr lang="en-US" altLang="zh-CN" dirty="0"/>
              <a:t>”——</a:t>
            </a:r>
            <a:r>
              <a:rPr lang="zh-CN" altLang="en-US" dirty="0"/>
              <a:t>太模糊了！</a:t>
            </a:r>
            <a:r>
              <a:rPr lang="en-US" altLang="zh-CN" dirty="0"/>
              <a:t>AI</a:t>
            </a:r>
            <a:r>
              <a:rPr lang="zh-CN" altLang="en-US" dirty="0"/>
              <a:t>不知道你要画什么图、用什么工具、数据在哪里。结果往往令人失望。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好例子示范：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“</a:t>
            </a:r>
            <a:r>
              <a:rPr lang="zh-CN" altLang="en-US" dirty="0"/>
              <a:t>请用</a:t>
            </a:r>
            <a:r>
              <a:rPr lang="en-US" altLang="zh-CN" dirty="0"/>
              <a:t>Python</a:t>
            </a:r>
            <a:r>
              <a:rPr lang="zh-CN" altLang="en-US" dirty="0"/>
              <a:t>的</a:t>
            </a:r>
            <a:r>
              <a:rPr lang="en-US" altLang="zh-CN" dirty="0"/>
              <a:t>matplotlib</a:t>
            </a:r>
            <a:r>
              <a:rPr lang="zh-CN" altLang="en-US" dirty="0"/>
              <a:t>库绘制汞同位素丰度散点图，</a:t>
            </a:r>
            <a:r>
              <a:rPr lang="en-US" altLang="zh-CN" dirty="0"/>
              <a:t>X</a:t>
            </a:r>
            <a:r>
              <a:rPr lang="zh-CN" altLang="en-US" dirty="0"/>
              <a:t>轴为质量数，</a:t>
            </a:r>
            <a:r>
              <a:rPr lang="en-US" altLang="zh-CN" dirty="0"/>
              <a:t>Y</a:t>
            </a:r>
            <a:r>
              <a:rPr lang="zh-CN" altLang="en-US" dirty="0"/>
              <a:t>轴为相对丰度百分比，添加标题和坐标轴标签</a:t>
            </a:r>
            <a:r>
              <a:rPr lang="en-US" altLang="zh-CN" dirty="0"/>
              <a:t>”——</a:t>
            </a:r>
            <a:r>
              <a:rPr lang="zh-CN" altLang="en-US" dirty="0"/>
              <a:t>具体明确，</a:t>
            </a:r>
            <a:r>
              <a:rPr lang="en-US" altLang="zh-CN" dirty="0"/>
              <a:t>AI</a:t>
            </a:r>
            <a:r>
              <a:rPr lang="zh-CN" altLang="en-US" dirty="0"/>
              <a:t>才能给出满意答案！</a:t>
            </a:r>
            <a:endParaRPr lang="en-US" altLang="zh-CN" dirty="0"/>
          </a:p>
          <a:p>
            <a:r>
              <a:rPr lang="zh-CN" altLang="en-US" dirty="0"/>
              <a:t>记住：你描述得越清楚，</a:t>
            </a:r>
            <a:r>
              <a:rPr lang="en-US" altLang="zh-CN" dirty="0"/>
              <a:t>AI</a:t>
            </a:r>
            <a:r>
              <a:rPr lang="zh-CN" altLang="en-US" dirty="0"/>
              <a:t>回答得越准确。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理论讲完了，现在动手试试！</a:t>
            </a:r>
            <a:endParaRPr lang="en-US" altLang="zh-CN" dirty="0"/>
          </a:p>
          <a:p>
            <a:r>
              <a:rPr lang="zh-CN" altLang="en-US" dirty="0"/>
              <a:t>实践任务：</a:t>
            </a:r>
            <a:endParaRPr lang="zh-CN" altLang="en-US" dirty="0"/>
          </a:p>
          <a:p>
            <a:r>
              <a:rPr lang="zh-CN" altLang="en-US" dirty="0"/>
              <a:t>打开</a:t>
            </a:r>
            <a:r>
              <a:rPr lang="en-US" altLang="zh-CN" dirty="0"/>
              <a:t>DeepSeek</a:t>
            </a:r>
            <a:r>
              <a:rPr lang="zh-CN" altLang="en-US" dirty="0"/>
              <a:t>（大家可以在浏览器里打开</a:t>
            </a:r>
            <a:r>
              <a:rPr lang="en-US" altLang="zh-CN" dirty="0"/>
              <a:t> deepseek.com</a:t>
            </a:r>
            <a:r>
              <a:rPr lang="zh-CN" altLang="en-US" dirty="0"/>
              <a:t>），输入以下提示词：</a:t>
            </a:r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请用</a:t>
            </a:r>
            <a:r>
              <a:rPr lang="en-US" altLang="zh-CN" dirty="0"/>
              <a:t>Python</a:t>
            </a:r>
            <a:r>
              <a:rPr lang="zh-CN" altLang="en-US" dirty="0"/>
              <a:t>写一段代码，读取汞同位素数据并计算各同位素丰度的平均值。</a:t>
            </a:r>
            <a:r>
              <a:rPr lang="en-US" altLang="zh-CN" dirty="0"/>
              <a:t>”</a:t>
            </a:r>
            <a:endParaRPr lang="en-US" altLang="zh-CN" dirty="0"/>
          </a:p>
          <a:p>
            <a:r>
              <a:rPr lang="zh-CN" altLang="en-US" dirty="0"/>
              <a:t>观察</a:t>
            </a:r>
            <a:r>
              <a:rPr lang="en-US" altLang="zh-CN" dirty="0"/>
              <a:t>AI</a:t>
            </a:r>
            <a:r>
              <a:rPr lang="zh-CN" altLang="en-US" dirty="0"/>
              <a:t>如何回应。它会生成什么代码呢？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预期代码示例：</a:t>
            </a:r>
            <a:endParaRPr lang="zh-CN" altLang="en-US" dirty="0"/>
          </a:p>
          <a:p>
            <a:r>
              <a:rPr lang="en-US" altLang="zh-CN" dirty="0"/>
              <a:t>AI</a:t>
            </a:r>
            <a:r>
              <a:rPr lang="zh-CN" altLang="en-US" dirty="0"/>
              <a:t>可能会生成类似这样的代码：</a:t>
            </a:r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import pandas as pd</a:t>
            </a:r>
            <a:endParaRPr lang="en-US" altLang="zh-CN" dirty="0"/>
          </a:p>
          <a:p>
            <a:r>
              <a:rPr lang="en-US" altLang="zh-CN" dirty="0"/>
              <a:t>data = pd.read_csv('mercury_isotopes.csv')</a:t>
            </a:r>
            <a:endParaRPr lang="en-US" altLang="zh-CN" dirty="0"/>
          </a:p>
          <a:p>
            <a:r>
              <a:rPr lang="en-US" altLang="zh-CN" dirty="0"/>
              <a:t>avg_abundance = data['abundance'].mean()</a:t>
            </a:r>
            <a:endParaRPr lang="en-US" altLang="zh-CN" dirty="0"/>
          </a:p>
          <a:p>
            <a:r>
              <a:rPr lang="en-US" altLang="zh-CN" dirty="0"/>
              <a:t>print(f'</a:t>
            </a:r>
            <a:r>
              <a:rPr lang="zh-CN" altLang="en-US" dirty="0"/>
              <a:t>平均丰度</a:t>
            </a:r>
            <a:r>
              <a:rPr lang="en-US" altLang="zh-CN" dirty="0"/>
              <a:t>: {avg_abundance}')</a:t>
            </a:r>
            <a:endParaRPr lang="en-US" altLang="zh-CN" dirty="0"/>
          </a:p>
          <a:p>
            <a:r>
              <a:rPr lang="zh-CN" altLang="en-US" dirty="0"/>
              <a:t>这段代码展示了：导入库、读取数据、计算均值、输出结果</a:t>
            </a:r>
            <a:r>
              <a:rPr lang="en-US" altLang="zh-CN" dirty="0"/>
              <a:t>——</a:t>
            </a:r>
            <a:r>
              <a:rPr lang="zh-CN" altLang="en-US" dirty="0"/>
              <a:t>一个完整的数据处理流程！</a:t>
            </a:r>
            <a:endParaRPr lang="en-US" altLang="zh-CN" dirty="0"/>
          </a:p>
          <a:p>
            <a:r>
              <a:rPr lang="zh-CN" altLang="en-US" dirty="0"/>
              <a:t>是不是很神奇？你不需要记住所有语法，只需要会描述需求，</a:t>
            </a:r>
            <a:r>
              <a:rPr lang="en-US" altLang="zh-CN" dirty="0"/>
              <a:t>AI</a:t>
            </a:r>
            <a:r>
              <a:rPr lang="zh-CN" altLang="en-US" dirty="0"/>
              <a:t>就能帮你写出来。</a:t>
            </a:r>
            <a:endParaRPr lang="en-US" altLang="zh-CN" dirty="0"/>
          </a:p>
          <a:p>
            <a:r>
              <a:rPr lang="zh-CN" altLang="en-US" dirty="0"/>
              <a:t>这就是人机协作编程的魅力！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好了，现在我们知道了</a:t>
            </a:r>
            <a:r>
              <a:rPr lang="en-US" altLang="zh-CN" dirty="0"/>
              <a:t>AI</a:t>
            </a:r>
            <a:r>
              <a:rPr lang="zh-CN" altLang="en-US" dirty="0"/>
              <a:t>助手能帮我们做什么。</a:t>
            </a:r>
            <a:endParaRPr lang="en-US" altLang="zh-CN" dirty="0"/>
          </a:p>
          <a:p>
            <a:r>
              <a:rPr lang="zh-CN" altLang="en-US" dirty="0"/>
              <a:t>但是，</a:t>
            </a:r>
            <a:r>
              <a:rPr lang="en-US" altLang="zh-CN" dirty="0"/>
              <a:t>AI</a:t>
            </a:r>
            <a:r>
              <a:rPr lang="zh-CN" altLang="en-US" dirty="0"/>
              <a:t>生成的代码在哪里运行呢？我们需要一个编程环境。</a:t>
            </a:r>
            <a:endParaRPr lang="en-US" altLang="zh-CN" dirty="0"/>
          </a:p>
          <a:p>
            <a:r>
              <a:rPr lang="zh-CN" altLang="en-US" dirty="0"/>
              <a:t>接下来进入第二部分：环境搭建准备。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搭建</a:t>
            </a:r>
            <a:r>
              <a:rPr lang="en-US" altLang="zh-CN" dirty="0"/>
              <a:t>Python</a:t>
            </a:r>
            <a:r>
              <a:rPr lang="zh-CN" altLang="en-US" dirty="0"/>
              <a:t>开发环境，需要三样东西，我称之为</a:t>
            </a:r>
            <a:r>
              <a:rPr lang="en-US" altLang="zh-CN" dirty="0"/>
              <a:t>“</a:t>
            </a:r>
            <a:r>
              <a:rPr lang="zh-CN" altLang="en-US" dirty="0"/>
              <a:t>三剑客</a:t>
            </a:r>
            <a:r>
              <a:rPr lang="en-US" altLang="zh-CN" dirty="0"/>
              <a:t>”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第一剑客：</a:t>
            </a:r>
            <a:r>
              <a:rPr lang="en-US" altLang="zh-CN" dirty="0"/>
              <a:t>Python——</a:t>
            </a:r>
            <a:r>
              <a:rPr lang="zh-CN" altLang="en-US" dirty="0"/>
              <a:t>编程食材</a:t>
            </a:r>
            <a:endParaRPr lang="zh-CN" altLang="en-US" dirty="0"/>
          </a:p>
          <a:p>
            <a:r>
              <a:rPr lang="en-US" altLang="zh-CN" dirty="0"/>
              <a:t>Python</a:t>
            </a:r>
            <a:r>
              <a:rPr lang="zh-CN" altLang="en-US" dirty="0"/>
              <a:t>是编程语言本身，就像烹饪时的食材。它是我们编写程序的基础。</a:t>
            </a:r>
            <a:r>
              <a:rPr lang="en-US" altLang="zh-CN" dirty="0"/>
              <a:t>Python</a:t>
            </a:r>
            <a:r>
              <a:rPr lang="zh-CN" altLang="en-US" dirty="0"/>
              <a:t>简单易学，是数据科学的首选语言。没有</a:t>
            </a:r>
            <a:r>
              <a:rPr lang="en-US" altLang="zh-CN" dirty="0"/>
              <a:t>Python</a:t>
            </a:r>
            <a:r>
              <a:rPr lang="zh-CN" altLang="en-US" dirty="0"/>
              <a:t>，什么都做不了。</a:t>
            </a:r>
            <a:endParaRPr lang="en-US" altLang="zh-CN" dirty="0"/>
          </a:p>
          <a:p>
            <a:r>
              <a:rPr lang="zh-CN" altLang="en-US" dirty="0"/>
              <a:t>第二剑客：</a:t>
            </a:r>
            <a:r>
              <a:rPr lang="en-US" altLang="zh-CN" dirty="0"/>
              <a:t>VS Code——</a:t>
            </a:r>
            <a:r>
              <a:rPr lang="zh-CN" altLang="en-US" dirty="0"/>
              <a:t>厨师工具</a:t>
            </a:r>
            <a:endParaRPr lang="zh-CN" altLang="en-US" dirty="0"/>
          </a:p>
          <a:p>
            <a:r>
              <a:rPr lang="en-US" altLang="zh-CN" dirty="0"/>
              <a:t>VS Code</a:t>
            </a:r>
            <a:r>
              <a:rPr lang="zh-CN" altLang="en-US" dirty="0"/>
              <a:t>是代码编辑器，相当于厨师的砧板和刀具。它提供代码高亮、自动补全、错误提示等便利功能，让编程更高效。就像切菜有好刀，事半功倍。</a:t>
            </a:r>
            <a:endParaRPr lang="zh-CN" altLang="en-US" dirty="0"/>
          </a:p>
          <a:p>
            <a:r>
              <a:rPr lang="zh-CN" altLang="en-US" dirty="0"/>
              <a:t>第三剑客：虚拟环境</a:t>
            </a:r>
            <a:r>
              <a:rPr lang="en-US" altLang="zh-CN" dirty="0"/>
              <a:t>——</a:t>
            </a:r>
            <a:r>
              <a:rPr lang="zh-CN" altLang="en-US" dirty="0"/>
              <a:t>独立厨房</a:t>
            </a:r>
            <a:endParaRPr lang="zh-CN" altLang="en-US" dirty="0"/>
          </a:p>
          <a:p>
            <a:r>
              <a:rPr lang="zh-CN" altLang="en-US" dirty="0"/>
              <a:t>虚拟环境是独立的实验空间，比喻为不同菜肴使用不同厨房。为什么需要它？因为不同项目可能需要不同版本的库。项目</a:t>
            </a:r>
            <a:r>
              <a:rPr lang="en-US" altLang="zh-CN" dirty="0"/>
              <a:t>A</a:t>
            </a:r>
            <a:r>
              <a:rPr lang="zh-CN" altLang="en-US" dirty="0"/>
              <a:t>需要</a:t>
            </a:r>
            <a:r>
              <a:rPr lang="en-US" altLang="zh-CN" dirty="0"/>
              <a:t>numpy 1.21</a:t>
            </a:r>
            <a:r>
              <a:rPr lang="zh-CN" altLang="en-US" dirty="0"/>
              <a:t>，项目</a:t>
            </a:r>
            <a:r>
              <a:rPr lang="en-US" altLang="zh-CN" dirty="0"/>
              <a:t>B</a:t>
            </a:r>
            <a:r>
              <a:rPr lang="zh-CN" altLang="en-US" dirty="0"/>
              <a:t>需要</a:t>
            </a:r>
            <a:r>
              <a:rPr lang="en-US" altLang="zh-CN" dirty="0"/>
              <a:t>numpy 2.0——</a:t>
            </a:r>
            <a:r>
              <a:rPr lang="zh-CN" altLang="en-US" dirty="0"/>
              <a:t>如果没有虚拟环境，就会冲突。用虚拟环境，每个项目有自己的</a:t>
            </a:r>
            <a:r>
              <a:rPr lang="en-US" altLang="zh-CN" dirty="0"/>
              <a:t>“</a:t>
            </a:r>
            <a:r>
              <a:rPr lang="zh-CN" altLang="en-US" dirty="0"/>
              <a:t>独立厨房</a:t>
            </a:r>
            <a:r>
              <a:rPr lang="en-US" altLang="zh-CN" dirty="0"/>
              <a:t>”</a:t>
            </a:r>
            <a:r>
              <a:rPr lang="zh-CN" altLang="en-US" dirty="0"/>
              <a:t>，互不干扰。</a:t>
            </a:r>
            <a:endParaRPr lang="en-US" altLang="zh-CN" dirty="0"/>
          </a:p>
          <a:p>
            <a:r>
              <a:rPr lang="zh-CN" altLang="en-US" dirty="0"/>
              <a:t>好，接下来我们一步一步安装。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第一步：安装</a:t>
            </a:r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Windows</a:t>
            </a:r>
            <a:r>
              <a:rPr lang="zh-CN" altLang="en-US" dirty="0"/>
              <a:t>用户：</a:t>
            </a:r>
            <a:endParaRPr lang="zh-CN" altLang="en-US" dirty="0"/>
          </a:p>
          <a:p>
            <a:r>
              <a:rPr lang="zh-CN" altLang="en-US" dirty="0"/>
              <a:t>访问</a:t>
            </a:r>
            <a:r>
              <a:rPr lang="en-US" altLang="zh-CN" dirty="0"/>
              <a:t> python.org/downloads</a:t>
            </a:r>
            <a:r>
              <a:rPr lang="zh-CN" altLang="en-US" dirty="0"/>
              <a:t>，下载</a:t>
            </a:r>
            <a:r>
              <a:rPr lang="en-US" altLang="zh-CN" dirty="0"/>
              <a:t>Python</a:t>
            </a:r>
            <a:r>
              <a:rPr lang="zh-CN" altLang="en-US" dirty="0"/>
              <a:t>安装包。关键一步：安装时务必勾选</a:t>
            </a:r>
            <a:r>
              <a:rPr lang="en-US" altLang="zh-CN" dirty="0"/>
              <a:t>“Add Python to PATH”</a:t>
            </a:r>
            <a:r>
              <a:rPr lang="zh-CN" altLang="en-US" dirty="0"/>
              <a:t>选项！这个选项让系统知道</a:t>
            </a:r>
            <a:r>
              <a:rPr lang="en-US" altLang="zh-CN" dirty="0"/>
              <a:t>Python</a:t>
            </a:r>
            <a:r>
              <a:rPr lang="zh-CN" altLang="en-US" dirty="0"/>
              <a:t>在哪里，非常重要。然后点击</a:t>
            </a:r>
            <a:r>
              <a:rPr lang="en-US" altLang="zh-CN" dirty="0"/>
              <a:t>Install Now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Mac</a:t>
            </a:r>
            <a:r>
              <a:rPr lang="zh-CN" altLang="en-US" dirty="0"/>
              <a:t>用户：</a:t>
            </a:r>
            <a:endParaRPr lang="zh-CN" altLang="en-US" dirty="0"/>
          </a:p>
          <a:p>
            <a:r>
              <a:rPr lang="zh-CN" altLang="en-US" dirty="0"/>
              <a:t>可以在官网下载安装包，或者如果有</a:t>
            </a:r>
            <a:r>
              <a:rPr lang="en-US" altLang="zh-CN" dirty="0"/>
              <a:t>Homebrew</a:t>
            </a:r>
            <a:r>
              <a:rPr lang="zh-CN" altLang="en-US" dirty="0"/>
              <a:t>，在终端输入</a:t>
            </a:r>
            <a:r>
              <a:rPr lang="en-US" altLang="zh-CN" dirty="0"/>
              <a:t> brew install python3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验证安装：</a:t>
            </a:r>
            <a:endParaRPr lang="zh-CN" altLang="en-US" dirty="0"/>
          </a:p>
          <a:p>
            <a:r>
              <a:rPr lang="zh-CN" altLang="en-US" dirty="0"/>
              <a:t>安装完成后，打开命令行（</a:t>
            </a:r>
            <a:r>
              <a:rPr lang="en-US" altLang="zh-CN" dirty="0"/>
              <a:t>Windows</a:t>
            </a:r>
            <a:r>
              <a:rPr lang="zh-CN" altLang="en-US" dirty="0"/>
              <a:t>用</a:t>
            </a:r>
            <a:r>
              <a:rPr lang="en-US" altLang="zh-CN" dirty="0"/>
              <a:t>cmd</a:t>
            </a:r>
            <a:r>
              <a:rPr lang="zh-CN" altLang="en-US" dirty="0"/>
              <a:t>，</a:t>
            </a:r>
            <a:r>
              <a:rPr lang="en-US" altLang="zh-CN" dirty="0"/>
              <a:t>Mac</a:t>
            </a:r>
            <a:r>
              <a:rPr lang="zh-CN" altLang="en-US" dirty="0"/>
              <a:t>用终端），输入</a:t>
            </a:r>
            <a:r>
              <a:rPr lang="en-US" altLang="zh-CN" dirty="0"/>
              <a:t> python --version </a:t>
            </a:r>
            <a:r>
              <a:rPr lang="zh-CN" altLang="en-US" dirty="0"/>
              <a:t>或</a:t>
            </a:r>
            <a:r>
              <a:rPr lang="en-US" altLang="zh-CN" dirty="0"/>
              <a:t> python3 --version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如果看到类似</a:t>
            </a:r>
            <a:r>
              <a:rPr lang="en-US" altLang="zh-CN" dirty="0"/>
              <a:t> Python 3.11.0 </a:t>
            </a:r>
            <a:r>
              <a:rPr lang="zh-CN" altLang="en-US" dirty="0"/>
              <a:t>的版本号，恭喜你，安装成功！现在可以开始编程之旅了。</a:t>
            </a:r>
            <a:endParaRPr lang="en-US" altLang="zh-CN" dirty="0"/>
          </a:p>
          <a:p>
            <a:r>
              <a:rPr lang="zh-CN" altLang="en-US" dirty="0"/>
              <a:t>如果提示</a:t>
            </a:r>
            <a:r>
              <a:rPr lang="en-US" altLang="zh-CN" dirty="0"/>
              <a:t>“</a:t>
            </a:r>
            <a:r>
              <a:rPr lang="zh-CN" altLang="en-US" dirty="0"/>
              <a:t>不是内部或外部命令</a:t>
            </a:r>
            <a:r>
              <a:rPr lang="en-US" altLang="zh-CN" dirty="0"/>
              <a:t>”</a:t>
            </a:r>
            <a:r>
              <a:rPr lang="zh-CN" altLang="en-US" dirty="0"/>
              <a:t>，说明</a:t>
            </a:r>
            <a:r>
              <a:rPr lang="en-US" altLang="zh-CN" dirty="0"/>
              <a:t>PATH</a:t>
            </a:r>
            <a:r>
              <a:rPr lang="zh-CN" altLang="en-US" dirty="0"/>
              <a:t>没配置好，需要重新安装并勾选那个选项。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第二步：安装</a:t>
            </a:r>
            <a:r>
              <a:rPr lang="en-US" altLang="zh-CN" dirty="0"/>
              <a:t>VS Code</a:t>
            </a:r>
            <a:endParaRPr lang="en-US" altLang="zh-CN" dirty="0"/>
          </a:p>
          <a:p>
            <a:r>
              <a:rPr lang="zh-CN" altLang="en-US" dirty="0"/>
              <a:t>下载安装：</a:t>
            </a:r>
            <a:endParaRPr lang="zh-CN" altLang="en-US" dirty="0"/>
          </a:p>
          <a:p>
            <a:r>
              <a:rPr lang="zh-CN" altLang="en-US" dirty="0"/>
              <a:t>访问</a:t>
            </a:r>
            <a:r>
              <a:rPr lang="en-US" altLang="zh-CN" dirty="0"/>
              <a:t> code.visualstudio.com</a:t>
            </a:r>
            <a:r>
              <a:rPr lang="zh-CN" altLang="en-US" dirty="0"/>
              <a:t>，下载对应系统的安装包，按安装向导完成安装。</a:t>
            </a:r>
            <a:r>
              <a:rPr lang="en-US" altLang="zh-CN" dirty="0"/>
              <a:t>VS Code</a:t>
            </a:r>
            <a:r>
              <a:rPr lang="zh-CN" altLang="en-US" dirty="0"/>
              <a:t>免费且功能强大，是全球最受欢迎的代码编辑器。</a:t>
            </a:r>
            <a:endParaRPr lang="zh-CN" altLang="en-US" dirty="0"/>
          </a:p>
          <a:p>
            <a:r>
              <a:rPr lang="zh-CN" altLang="en-US" dirty="0"/>
              <a:t>安装</a:t>
            </a:r>
            <a:r>
              <a:rPr lang="en-US" altLang="zh-CN" dirty="0"/>
              <a:t>Python</a:t>
            </a:r>
            <a:r>
              <a:rPr lang="zh-CN" altLang="en-US" dirty="0"/>
              <a:t>扩展：</a:t>
            </a:r>
            <a:endParaRPr lang="zh-CN" altLang="en-US" dirty="0"/>
          </a:p>
          <a:p>
            <a:r>
              <a:rPr lang="zh-CN" altLang="en-US" dirty="0"/>
              <a:t>打开</a:t>
            </a:r>
            <a:r>
              <a:rPr lang="en-US" altLang="zh-CN" dirty="0"/>
              <a:t>VS Code</a:t>
            </a:r>
            <a:r>
              <a:rPr lang="zh-CN" altLang="en-US" dirty="0"/>
              <a:t>，点击左侧的扩展图标（四个方块），搜索</a:t>
            </a:r>
            <a:r>
              <a:rPr lang="en-US" altLang="zh-CN" dirty="0"/>
              <a:t>“Python”</a:t>
            </a:r>
            <a:r>
              <a:rPr lang="zh-CN" altLang="en-US" dirty="0"/>
              <a:t>，找到微软官方发布的</a:t>
            </a:r>
            <a:r>
              <a:rPr lang="en-US" altLang="zh-CN" dirty="0"/>
              <a:t>Python</a:t>
            </a:r>
            <a:r>
              <a:rPr lang="zh-CN" altLang="en-US" dirty="0"/>
              <a:t>扩展，点击</a:t>
            </a:r>
            <a:r>
              <a:rPr lang="en-US" altLang="zh-CN" dirty="0"/>
              <a:t>Install</a:t>
            </a:r>
            <a:r>
              <a:rPr lang="zh-CN" altLang="en-US" dirty="0"/>
              <a:t>。这个扩展赋予</a:t>
            </a:r>
            <a:r>
              <a:rPr lang="en-US" altLang="zh-CN" dirty="0"/>
              <a:t>VS Code</a:t>
            </a:r>
            <a:r>
              <a:rPr lang="zh-CN" altLang="en-US" dirty="0"/>
              <a:t>理解</a:t>
            </a:r>
            <a:r>
              <a:rPr lang="en-US" altLang="zh-CN" dirty="0"/>
              <a:t>Python</a:t>
            </a:r>
            <a:r>
              <a:rPr lang="zh-CN" altLang="en-US" dirty="0"/>
              <a:t>代码的能力，提供智能提示、自动补全、调试功能。</a:t>
            </a:r>
            <a:endParaRPr lang="zh-CN" altLang="en-US" dirty="0"/>
          </a:p>
          <a:p>
            <a:r>
              <a:rPr lang="zh-CN" altLang="en-US" dirty="0"/>
              <a:t>界面初识：</a:t>
            </a:r>
            <a:endParaRPr lang="zh-CN" altLang="en-US" dirty="0"/>
          </a:p>
          <a:p>
            <a:r>
              <a:rPr lang="zh-CN" altLang="en-US" dirty="0"/>
              <a:t>熟悉一下</a:t>
            </a:r>
            <a:r>
              <a:rPr lang="en-US" altLang="zh-CN" dirty="0"/>
              <a:t>VS Code</a:t>
            </a:r>
            <a:r>
              <a:rPr lang="zh-CN" altLang="en-US" dirty="0"/>
              <a:t>界面：</a:t>
            </a:r>
            <a:endParaRPr lang="zh-CN" altLang="en-US" dirty="0"/>
          </a:p>
          <a:p>
            <a:r>
              <a:rPr lang="zh-CN" altLang="en-US" dirty="0"/>
              <a:t>左侧是文件资源管理器</a:t>
            </a:r>
            <a:r>
              <a:rPr lang="en-US" altLang="zh-CN" dirty="0"/>
              <a:t>——</a:t>
            </a:r>
            <a:r>
              <a:rPr lang="zh-CN" altLang="en-US" dirty="0"/>
              <a:t>管理项目文件</a:t>
            </a:r>
            <a:endParaRPr lang="en-US" altLang="zh-CN" dirty="0"/>
          </a:p>
          <a:p>
            <a:r>
              <a:rPr lang="zh-CN" altLang="en-US" dirty="0"/>
              <a:t>中间是代码编辑区</a:t>
            </a:r>
            <a:r>
              <a:rPr lang="en-US" altLang="zh-CN" dirty="0"/>
              <a:t>——</a:t>
            </a:r>
            <a:r>
              <a:rPr lang="zh-CN" altLang="en-US" dirty="0"/>
              <a:t>写代码的地方</a:t>
            </a:r>
            <a:endParaRPr lang="en-US" altLang="zh-CN" dirty="0"/>
          </a:p>
          <a:p>
            <a:r>
              <a:rPr lang="zh-CN" altLang="en-US" dirty="0"/>
              <a:t>底部是终端</a:t>
            </a:r>
            <a:r>
              <a:rPr lang="en-US" altLang="zh-CN" dirty="0"/>
              <a:t>——</a:t>
            </a:r>
            <a:r>
              <a:rPr lang="zh-CN" altLang="en-US" dirty="0"/>
              <a:t>运行命令的地方</a:t>
            </a:r>
            <a:endParaRPr lang="zh-CN" altLang="en-US" dirty="0"/>
          </a:p>
          <a:p>
            <a:r>
              <a:rPr lang="zh-CN" altLang="en-US" dirty="0"/>
              <a:t>现在你的专属编程工作台已经准备就绪！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第三步：创建虚拟环境</a:t>
            </a:r>
            <a:endParaRPr lang="en-US" altLang="zh-CN" dirty="0"/>
          </a:p>
          <a:p>
            <a:r>
              <a:rPr lang="zh-CN" altLang="en-US" dirty="0"/>
              <a:t>有两种方法：</a:t>
            </a:r>
            <a:endParaRPr lang="en-US" altLang="zh-CN" dirty="0"/>
          </a:p>
          <a:p>
            <a:r>
              <a:rPr lang="zh-CN" altLang="en-US" dirty="0"/>
              <a:t>方法一：命令行创建</a:t>
            </a:r>
            <a:endParaRPr lang="en-US" altLang="zh-CN" dirty="0"/>
          </a:p>
          <a:p>
            <a:r>
              <a:rPr lang="zh-CN" altLang="en-US" dirty="0"/>
              <a:t>在项目文件夹中打开命令行（</a:t>
            </a:r>
            <a:r>
              <a:rPr lang="en-US" altLang="zh-CN" dirty="0"/>
              <a:t>VS Code</a:t>
            </a:r>
            <a:r>
              <a:rPr lang="zh-CN" altLang="en-US" dirty="0"/>
              <a:t>中可以用终端）</a:t>
            </a:r>
            <a:endParaRPr lang="en-US" altLang="zh-CN" dirty="0"/>
          </a:p>
          <a:p>
            <a:r>
              <a:rPr lang="zh-CN" altLang="en-US" dirty="0"/>
              <a:t>输入</a:t>
            </a:r>
            <a:r>
              <a:rPr lang="en-US" altLang="zh-CN" dirty="0"/>
              <a:t> python -m venv myenv </a:t>
            </a:r>
            <a:r>
              <a:rPr lang="zh-CN" altLang="en-US" dirty="0"/>
              <a:t>创建虚拟环境</a:t>
            </a:r>
            <a:endParaRPr lang="en-US" altLang="zh-CN" dirty="0"/>
          </a:p>
          <a:p>
            <a:r>
              <a:rPr lang="zh-CN" altLang="en-US" dirty="0"/>
              <a:t>激活环境：</a:t>
            </a:r>
            <a:endParaRPr lang="en-US" altLang="zh-CN" dirty="0"/>
          </a:p>
          <a:p>
            <a:r>
              <a:rPr lang="en-US" altLang="zh-CN" dirty="0"/>
              <a:t>Windows: myenv\Scripts\activate</a:t>
            </a:r>
            <a:endParaRPr lang="en-US" altLang="zh-CN" dirty="0"/>
          </a:p>
          <a:p>
            <a:r>
              <a:rPr lang="en-US" altLang="zh-CN" dirty="0"/>
              <a:t>Mac/Linux: source myenv/bin/activate</a:t>
            </a:r>
            <a:endParaRPr lang="en-US" altLang="zh-CN" dirty="0"/>
          </a:p>
          <a:p>
            <a:r>
              <a:rPr lang="zh-CN" altLang="en-US" dirty="0"/>
              <a:t>方法二：</a:t>
            </a:r>
            <a:r>
              <a:rPr lang="en-US" altLang="zh-CN" dirty="0"/>
              <a:t>VS Code</a:t>
            </a:r>
            <a:r>
              <a:rPr lang="zh-CN" altLang="en-US" dirty="0"/>
              <a:t>自动创建（推荐）</a:t>
            </a:r>
            <a:endParaRPr lang="zh-CN" altLang="en-US" dirty="0"/>
          </a:p>
          <a:p>
            <a:r>
              <a:rPr lang="zh-CN" altLang="en-US" dirty="0"/>
              <a:t>按</a:t>
            </a:r>
            <a:r>
              <a:rPr lang="en-US" altLang="zh-CN" dirty="0"/>
              <a:t> Ctrl+Shift+P </a:t>
            </a:r>
            <a:r>
              <a:rPr lang="zh-CN" altLang="en-US" dirty="0"/>
              <a:t>打开命令面板</a:t>
            </a:r>
            <a:endParaRPr lang="en-US" altLang="zh-CN" dirty="0"/>
          </a:p>
          <a:p>
            <a:r>
              <a:rPr lang="zh-CN" altLang="en-US" dirty="0"/>
              <a:t>输入</a:t>
            </a:r>
            <a:r>
              <a:rPr lang="en-US" altLang="zh-CN" dirty="0"/>
              <a:t> “Python: Create Environment”</a:t>
            </a:r>
            <a:endParaRPr lang="en-US" altLang="zh-CN" dirty="0"/>
          </a:p>
          <a:p>
            <a:r>
              <a:rPr lang="zh-CN" altLang="en-US" dirty="0"/>
              <a:t>选择</a:t>
            </a:r>
            <a:r>
              <a:rPr lang="en-US" altLang="zh-CN" dirty="0"/>
              <a:t> “Venv”</a:t>
            </a:r>
            <a:endParaRPr lang="en-US" altLang="zh-CN" dirty="0"/>
          </a:p>
          <a:p>
            <a:r>
              <a:rPr lang="zh-CN" altLang="en-US" dirty="0"/>
              <a:t>按提示完成</a:t>
            </a:r>
            <a:endParaRPr lang="en-US" altLang="zh-CN" dirty="0"/>
          </a:p>
          <a:p>
            <a:r>
              <a:rPr lang="zh-CN" altLang="en-US" dirty="0"/>
              <a:t>验证：激活后，命令行前面会显示</a:t>
            </a:r>
            <a:r>
              <a:rPr lang="en-US" altLang="zh-CN" dirty="0"/>
              <a:t> (myenv) </a:t>
            </a:r>
            <a:r>
              <a:rPr lang="zh-CN" altLang="en-US" dirty="0"/>
              <a:t>前缀，表示已经进入独立空间。</a:t>
            </a:r>
            <a:endParaRPr lang="en-US" altLang="zh-CN" dirty="0"/>
          </a:p>
          <a:p>
            <a:r>
              <a:rPr lang="zh-CN" altLang="en-US" dirty="0"/>
              <a:t>养成创建虚拟环境的好习惯，能避免很多依赖冲突的问题！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第四步：安装</a:t>
            </a:r>
            <a:r>
              <a:rPr lang="en-US" altLang="zh-CN" dirty="0"/>
              <a:t>Python</a:t>
            </a:r>
            <a:r>
              <a:rPr lang="zh-CN" altLang="en-US" dirty="0"/>
              <a:t>包</a:t>
            </a:r>
            <a:endParaRPr lang="en-US" altLang="zh-CN" dirty="0"/>
          </a:p>
          <a:p>
            <a:r>
              <a:rPr lang="en-US" altLang="zh-CN" dirty="0"/>
              <a:t>pip</a:t>
            </a:r>
            <a:r>
              <a:rPr lang="zh-CN" altLang="en-US" dirty="0"/>
              <a:t>是</a:t>
            </a:r>
            <a:r>
              <a:rPr lang="en-US" altLang="zh-CN" dirty="0"/>
              <a:t>Python</a:t>
            </a:r>
            <a:r>
              <a:rPr lang="zh-CN" altLang="en-US" dirty="0"/>
              <a:t>的</a:t>
            </a:r>
            <a:r>
              <a:rPr lang="en-US" altLang="zh-CN" dirty="0"/>
              <a:t>“</a:t>
            </a:r>
            <a:r>
              <a:rPr lang="zh-CN" altLang="en-US" dirty="0"/>
              <a:t>应用商店</a:t>
            </a:r>
            <a:r>
              <a:rPr lang="en-US" altLang="zh-CN" dirty="0"/>
              <a:t>”</a:t>
            </a:r>
            <a:r>
              <a:rPr lang="zh-CN" altLang="en-US" dirty="0"/>
              <a:t>，用来下载安装各种功能扩展包。记住：一定要在激活的虚拟环境中使用</a:t>
            </a:r>
            <a:r>
              <a:rPr lang="en-US" altLang="zh-CN" dirty="0"/>
              <a:t>pip</a:t>
            </a:r>
            <a:r>
              <a:rPr lang="zh-CN" altLang="en-US" dirty="0"/>
              <a:t>，确保包安装到正确位置。</a:t>
            </a:r>
            <a:endParaRPr lang="en-US" altLang="zh-CN" dirty="0"/>
          </a:p>
          <a:p>
            <a:r>
              <a:rPr lang="zh-CN" altLang="en-US" dirty="0"/>
              <a:t>需要安装的包：</a:t>
            </a:r>
            <a:endParaRPr lang="en-US" altLang="zh-CN" dirty="0"/>
          </a:p>
          <a:p>
            <a:r>
              <a:rPr lang="en-US" altLang="zh-CN" dirty="0"/>
              <a:t>numpy</a:t>
            </a:r>
            <a:r>
              <a:rPr lang="zh-CN" altLang="en-US" dirty="0"/>
              <a:t>：</a:t>
            </a:r>
            <a:r>
              <a:rPr lang="en-US" altLang="zh-CN" dirty="0"/>
              <a:t>pip install numpy</a:t>
            </a:r>
            <a:endParaRPr lang="en-US" altLang="zh-CN" dirty="0"/>
          </a:p>
          <a:p>
            <a:r>
              <a:rPr lang="zh-CN" altLang="en-US" dirty="0"/>
              <a:t>数据处理的基础引擎，提供高效的数组运算能力</a:t>
            </a:r>
            <a:endParaRPr lang="en-US" altLang="zh-CN" dirty="0"/>
          </a:p>
          <a:p>
            <a:r>
              <a:rPr lang="en-US" altLang="zh-CN" dirty="0"/>
              <a:t>matplotlib</a:t>
            </a:r>
            <a:r>
              <a:rPr lang="zh-CN" altLang="en-US" dirty="0"/>
              <a:t>：</a:t>
            </a:r>
            <a:r>
              <a:rPr lang="en-US" altLang="zh-CN" dirty="0"/>
              <a:t>pip install matplotlib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最流行的绘图库，能把枯燥数据变成直观图表</a:t>
            </a:r>
            <a:endParaRPr lang="en-US" altLang="zh-CN" dirty="0"/>
          </a:p>
          <a:p>
            <a:r>
              <a:rPr lang="en-US" altLang="zh-CN" dirty="0"/>
              <a:t>pandas</a:t>
            </a:r>
            <a:r>
              <a:rPr lang="zh-CN" altLang="en-US" dirty="0"/>
              <a:t>和</a:t>
            </a:r>
            <a:r>
              <a:rPr lang="en-US" altLang="zh-CN" dirty="0"/>
              <a:t>openpyxl</a:t>
            </a:r>
            <a:r>
              <a:rPr lang="zh-CN" altLang="en-US" dirty="0"/>
              <a:t>：</a:t>
            </a:r>
            <a:r>
              <a:rPr lang="en-US" altLang="zh-CN" dirty="0"/>
              <a:t>pip install pandas openpyxl</a:t>
            </a:r>
            <a:endParaRPr lang="en-US" altLang="zh-CN" dirty="0"/>
          </a:p>
          <a:p>
            <a:r>
              <a:rPr lang="en-US" altLang="zh-CN" dirty="0"/>
              <a:t>pandas</a:t>
            </a:r>
            <a:r>
              <a:rPr lang="zh-CN" altLang="en-US" dirty="0"/>
              <a:t>提供强大的数据表格操作</a:t>
            </a:r>
            <a:endParaRPr lang="en-US" altLang="zh-CN" dirty="0"/>
          </a:p>
          <a:p>
            <a:r>
              <a:rPr lang="en-US" altLang="zh-CN" dirty="0"/>
              <a:t>openpyxl</a:t>
            </a:r>
            <a:r>
              <a:rPr lang="zh-CN" altLang="en-US" dirty="0"/>
              <a:t>支持</a:t>
            </a:r>
            <a:r>
              <a:rPr lang="en-US" altLang="zh-CN" dirty="0"/>
              <a:t>Excel</a:t>
            </a:r>
            <a:r>
              <a:rPr lang="zh-CN" altLang="en-US" dirty="0"/>
              <a:t>文件读写</a:t>
            </a:r>
            <a:endParaRPr lang="en-US" altLang="zh-CN" dirty="0"/>
          </a:p>
          <a:p>
            <a:r>
              <a:rPr lang="zh-CN" altLang="en-US" dirty="0"/>
              <a:t>可以一次性安装：</a:t>
            </a:r>
            <a:r>
              <a:rPr lang="en-US" altLang="zh-CN" dirty="0"/>
              <a:t>pip install numpy matplotlib pandas openpyxl</a:t>
            </a:r>
            <a:endParaRPr lang="en-US" altLang="zh-CN" dirty="0"/>
          </a:p>
          <a:p>
            <a:r>
              <a:rPr lang="zh-CN" altLang="en-US" dirty="0"/>
              <a:t>等待安装完成，你的数据探索工具箱就装备好了！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好，现在环境搭建完成了。我们已经有了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VS Code</a:t>
            </a:r>
            <a:r>
              <a:rPr lang="zh-CN" altLang="en-US" dirty="0"/>
              <a:t>、虚拟环境、必要的包。</a:t>
            </a:r>
            <a:endParaRPr lang="en-US" altLang="zh-CN" dirty="0"/>
          </a:p>
          <a:p>
            <a:r>
              <a:rPr lang="zh-CN" altLang="en-US" dirty="0"/>
              <a:t>但是，怎么用</a:t>
            </a:r>
            <a:r>
              <a:rPr lang="en-US" altLang="zh-CN" dirty="0"/>
              <a:t>Python</a:t>
            </a:r>
            <a:r>
              <a:rPr lang="zh-CN" altLang="en-US" dirty="0"/>
              <a:t>写代码呢？接下来进入第三部分：</a:t>
            </a:r>
            <a:r>
              <a:rPr lang="en-US" altLang="zh-CN" dirty="0"/>
              <a:t>Python</a:t>
            </a:r>
            <a:r>
              <a:rPr lang="zh-CN" altLang="en-US" dirty="0"/>
              <a:t>基础入门。</a:t>
            </a:r>
            <a:endParaRPr lang="en-US" altLang="zh-CN" dirty="0"/>
          </a:p>
          <a:p>
            <a:r>
              <a:rPr lang="zh-CN" altLang="en-US" dirty="0"/>
              <a:t>别担心，我们会从最基础的内容开始</a:t>
            </a:r>
            <a:r>
              <a:rPr lang="en-US" altLang="zh-CN" dirty="0"/>
              <a:t>——</a:t>
            </a:r>
            <a:r>
              <a:rPr lang="zh-CN" altLang="en-US" dirty="0"/>
              <a:t>变量、列表、循环、函数。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第一个概念：变量</a:t>
            </a:r>
            <a:endParaRPr lang="en-US" altLang="zh-CN" dirty="0"/>
          </a:p>
          <a:p>
            <a:r>
              <a:rPr lang="zh-CN" altLang="en-US" dirty="0"/>
              <a:t>变量就像贴有标签的盒子。你可以把数据放进盒子里，盒子里的内容可以随时更换，但标签名保持不变。</a:t>
            </a:r>
            <a:endParaRPr lang="en-US" altLang="zh-CN" dirty="0"/>
          </a:p>
          <a:p>
            <a:r>
              <a:rPr lang="zh-CN" altLang="en-US" dirty="0"/>
              <a:t>命名规则：</a:t>
            </a:r>
            <a:endParaRPr lang="en-US" altLang="zh-CN" dirty="0"/>
          </a:p>
          <a:p>
            <a:r>
              <a:rPr lang="zh-CN" altLang="en-US" dirty="0"/>
              <a:t>只能包含字母、数字和下划线</a:t>
            </a:r>
            <a:endParaRPr lang="en-US" altLang="zh-CN" dirty="0"/>
          </a:p>
          <a:p>
            <a:r>
              <a:rPr lang="zh-CN" altLang="en-US" dirty="0"/>
              <a:t>不能以数字开头</a:t>
            </a:r>
            <a:endParaRPr lang="en-US" altLang="zh-CN" dirty="0"/>
          </a:p>
          <a:p>
            <a:r>
              <a:rPr lang="zh-CN" altLang="en-US" dirty="0"/>
              <a:t>区分大小写（</a:t>
            </a:r>
            <a:r>
              <a:rPr lang="en-US" altLang="zh-CN" dirty="0"/>
              <a:t>mercury</a:t>
            </a:r>
            <a:r>
              <a:rPr lang="zh-CN" altLang="en-US" dirty="0"/>
              <a:t>和</a:t>
            </a:r>
            <a:r>
              <a:rPr lang="en-US" altLang="zh-CN" dirty="0"/>
              <a:t>Mercury</a:t>
            </a:r>
            <a:r>
              <a:rPr lang="zh-CN" altLang="en-US" dirty="0"/>
              <a:t>是不同的）</a:t>
            </a:r>
            <a:endParaRPr lang="en-US" altLang="zh-CN" dirty="0"/>
          </a:p>
          <a:p>
            <a:r>
              <a:rPr lang="zh-CN" altLang="en-US" dirty="0"/>
              <a:t>建议使用有意义的英文单词，比如</a:t>
            </a:r>
            <a:r>
              <a:rPr lang="en-US" altLang="zh-CN" dirty="0"/>
              <a:t> mercury_mass</a:t>
            </a:r>
            <a:r>
              <a:rPr lang="zh-CN" altLang="en-US" dirty="0"/>
              <a:t>、</a:t>
            </a:r>
            <a:r>
              <a:rPr lang="en-US" altLang="zh-CN" dirty="0"/>
              <a:t>isotope_ratio</a:t>
            </a:r>
            <a:endParaRPr lang="en-US" altLang="zh-CN" dirty="0"/>
          </a:p>
          <a:p>
            <a:r>
              <a:rPr lang="zh-CN" altLang="en-US" dirty="0"/>
              <a:t>代码示例：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mercury_mass = 202        # </a:t>
            </a:r>
            <a:r>
              <a:rPr lang="zh-CN" altLang="en-US" dirty="0"/>
              <a:t>存储汞的质量数</a:t>
            </a:r>
            <a:endParaRPr lang="zh-CN" altLang="en-US" dirty="0"/>
          </a:p>
          <a:p>
            <a:r>
              <a:rPr lang="en-US" altLang="zh-CN" dirty="0"/>
              <a:t>isotope_ratio = 0.298     # </a:t>
            </a:r>
            <a:r>
              <a:rPr lang="zh-CN" altLang="en-US" dirty="0"/>
              <a:t>存储同位素比值</a:t>
            </a:r>
            <a:endParaRPr lang="zh-CN" altLang="en-US" dirty="0"/>
          </a:p>
          <a:p>
            <a:r>
              <a:rPr lang="en-US" altLang="zh-CN" dirty="0"/>
              <a:t>print(mercury_mass)       # </a:t>
            </a:r>
            <a:r>
              <a:rPr lang="zh-CN" altLang="en-US" dirty="0"/>
              <a:t>输出</a:t>
            </a:r>
            <a:r>
              <a:rPr lang="en-US" altLang="zh-CN" dirty="0"/>
              <a:t>: 202</a:t>
            </a:r>
            <a:endParaRPr lang="en-US" altLang="zh-CN" dirty="0"/>
          </a:p>
          <a:p>
            <a:r>
              <a:rPr lang="zh-CN" altLang="en-US" dirty="0"/>
              <a:t>用等号</a:t>
            </a:r>
            <a:r>
              <a:rPr lang="en-US" altLang="zh-CN" dirty="0"/>
              <a:t> = </a:t>
            </a:r>
            <a:r>
              <a:rPr lang="zh-CN" altLang="en-US" dirty="0"/>
              <a:t>赋值，用</a:t>
            </a:r>
            <a:r>
              <a:rPr lang="en-US" altLang="zh-CN" dirty="0"/>
              <a:t> print() </a:t>
            </a:r>
            <a:r>
              <a:rPr lang="zh-CN" altLang="en-US" dirty="0"/>
              <a:t>查看内容。就这么简单！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第二个概念：列表</a:t>
            </a:r>
            <a:endParaRPr lang="en-US" altLang="zh-CN" dirty="0"/>
          </a:p>
          <a:p>
            <a:r>
              <a:rPr lang="zh-CN" altLang="en-US" dirty="0"/>
              <a:t>列表就像可伸缩的收纳袋，可以放很多个数据。</a:t>
            </a:r>
            <a:endParaRPr lang="en-US" altLang="zh-CN" dirty="0"/>
          </a:p>
          <a:p>
            <a:r>
              <a:rPr lang="zh-CN" altLang="en-US" dirty="0"/>
              <a:t>创建列表：用中括号</a:t>
            </a:r>
            <a:r>
              <a:rPr lang="en-US" altLang="zh-CN" dirty="0"/>
              <a:t> [] </a:t>
            </a:r>
            <a:r>
              <a:rPr lang="zh-CN" altLang="en-US" dirty="0"/>
              <a:t>包裹，逗号分隔</a:t>
            </a:r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masses = [202, 204, 199, 200, 201]  # </a:t>
            </a:r>
            <a:r>
              <a:rPr lang="zh-CN" altLang="en-US" dirty="0"/>
              <a:t>五种汞同位素质量数</a:t>
            </a:r>
            <a:endParaRPr lang="zh-CN" altLang="en-US" dirty="0"/>
          </a:p>
          <a:p>
            <a:r>
              <a:rPr lang="zh-CN" altLang="en-US" dirty="0"/>
              <a:t>访问元素：用索引，从</a:t>
            </a:r>
            <a:r>
              <a:rPr lang="en-US" altLang="zh-CN" dirty="0"/>
              <a:t>0</a:t>
            </a:r>
            <a:r>
              <a:rPr lang="zh-CN" altLang="en-US" dirty="0"/>
              <a:t>开始！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print(masses[0])   # </a:t>
            </a:r>
            <a:r>
              <a:rPr lang="zh-CN" altLang="en-US" dirty="0"/>
              <a:t>输出</a:t>
            </a:r>
            <a:r>
              <a:rPr lang="en-US" altLang="zh-CN" dirty="0"/>
              <a:t>: 202</a:t>
            </a:r>
            <a:r>
              <a:rPr lang="zh-CN" altLang="en-US" dirty="0"/>
              <a:t>（第一个元素）</a:t>
            </a:r>
            <a:endParaRPr lang="zh-CN" altLang="en-US" dirty="0"/>
          </a:p>
          <a:p>
            <a:r>
              <a:rPr lang="en-US" altLang="zh-CN" dirty="0"/>
              <a:t>print(masses[2])   # </a:t>
            </a:r>
            <a:r>
              <a:rPr lang="zh-CN" altLang="en-US" dirty="0"/>
              <a:t>输出</a:t>
            </a:r>
            <a:r>
              <a:rPr lang="en-US" altLang="zh-CN" dirty="0"/>
              <a:t>: 199</a:t>
            </a:r>
            <a:r>
              <a:rPr lang="zh-CN" altLang="en-US" dirty="0"/>
              <a:t>（第三个元素）</a:t>
            </a:r>
            <a:endParaRPr lang="zh-CN" altLang="en-US" dirty="0"/>
          </a:p>
          <a:p>
            <a:r>
              <a:rPr lang="zh-CN" altLang="en-US" dirty="0"/>
              <a:t>常用操作：</a:t>
            </a:r>
            <a:endParaRPr lang="en-US" altLang="zh-CN" dirty="0"/>
          </a:p>
          <a:p>
            <a:r>
              <a:rPr lang="en-US" altLang="zh-CN" dirty="0"/>
              <a:t>masses.append(198) — </a:t>
            </a:r>
            <a:r>
              <a:rPr lang="zh-CN" altLang="en-US" dirty="0"/>
              <a:t>在末尾添加新元素</a:t>
            </a:r>
            <a:endParaRPr lang="en-US" altLang="zh-CN" dirty="0"/>
          </a:p>
          <a:p>
            <a:r>
              <a:rPr lang="en-US" altLang="zh-CN" dirty="0"/>
              <a:t>len(masses) — </a:t>
            </a:r>
            <a:r>
              <a:rPr lang="zh-CN" altLang="en-US" dirty="0"/>
              <a:t>获取列表长度（元素个数）</a:t>
            </a:r>
            <a:endParaRPr lang="en-US" altLang="zh-CN" dirty="0"/>
          </a:p>
          <a:p>
            <a:r>
              <a:rPr lang="zh-CN" altLang="en-US" dirty="0"/>
              <a:t>列表让批量数据管理变得简单高效！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第三个概念：循环</a:t>
            </a:r>
            <a:endParaRPr lang="en-US" altLang="zh-CN" dirty="0"/>
          </a:p>
          <a:p>
            <a:r>
              <a:rPr lang="zh-CN" altLang="en-US" dirty="0"/>
              <a:t>循环就像勤劳的机器人，可以重复执行同一个任务很多次。</a:t>
            </a:r>
            <a:endParaRPr lang="en-US" altLang="zh-CN" dirty="0"/>
          </a:p>
          <a:p>
            <a:r>
              <a:rPr lang="en-US" altLang="zh-CN" dirty="0"/>
              <a:t>for</a:t>
            </a:r>
            <a:r>
              <a:rPr lang="zh-CN" altLang="en-US" dirty="0"/>
              <a:t>循环的基本语法：</a:t>
            </a:r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for </a:t>
            </a:r>
            <a:r>
              <a:rPr lang="zh-CN" altLang="en-US" dirty="0"/>
              <a:t>变量</a:t>
            </a:r>
            <a:r>
              <a:rPr lang="en-US" altLang="zh-CN" dirty="0"/>
              <a:t> in </a:t>
            </a:r>
            <a:r>
              <a:rPr lang="zh-CN" altLang="en-US" dirty="0"/>
              <a:t>可迭代对象</a:t>
            </a:r>
            <a:r>
              <a:rPr lang="en-US" altLang="zh-CN" dirty="0"/>
              <a:t>: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执行语句</a:t>
            </a:r>
            <a:endParaRPr lang="zh-CN" altLang="en-US" dirty="0"/>
          </a:p>
          <a:p>
            <a:r>
              <a:rPr lang="zh-CN" altLang="en-US" dirty="0"/>
              <a:t>注意冒号和缩进！缩进表示哪些代码属于循环体，这是</a:t>
            </a:r>
            <a:r>
              <a:rPr lang="en-US" altLang="zh-CN" dirty="0"/>
              <a:t>Python</a:t>
            </a:r>
            <a:r>
              <a:rPr lang="zh-CN" altLang="en-US" dirty="0"/>
              <a:t>语法的核心特征。</a:t>
            </a:r>
            <a:endParaRPr lang="zh-CN" altLang="en-US" dirty="0"/>
          </a:p>
          <a:p>
            <a:r>
              <a:rPr lang="zh-CN" altLang="en-US" dirty="0"/>
              <a:t>实战：计算平均值</a:t>
            </a:r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abundances = [29.8, 23.1, 13.2, 16.9, 17.0]</a:t>
            </a:r>
            <a:endParaRPr lang="en-US" altLang="zh-CN" dirty="0"/>
          </a:p>
          <a:p>
            <a:r>
              <a:rPr lang="en-US" altLang="zh-CN" dirty="0"/>
              <a:t>total = 0</a:t>
            </a:r>
            <a:endParaRPr lang="en-US" altLang="zh-CN" dirty="0"/>
          </a:p>
          <a:p>
            <a:r>
              <a:rPr lang="en-US" altLang="zh-CN" dirty="0"/>
              <a:t>for value in abundances:</a:t>
            </a:r>
            <a:endParaRPr lang="en-US" altLang="zh-CN" dirty="0"/>
          </a:p>
          <a:p>
            <a:r>
              <a:rPr lang="en-US" altLang="zh-CN" dirty="0"/>
              <a:t>    total = total + value   # </a:t>
            </a:r>
            <a:r>
              <a:rPr lang="zh-CN" altLang="en-US" dirty="0"/>
              <a:t>累加每个值</a:t>
            </a:r>
            <a:endParaRPr lang="zh-CN" altLang="en-US" dirty="0"/>
          </a:p>
          <a:p>
            <a:r>
              <a:rPr lang="en-US" altLang="zh-CN" dirty="0"/>
              <a:t>average = total / len(abundances)</a:t>
            </a:r>
            <a:endParaRPr lang="en-US" altLang="zh-CN" dirty="0"/>
          </a:p>
          <a:p>
            <a:r>
              <a:rPr lang="en-US" altLang="zh-CN" dirty="0"/>
              <a:t>print(average)</a:t>
            </a:r>
            <a:endParaRPr lang="en-US" altLang="zh-CN" dirty="0"/>
          </a:p>
          <a:p>
            <a:r>
              <a:rPr lang="zh-CN" altLang="en-US" dirty="0"/>
              <a:t>循环遍历每个元素，累加求和，最后除以个数得到平均值。</a:t>
            </a:r>
            <a:endParaRPr lang="en-US" altLang="zh-CN" dirty="0"/>
          </a:p>
          <a:p>
            <a:r>
              <a:rPr lang="zh-CN" altLang="en-US" dirty="0"/>
              <a:t>如果没有循环，你有</a:t>
            </a:r>
            <a:r>
              <a:rPr lang="en-US" altLang="zh-CN" dirty="0"/>
              <a:t>5</a:t>
            </a:r>
            <a:r>
              <a:rPr lang="zh-CN" altLang="en-US" dirty="0"/>
              <a:t>个数据就要写</a:t>
            </a:r>
            <a:r>
              <a:rPr lang="en-US" altLang="zh-CN" dirty="0"/>
              <a:t>5</a:t>
            </a:r>
            <a:r>
              <a:rPr lang="zh-CN" altLang="en-US" dirty="0"/>
              <a:t>行加法；有</a:t>
            </a:r>
            <a:r>
              <a:rPr lang="en-US" altLang="zh-CN" dirty="0"/>
              <a:t>1000</a:t>
            </a:r>
            <a:r>
              <a:rPr lang="zh-CN" altLang="en-US" dirty="0"/>
              <a:t>个数据呢？循环一行代码搞定！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第四个概念：函数</a:t>
            </a:r>
            <a:endParaRPr lang="en-US" altLang="zh-CN" dirty="0"/>
          </a:p>
          <a:p>
            <a:r>
              <a:rPr lang="zh-CN" altLang="en-US" dirty="0"/>
              <a:t>函数就像微波炉：</a:t>
            </a:r>
            <a:endParaRPr lang="en-US" altLang="zh-CN" dirty="0"/>
          </a:p>
          <a:p>
            <a:r>
              <a:rPr lang="zh-CN" altLang="en-US" dirty="0"/>
              <a:t>输入食材（参数）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按下按钮（调用）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得到加热好的食物（返回值）</a:t>
            </a:r>
            <a:endParaRPr lang="en-US" altLang="zh-CN" dirty="0"/>
          </a:p>
          <a:p>
            <a:r>
              <a:rPr lang="zh-CN" altLang="en-US" dirty="0"/>
              <a:t>定义函数：用</a:t>
            </a:r>
            <a:r>
              <a:rPr lang="en-US" altLang="zh-CN" dirty="0"/>
              <a:t> def </a:t>
            </a:r>
            <a:r>
              <a:rPr lang="zh-CN" altLang="en-US" dirty="0"/>
              <a:t>关键字</a:t>
            </a:r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def </a:t>
            </a:r>
            <a:r>
              <a:rPr lang="zh-CN" altLang="en-US" dirty="0"/>
              <a:t>函数名</a:t>
            </a:r>
            <a:r>
              <a:rPr lang="en-US" altLang="zh-CN" dirty="0"/>
              <a:t>(</a:t>
            </a:r>
            <a:r>
              <a:rPr lang="zh-CN" altLang="en-US" dirty="0"/>
              <a:t>参数</a:t>
            </a:r>
            <a:r>
              <a:rPr lang="en-US" altLang="zh-CN" dirty="0"/>
              <a:t>):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zh-CN" altLang="en-US" dirty="0"/>
              <a:t>执行语句</a:t>
            </a:r>
            <a:endParaRPr lang="zh-CN" altLang="en-US" dirty="0"/>
          </a:p>
          <a:p>
            <a:r>
              <a:rPr lang="en-US" altLang="zh-CN" dirty="0"/>
              <a:t>    return </a:t>
            </a:r>
            <a:r>
              <a:rPr lang="zh-CN" altLang="en-US" dirty="0"/>
              <a:t>返回值</a:t>
            </a:r>
            <a:endParaRPr lang="zh-CN" altLang="en-US" dirty="0"/>
          </a:p>
          <a:p>
            <a:r>
              <a:rPr lang="zh-CN" altLang="en-US" dirty="0"/>
              <a:t>实战：封装平均值计算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def calc_average(data):</a:t>
            </a:r>
            <a:endParaRPr lang="en-US" altLang="zh-CN" dirty="0"/>
          </a:p>
          <a:p>
            <a:r>
              <a:rPr lang="en-US" altLang="zh-CN" dirty="0"/>
              <a:t>    total = sum(data)</a:t>
            </a:r>
            <a:endParaRPr lang="en-US" altLang="zh-CN" dirty="0"/>
          </a:p>
          <a:p>
            <a:r>
              <a:rPr lang="en-US" altLang="zh-CN" dirty="0"/>
              <a:t>    return total / len(data)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使用函数</a:t>
            </a:r>
            <a:endParaRPr lang="zh-CN" altLang="en-US" dirty="0"/>
          </a:p>
          <a:p>
            <a:r>
              <a:rPr lang="en-US" altLang="zh-CN" dirty="0"/>
              <a:t>abundances = [29.8, 23.1, 13.2]</a:t>
            </a:r>
            <a:endParaRPr lang="en-US" altLang="zh-CN" dirty="0"/>
          </a:p>
          <a:p>
            <a:r>
              <a:rPr lang="en-US" altLang="zh-CN" dirty="0"/>
              <a:t>result = calc_average(abundances)</a:t>
            </a:r>
            <a:endParaRPr lang="en-US" altLang="zh-CN" dirty="0"/>
          </a:p>
          <a:p>
            <a:r>
              <a:rPr lang="en-US" altLang="zh-CN" dirty="0"/>
              <a:t>print(result)   # </a:t>
            </a:r>
            <a:r>
              <a:rPr lang="zh-CN" altLang="en-US" dirty="0"/>
              <a:t>输出平均值</a:t>
            </a:r>
            <a:endParaRPr lang="zh-CN" altLang="en-US" dirty="0"/>
          </a:p>
          <a:p>
            <a:r>
              <a:rPr lang="zh-CN" altLang="en-US" dirty="0"/>
              <a:t>为什么要用函数？</a:t>
            </a:r>
            <a:endParaRPr lang="en-US" altLang="zh-CN" dirty="0"/>
          </a:p>
          <a:p>
            <a:r>
              <a:rPr lang="zh-CN" altLang="en-US" dirty="0"/>
              <a:t>避免重复写相同代码</a:t>
            </a:r>
            <a:endParaRPr lang="en-US" altLang="zh-CN" dirty="0"/>
          </a:p>
          <a:p>
            <a:r>
              <a:rPr lang="zh-CN" altLang="en-US" dirty="0"/>
              <a:t>让程序结构更清晰</a:t>
            </a:r>
            <a:endParaRPr lang="en-US" altLang="zh-CN" dirty="0"/>
          </a:p>
          <a:p>
            <a:r>
              <a:rPr lang="zh-CN" altLang="en-US" dirty="0"/>
              <a:t>方便修改和调试</a:t>
            </a:r>
            <a:endParaRPr lang="en-US" altLang="zh-CN" dirty="0"/>
          </a:p>
          <a:p>
            <a:r>
              <a:rPr lang="zh-CN" altLang="en-US" dirty="0"/>
              <a:t>封装后随时调用，这是代码复用的核心！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好，现在我们学完了</a:t>
            </a:r>
            <a:r>
              <a:rPr lang="en-US" altLang="zh-CN" dirty="0"/>
              <a:t>Python</a:t>
            </a:r>
            <a:r>
              <a:rPr lang="zh-CN" altLang="en-US" dirty="0"/>
              <a:t>的四个基础概念：变量、列表、循环、函数。</a:t>
            </a:r>
            <a:endParaRPr lang="en-US" altLang="zh-CN" dirty="0"/>
          </a:p>
          <a:p>
            <a:r>
              <a:rPr lang="zh-CN" altLang="en-US" dirty="0"/>
              <a:t>有了这些知识，我们已经能写一些简单的程序了。但</a:t>
            </a:r>
            <a:r>
              <a:rPr lang="en-US" altLang="zh-CN" dirty="0"/>
              <a:t>Python</a:t>
            </a:r>
            <a:r>
              <a:rPr lang="zh-CN" altLang="en-US" dirty="0"/>
              <a:t>最强大的功能之一，是数据可视化</a:t>
            </a:r>
            <a:r>
              <a:rPr lang="en-US" altLang="zh-CN" dirty="0"/>
              <a:t>——</a:t>
            </a:r>
            <a:r>
              <a:rPr lang="zh-CN" altLang="en-US" dirty="0"/>
              <a:t>把枯燥的数字变成漂亮的图表。</a:t>
            </a:r>
            <a:endParaRPr lang="zh-CN" altLang="en-US" dirty="0"/>
          </a:p>
          <a:p>
            <a:r>
              <a:rPr lang="zh-CN" altLang="en-US" dirty="0"/>
              <a:t>接下来进入第四部分：数据可视化实战！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数据可视化是什么？</a:t>
            </a:r>
            <a:endParaRPr lang="en-US" altLang="zh-CN" dirty="0"/>
          </a:p>
          <a:p>
            <a:r>
              <a:rPr lang="zh-CN" altLang="en-US" dirty="0"/>
              <a:t>简单说，就是给数据配上翻译，让枯燥的数字变成直观的图形故事。一图胜千言，图表能快速揭示数据背后的规律和趋势。</a:t>
            </a:r>
            <a:endParaRPr lang="en-US" altLang="zh-CN" dirty="0"/>
          </a:p>
          <a:p>
            <a:r>
              <a:rPr lang="zh-CN" altLang="en-US" dirty="0"/>
              <a:t>核心工具介绍：</a:t>
            </a:r>
            <a:endParaRPr lang="zh-CN" altLang="en-US" dirty="0"/>
          </a:p>
          <a:p>
            <a:r>
              <a:rPr lang="en-US" altLang="zh-CN" dirty="0"/>
              <a:t>numpy</a:t>
            </a:r>
            <a:r>
              <a:rPr lang="zh-CN" altLang="en-US" dirty="0"/>
              <a:t>：数学引擎</a:t>
            </a:r>
            <a:endParaRPr lang="en-US" altLang="zh-CN" dirty="0"/>
          </a:p>
          <a:p>
            <a:r>
              <a:rPr lang="zh-CN" altLang="en-US" dirty="0"/>
              <a:t>处理数值数组，高效快速</a:t>
            </a:r>
            <a:endParaRPr lang="en-US" altLang="zh-CN" dirty="0"/>
          </a:p>
          <a:p>
            <a:r>
              <a:rPr lang="zh-CN" altLang="en-US" dirty="0"/>
              <a:t>是科学计算的基石</a:t>
            </a:r>
            <a:endParaRPr lang="en-US" altLang="zh-CN" dirty="0"/>
          </a:p>
          <a:p>
            <a:r>
              <a:rPr lang="en-US" altLang="zh-CN" dirty="0"/>
              <a:t>matplotlib</a:t>
            </a:r>
            <a:r>
              <a:rPr lang="zh-CN" altLang="en-US" dirty="0"/>
              <a:t>：数字画笔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最流行的绘图库</a:t>
            </a:r>
            <a:endParaRPr lang="en-US" altLang="zh-CN" dirty="0"/>
          </a:p>
          <a:p>
            <a:r>
              <a:rPr lang="zh-CN" altLang="en-US" dirty="0"/>
              <a:t>功能强大且灵活，可以绘制各种图表</a:t>
            </a:r>
            <a:endParaRPr lang="en-US" altLang="zh-CN" dirty="0"/>
          </a:p>
          <a:p>
            <a:r>
              <a:rPr lang="zh-CN" altLang="en-US" dirty="0"/>
              <a:t>基本绘图流程（五步法）：</a:t>
            </a:r>
            <a:endParaRPr lang="en-US" altLang="zh-CN" dirty="0"/>
          </a:p>
          <a:p>
            <a:r>
              <a:rPr lang="zh-CN" altLang="en-US" dirty="0"/>
              <a:t>导入库</a:t>
            </a:r>
            <a:endParaRPr lang="en-US" altLang="zh-CN" dirty="0"/>
          </a:p>
          <a:p>
            <a:r>
              <a:rPr lang="zh-CN" altLang="en-US" dirty="0"/>
              <a:t>准备数据</a:t>
            </a:r>
            <a:endParaRPr lang="zh-CN" altLang="en-US" dirty="0"/>
          </a:p>
          <a:p>
            <a:r>
              <a:rPr lang="zh-CN" altLang="en-US" dirty="0"/>
              <a:t>创建画布</a:t>
            </a:r>
            <a:endParaRPr lang="en-US" altLang="zh-CN" dirty="0"/>
          </a:p>
          <a:p>
            <a:r>
              <a:rPr lang="zh-CN" altLang="en-US" dirty="0"/>
              <a:t>绘制图形</a:t>
            </a:r>
            <a:endParaRPr lang="zh-CN" altLang="en-US" dirty="0"/>
          </a:p>
          <a:p>
            <a:r>
              <a:rPr lang="zh-CN" altLang="en-US" dirty="0"/>
              <a:t>添加装饰（标题、标签）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显示</a:t>
            </a:r>
            <a:r>
              <a:rPr lang="en-US" altLang="zh-CN" dirty="0"/>
              <a:t>/</a:t>
            </a:r>
            <a:r>
              <a:rPr lang="zh-CN" altLang="en-US" dirty="0"/>
              <a:t>保存</a:t>
            </a:r>
            <a:endParaRPr lang="zh-CN" altLang="en-US" dirty="0"/>
          </a:p>
          <a:p>
            <a:r>
              <a:rPr lang="zh-CN" altLang="en-US" dirty="0"/>
              <a:t>按照这个流程，任何人都能创建专业图表！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现在，让我们真正动手，用代码绘制汞同位素的散点图！</a:t>
            </a:r>
            <a:endParaRPr lang="en-US" altLang="zh-CN" dirty="0"/>
          </a:p>
          <a:p>
            <a:r>
              <a:rPr lang="zh-CN" altLang="en-US" dirty="0"/>
              <a:t>完整代码：</a:t>
            </a:r>
            <a:endParaRPr lang="zh-CN" altLang="en-US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endParaRPr lang="en-US" altLang="zh-CN" dirty="0"/>
          </a:p>
          <a:p>
            <a:r>
              <a:rPr lang="en-US" altLang="zh-CN" dirty="0"/>
              <a:t>import numpy as np</a:t>
            </a:r>
            <a:endParaRPr lang="en-US" altLang="zh-CN" dirty="0"/>
          </a:p>
          <a:p>
            <a:r>
              <a:rPr lang="en-US" altLang="zh-CN" dirty="0"/>
              <a:t>import matplotlib.pyplot as plt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准备数据</a:t>
            </a:r>
            <a:endParaRPr lang="zh-CN" altLang="en-US" dirty="0"/>
          </a:p>
          <a:p>
            <a:r>
              <a:rPr lang="en-US" altLang="zh-CN" dirty="0"/>
              <a:t>mass_numbers = [196, 198, 199, 200, 201, 202, 204]</a:t>
            </a:r>
            <a:endParaRPr lang="en-US" altLang="zh-CN" dirty="0"/>
          </a:p>
          <a:p>
            <a:r>
              <a:rPr lang="en-US" altLang="zh-CN" dirty="0"/>
              <a:t>abundances = [0.15, 10.0, 16.9, 23.1, 13.2, 29.8, 6.9]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绘制散点图</a:t>
            </a:r>
            <a:endParaRPr lang="zh-CN" altLang="en-US" dirty="0"/>
          </a:p>
          <a:p>
            <a:r>
              <a:rPr lang="en-US" altLang="zh-CN" dirty="0"/>
              <a:t>plt.scatter(mass_numbers, abundances, color='blue', s=100)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添加装饰</a:t>
            </a:r>
            <a:endParaRPr lang="zh-CN" altLang="en-US" dirty="0"/>
          </a:p>
          <a:p>
            <a:r>
              <a:rPr lang="en-US" altLang="zh-CN" dirty="0"/>
              <a:t>plt.title('</a:t>
            </a:r>
            <a:r>
              <a:rPr lang="zh-CN" altLang="en-US" dirty="0"/>
              <a:t>汞同位素相对丰度分布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/>
              <a:t>plt.xlabel('</a:t>
            </a:r>
            <a:r>
              <a:rPr lang="zh-CN" altLang="en-US" dirty="0"/>
              <a:t>质量数</a:t>
            </a:r>
            <a:r>
              <a:rPr lang="en-US" altLang="zh-CN" dirty="0"/>
              <a:t>')</a:t>
            </a:r>
            <a:endParaRPr lang="en-US" altLang="zh-CN" dirty="0"/>
          </a:p>
          <a:p>
            <a:r>
              <a:rPr lang="en-US" altLang="zh-CN" dirty="0"/>
              <a:t>plt.ylabel('</a:t>
            </a:r>
            <a:r>
              <a:rPr lang="zh-CN" altLang="en-US" dirty="0"/>
              <a:t>相对丰度</a:t>
            </a:r>
            <a:r>
              <a:rPr lang="en-US" altLang="zh-CN" dirty="0"/>
              <a:t>(%)')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显示图表</a:t>
            </a:r>
            <a:endParaRPr lang="zh-CN" altLang="en-US" dirty="0"/>
          </a:p>
          <a:p>
            <a:r>
              <a:rPr lang="en-US" altLang="zh-CN" dirty="0"/>
              <a:t>plt.show()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代码解析：</a:t>
            </a:r>
            <a:endParaRPr lang="en-US" altLang="zh-CN" dirty="0"/>
          </a:p>
          <a:p>
            <a:r>
              <a:rPr lang="en-US" altLang="zh-CN" dirty="0"/>
              <a:t>scatter() </a:t>
            </a:r>
            <a:r>
              <a:rPr lang="zh-CN" altLang="en-US" dirty="0"/>
              <a:t>绘制散点图，</a:t>
            </a:r>
            <a:r>
              <a:rPr lang="en-US" altLang="zh-CN" dirty="0"/>
              <a:t>s=100 </a:t>
            </a:r>
            <a:r>
              <a:rPr lang="zh-CN" altLang="en-US" dirty="0"/>
              <a:t>控制点的大小</a:t>
            </a:r>
            <a:endParaRPr lang="en-US" altLang="zh-CN" dirty="0"/>
          </a:p>
          <a:p>
            <a:r>
              <a:rPr lang="en-US" altLang="zh-CN" dirty="0"/>
              <a:t>title() </a:t>
            </a:r>
            <a:r>
              <a:rPr lang="zh-CN" altLang="en-US" dirty="0"/>
              <a:t>添加标题</a:t>
            </a:r>
            <a:endParaRPr lang="en-US" altLang="zh-CN" dirty="0"/>
          </a:p>
          <a:p>
            <a:r>
              <a:rPr lang="en-US" altLang="zh-CN" dirty="0"/>
              <a:t>xlabel() </a:t>
            </a:r>
            <a:r>
              <a:rPr lang="zh-CN" altLang="en-US" dirty="0"/>
              <a:t>和</a:t>
            </a:r>
            <a:r>
              <a:rPr lang="en-US" altLang="zh-CN" dirty="0"/>
              <a:t> ylabel() </a:t>
            </a:r>
            <a:r>
              <a:rPr lang="zh-CN" altLang="en-US" dirty="0"/>
              <a:t>标注坐标轴</a:t>
            </a:r>
            <a:endParaRPr lang="en-US" altLang="zh-CN" dirty="0"/>
          </a:p>
          <a:p>
            <a:r>
              <a:rPr lang="en-US" altLang="zh-CN" dirty="0"/>
              <a:t>show() </a:t>
            </a:r>
            <a:r>
              <a:rPr lang="zh-CN" altLang="en-US" dirty="0"/>
              <a:t>显示图表</a:t>
            </a:r>
            <a:endParaRPr lang="en-US" altLang="zh-CN" dirty="0"/>
          </a:p>
          <a:p>
            <a:r>
              <a:rPr lang="zh-CN" altLang="en-US" dirty="0"/>
              <a:t>运行这段代码，你会看到汞的七种同位素丰度分布图。观察一下：哪个同位素丰度最高？对，是</a:t>
            </a:r>
            <a:r>
              <a:rPr lang="en-US" altLang="en-US" dirty="0"/>
              <a:t>²⁰²</a:t>
            </a:r>
            <a:r>
              <a:rPr lang="en-US" altLang="zh-CN" dirty="0"/>
              <a:t>Hg</a:t>
            </a:r>
            <a:r>
              <a:rPr lang="zh-CN" altLang="en-US" dirty="0"/>
              <a:t>，约占</a:t>
            </a:r>
            <a:r>
              <a:rPr lang="en-US" altLang="zh-CN" dirty="0"/>
              <a:t>30%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en-US" dirty="0"/>
              <a:t>是不是像一把打开环境秘密的钥匙？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基础图表画完了，但能不能让它更专业、更美观？</a:t>
            </a:r>
            <a:endParaRPr lang="en-US" altLang="zh-CN" dirty="0"/>
          </a:p>
          <a:p>
            <a:r>
              <a:rPr lang="zh-CN" altLang="en-US" dirty="0"/>
              <a:t>挑战任务：</a:t>
            </a:r>
            <a:endParaRPr lang="zh-CN" altLang="en-US" dirty="0"/>
          </a:p>
          <a:p>
            <a:r>
              <a:rPr lang="zh-CN" altLang="en-US" dirty="0"/>
              <a:t>向</a:t>
            </a:r>
            <a:r>
              <a:rPr lang="en-US" altLang="zh-CN" dirty="0"/>
              <a:t>DeepSeek</a:t>
            </a:r>
            <a:r>
              <a:rPr lang="zh-CN" altLang="en-US" dirty="0"/>
              <a:t>提问：</a:t>
            </a:r>
            <a:endParaRPr lang="en-US" altLang="zh-CN" dirty="0"/>
          </a:p>
          <a:p>
            <a:r>
              <a:rPr lang="en-US" altLang="zh-CN" dirty="0"/>
              <a:t>“</a:t>
            </a:r>
            <a:r>
              <a:rPr lang="zh-CN" altLang="en-US" dirty="0"/>
              <a:t>请优化我的汞同位素散点图，要求用不同形状区分自然源和人为源汞，添加数据标签显示具体数值，并将图表保存为</a:t>
            </a:r>
            <a:r>
              <a:rPr lang="en-US" altLang="zh-CN" dirty="0"/>
              <a:t>PNG</a:t>
            </a:r>
            <a:r>
              <a:rPr lang="zh-CN" altLang="en-US" dirty="0"/>
              <a:t>图片。</a:t>
            </a:r>
            <a:r>
              <a:rPr lang="en-US" altLang="zh-CN" dirty="0"/>
              <a:t>”</a:t>
            </a:r>
            <a:endParaRPr lang="en-US" altLang="zh-CN" dirty="0"/>
          </a:p>
          <a:p>
            <a:r>
              <a:rPr lang="zh-CN" altLang="en-US" dirty="0"/>
              <a:t>预期改进：</a:t>
            </a:r>
            <a:endParaRPr lang="zh-CN" altLang="en-US" dirty="0"/>
          </a:p>
          <a:p>
            <a:r>
              <a:rPr lang="en-US" altLang="zh-CN" dirty="0"/>
              <a:t>AI</a:t>
            </a:r>
            <a:r>
              <a:rPr lang="zh-CN" altLang="en-US" dirty="0"/>
              <a:t>可能会建议：</a:t>
            </a:r>
            <a:endParaRPr lang="en-US" altLang="zh-CN" dirty="0"/>
          </a:p>
          <a:p>
            <a:r>
              <a:rPr lang="zh-CN" altLang="en-US" dirty="0"/>
              <a:t>使用不同</a:t>
            </a:r>
            <a:r>
              <a:rPr lang="en-US" altLang="zh-CN" dirty="0"/>
              <a:t> marker </a:t>
            </a:r>
            <a:r>
              <a:rPr lang="zh-CN" altLang="en-US" dirty="0"/>
              <a:t>参数（如</a:t>
            </a:r>
            <a:r>
              <a:rPr lang="en-US" altLang="zh-CN" dirty="0"/>
              <a:t> 'o' </a:t>
            </a:r>
            <a:r>
              <a:rPr lang="zh-CN" altLang="en-US" dirty="0"/>
              <a:t>和</a:t>
            </a:r>
            <a:r>
              <a:rPr lang="en-US" altLang="zh-CN" dirty="0"/>
              <a:t> '^'</a:t>
            </a:r>
            <a:r>
              <a:rPr lang="zh-CN" altLang="en-US" dirty="0"/>
              <a:t>）区分来源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 plt.text() </a:t>
            </a:r>
            <a:r>
              <a:rPr lang="zh-CN" altLang="en-US" dirty="0"/>
              <a:t>添加数据标签</a:t>
            </a:r>
            <a:endParaRPr lang="en-US" altLang="zh-CN" dirty="0"/>
          </a:p>
          <a:p>
            <a:r>
              <a:rPr lang="zh-CN" altLang="en-US" dirty="0"/>
              <a:t>用</a:t>
            </a:r>
            <a:r>
              <a:rPr lang="en-US" altLang="zh-CN" dirty="0"/>
              <a:t> plt.savefig() </a:t>
            </a:r>
            <a:r>
              <a:rPr lang="zh-CN" altLang="en-US" dirty="0"/>
              <a:t>保存图片</a:t>
            </a:r>
            <a:endParaRPr lang="en-US" altLang="zh-CN" dirty="0"/>
          </a:p>
          <a:p>
            <a:r>
              <a:rPr lang="zh-CN" altLang="en-US" dirty="0"/>
              <a:t>学习收获：</a:t>
            </a:r>
            <a:endParaRPr lang="zh-CN" altLang="en-US" dirty="0"/>
          </a:p>
          <a:p>
            <a:r>
              <a:rPr lang="zh-CN" altLang="en-US" dirty="0"/>
              <a:t>通过这个挑战，你不仅学会了高级绘图技巧，更重要的是掌握了与</a:t>
            </a:r>
            <a:r>
              <a:rPr lang="en-US" altLang="zh-CN" dirty="0"/>
              <a:t>AI</a:t>
            </a:r>
            <a:r>
              <a:rPr lang="zh-CN" altLang="en-US" dirty="0"/>
              <a:t>协作的方法：</a:t>
            </a:r>
            <a:endParaRPr lang="zh-CN" altLang="en-US" dirty="0"/>
          </a:p>
          <a:p>
            <a:r>
              <a:rPr lang="zh-CN" altLang="en-US" dirty="0"/>
              <a:t>提出精准需求</a:t>
            </a:r>
            <a:endParaRPr lang="en-US" altLang="zh-CN" dirty="0"/>
          </a:p>
          <a:p>
            <a:r>
              <a:rPr lang="zh-CN" altLang="en-US" dirty="0"/>
              <a:t>验证</a:t>
            </a:r>
            <a:r>
              <a:rPr lang="en-US" altLang="zh-CN" dirty="0"/>
              <a:t>AI</a:t>
            </a:r>
            <a:r>
              <a:rPr lang="zh-CN" altLang="en-US" dirty="0"/>
              <a:t>建议</a:t>
            </a:r>
            <a:endParaRPr lang="en-US" altLang="zh-CN" dirty="0"/>
          </a:p>
          <a:p>
            <a:r>
              <a:rPr lang="zh-CN" altLang="en-US" dirty="0"/>
              <a:t>理解改进原理</a:t>
            </a:r>
            <a:endParaRPr lang="en-US" altLang="zh-CN" dirty="0"/>
          </a:p>
          <a:p>
            <a:r>
              <a:rPr lang="zh-CN" altLang="en-US" dirty="0"/>
              <a:t>这是未来编程的核心竞争力</a:t>
            </a:r>
            <a:r>
              <a:rPr lang="en-US" altLang="zh-CN" dirty="0"/>
              <a:t>——</a:t>
            </a:r>
            <a:r>
              <a:rPr lang="zh-CN" altLang="en-US" dirty="0"/>
              <a:t>人机协作！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好，我们已经学会了用</a:t>
            </a:r>
            <a:r>
              <a:rPr lang="en-US" altLang="zh-CN" dirty="0"/>
              <a:t>Python</a:t>
            </a:r>
            <a:r>
              <a:rPr lang="zh-CN" altLang="en-US" dirty="0"/>
              <a:t>代码绘制图表。</a:t>
            </a:r>
            <a:endParaRPr lang="en-US" altLang="zh-CN" dirty="0"/>
          </a:p>
          <a:p>
            <a:r>
              <a:rPr lang="zh-CN" altLang="en-US" dirty="0"/>
              <a:t>但是，如果不想写代码怎么办？有没有更快捷的方式？</a:t>
            </a:r>
            <a:endParaRPr lang="en-US" altLang="zh-CN" dirty="0"/>
          </a:p>
          <a:p>
            <a:r>
              <a:rPr lang="zh-CN" altLang="en-US" dirty="0"/>
              <a:t>答案是：有！接下来进入第五部分</a:t>
            </a:r>
            <a:r>
              <a:rPr lang="en-US" altLang="zh-CN" dirty="0"/>
              <a:t>——</a:t>
            </a:r>
            <a:r>
              <a:rPr lang="zh-CN" altLang="en-US" dirty="0"/>
              <a:t>无代码探索工具</a:t>
            </a:r>
            <a:r>
              <a:rPr lang="en-US" altLang="zh-CN" dirty="0"/>
              <a:t>Orange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Orange</a:t>
            </a:r>
            <a:r>
              <a:rPr lang="zh-CN" altLang="en-US" dirty="0"/>
              <a:t>是什么？</a:t>
            </a:r>
            <a:endParaRPr lang="en-US" altLang="zh-CN" dirty="0"/>
          </a:p>
          <a:p>
            <a:r>
              <a:rPr lang="en-US" altLang="zh-CN" dirty="0"/>
              <a:t>Orange</a:t>
            </a:r>
            <a:r>
              <a:rPr lang="zh-CN" altLang="en-US" dirty="0"/>
              <a:t>是一个可视化数据挖掘工具，像乐高积木一样</a:t>
            </a:r>
            <a:r>
              <a:rPr lang="en-US" altLang="zh-CN" dirty="0"/>
              <a:t>——</a:t>
            </a:r>
            <a:r>
              <a:rPr lang="zh-CN" altLang="en-US" dirty="0"/>
              <a:t>拖拽组件、连接流程，就能完成数据导入、清洗、分析和可视化。完全不需要写代码！</a:t>
            </a:r>
            <a:endParaRPr lang="en-US" altLang="zh-CN" dirty="0"/>
          </a:p>
          <a:p>
            <a:r>
              <a:rPr lang="zh-CN" altLang="en-US" dirty="0"/>
              <a:t>核心功能：</a:t>
            </a:r>
            <a:endParaRPr lang="en-US" altLang="zh-CN" dirty="0"/>
          </a:p>
          <a:p>
            <a:r>
              <a:rPr lang="en-US" altLang="zh-CN" dirty="0"/>
              <a:t>File</a:t>
            </a:r>
            <a:r>
              <a:rPr lang="zh-CN" altLang="en-US" dirty="0"/>
              <a:t>组件：导入数据</a:t>
            </a:r>
            <a:endParaRPr lang="en-US" altLang="zh-CN" dirty="0"/>
          </a:p>
          <a:p>
            <a:r>
              <a:rPr lang="en-US" altLang="zh-CN" dirty="0"/>
              <a:t>Data Table</a:t>
            </a:r>
            <a:r>
              <a:rPr lang="zh-CN" altLang="en-US" dirty="0"/>
              <a:t>：查看表格</a:t>
            </a:r>
            <a:endParaRPr lang="en-US" altLang="zh-CN" dirty="0"/>
          </a:p>
          <a:p>
            <a:r>
              <a:rPr lang="en-US" altLang="zh-CN" dirty="0"/>
              <a:t>Scatter Plot</a:t>
            </a:r>
            <a:r>
              <a:rPr lang="zh-CN" altLang="en-US" dirty="0"/>
              <a:t>：绘制散点图</a:t>
            </a:r>
            <a:endParaRPr lang="en-US" altLang="zh-CN" dirty="0"/>
          </a:p>
          <a:p>
            <a:r>
              <a:rPr lang="en-US" altLang="zh-CN" dirty="0"/>
              <a:t>Statistics</a:t>
            </a:r>
            <a:r>
              <a:rPr lang="zh-CN" altLang="en-US" dirty="0"/>
              <a:t>：统计分析</a:t>
            </a:r>
            <a:endParaRPr lang="en-US" altLang="zh-CN" dirty="0"/>
          </a:p>
          <a:p>
            <a:r>
              <a:rPr lang="en-US" altLang="zh-CN" dirty="0"/>
              <a:t>Python Script</a:t>
            </a:r>
            <a:r>
              <a:rPr lang="zh-CN" altLang="en-US" dirty="0"/>
              <a:t>：还可插入自定义代码（如果你需要）</a:t>
            </a:r>
            <a:endParaRPr lang="en-US" altLang="zh-CN" dirty="0"/>
          </a:p>
          <a:p>
            <a:r>
              <a:rPr lang="zh-CN" altLang="en-US" dirty="0"/>
              <a:t>界面布局：</a:t>
            </a:r>
            <a:endParaRPr lang="en-US" altLang="zh-CN" dirty="0"/>
          </a:p>
          <a:p>
            <a:r>
              <a:rPr lang="zh-CN" altLang="en-US" dirty="0"/>
              <a:t>左侧：组件库（所有可用的</a:t>
            </a:r>
            <a:r>
              <a:rPr lang="en-US" altLang="zh-CN" dirty="0"/>
              <a:t>“</a:t>
            </a:r>
            <a:r>
              <a:rPr lang="zh-CN" altLang="en-US" dirty="0"/>
              <a:t>积木</a:t>
            </a:r>
            <a:r>
              <a:rPr lang="en-US" altLang="zh-CN" dirty="0"/>
              <a:t>”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中间</a:t>
            </a:r>
            <a:r>
              <a:rPr lang="en-US" altLang="zh-CN" dirty="0"/>
              <a:t>/</a:t>
            </a:r>
            <a:r>
              <a:rPr lang="zh-CN" altLang="en-US" dirty="0"/>
              <a:t>右侧：工作流画布（搭建流程的地方）</a:t>
            </a:r>
            <a:endParaRPr lang="en-US" altLang="zh-CN" dirty="0"/>
          </a:p>
          <a:p>
            <a:r>
              <a:rPr lang="zh-CN" altLang="en-US" dirty="0"/>
              <a:t>连接线：表示数据流向</a:t>
            </a:r>
            <a:endParaRPr lang="en-US" altLang="zh-CN" dirty="0"/>
          </a:p>
          <a:p>
            <a:r>
              <a:rPr lang="zh-CN" altLang="en-US" dirty="0"/>
              <a:t>直观易懂，半小时就能上手！</a:t>
            </a:r>
            <a:endParaRPr lang="en-US" altLang="zh-CN" dirty="0"/>
          </a:p>
          <a:p>
            <a:r>
              <a:rPr lang="zh-CN" altLang="en-US" dirty="0"/>
              <a:t>编程不是唯一途径，无代码工具同样强大。两者互补，根据场景选择最佳工具。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现在，我们用</a:t>
            </a:r>
            <a:r>
              <a:rPr lang="en-US" altLang="zh-CN" dirty="0"/>
              <a:t>Orange</a:t>
            </a:r>
            <a:r>
              <a:rPr lang="zh-CN" altLang="en-US" dirty="0"/>
              <a:t>快速体验一下数据探索。</a:t>
            </a:r>
            <a:endParaRPr lang="en-US" altLang="zh-CN" dirty="0"/>
          </a:p>
          <a:p>
            <a:r>
              <a:rPr lang="zh-CN" altLang="en-US" dirty="0"/>
              <a:t>步骤一：启动与导入</a:t>
            </a:r>
            <a:endParaRPr lang="zh-CN" altLang="en-US" dirty="0"/>
          </a:p>
          <a:p>
            <a:r>
              <a:rPr lang="zh-CN" altLang="en-US" dirty="0"/>
              <a:t>打开</a:t>
            </a:r>
            <a:r>
              <a:rPr lang="en-US" altLang="zh-CN" dirty="0"/>
              <a:t>Orange</a:t>
            </a:r>
            <a:r>
              <a:rPr lang="zh-CN" altLang="en-US" dirty="0"/>
              <a:t>软件，从左侧组件库拖拽</a:t>
            </a:r>
            <a:r>
              <a:rPr lang="en-US" altLang="zh-CN" dirty="0"/>
              <a:t> File </a:t>
            </a:r>
            <a:r>
              <a:rPr lang="zh-CN" altLang="en-US" dirty="0"/>
              <a:t>组件到画布，双击选择汞同位素数据文件（</a:t>
            </a:r>
            <a:r>
              <a:rPr lang="en-US" altLang="zh-CN" dirty="0"/>
              <a:t>CSV</a:t>
            </a:r>
            <a:r>
              <a:rPr lang="zh-CN" altLang="en-US" dirty="0"/>
              <a:t>格式）。</a:t>
            </a:r>
            <a:endParaRPr lang="en-US" altLang="zh-CN" dirty="0"/>
          </a:p>
          <a:p>
            <a:r>
              <a:rPr lang="zh-CN" altLang="en-US" dirty="0"/>
              <a:t>步骤二：查看数据</a:t>
            </a:r>
            <a:endParaRPr lang="zh-CN" altLang="en-US" dirty="0"/>
          </a:p>
          <a:p>
            <a:r>
              <a:rPr lang="zh-CN" altLang="en-US" dirty="0"/>
              <a:t>拖拽</a:t>
            </a:r>
            <a:r>
              <a:rPr lang="en-US" altLang="zh-CN" dirty="0"/>
              <a:t> Data Table </a:t>
            </a:r>
            <a:r>
              <a:rPr lang="zh-CN" altLang="en-US" dirty="0"/>
              <a:t>组件，从</a:t>
            </a:r>
            <a:r>
              <a:rPr lang="en-US" altLang="zh-CN" dirty="0"/>
              <a:t>File</a:t>
            </a:r>
            <a:r>
              <a:rPr lang="zh-CN" altLang="en-US" dirty="0"/>
              <a:t>组件拉线连接。双击</a:t>
            </a:r>
            <a:r>
              <a:rPr lang="en-US" altLang="zh-CN" dirty="0"/>
              <a:t>Data Table</a:t>
            </a:r>
            <a:r>
              <a:rPr lang="zh-CN" altLang="en-US" dirty="0"/>
              <a:t>查看数据内容，确认质量数和丰度列是否正确识别。</a:t>
            </a:r>
            <a:endParaRPr lang="en-US" altLang="zh-CN" dirty="0"/>
          </a:p>
          <a:p>
            <a:r>
              <a:rPr lang="zh-CN" altLang="en-US" dirty="0"/>
              <a:t>步骤三：绘制散点图</a:t>
            </a:r>
            <a:endParaRPr lang="zh-CN" altLang="en-US" dirty="0"/>
          </a:p>
          <a:p>
            <a:r>
              <a:rPr lang="zh-CN" altLang="en-US" dirty="0"/>
              <a:t>拖拽</a:t>
            </a:r>
            <a:r>
              <a:rPr lang="en-US" altLang="zh-CN" dirty="0"/>
              <a:t> Scatter Plot </a:t>
            </a:r>
            <a:r>
              <a:rPr lang="zh-CN" altLang="en-US" dirty="0"/>
              <a:t>组件，连接</a:t>
            </a:r>
            <a:r>
              <a:rPr lang="en-US" altLang="zh-CN" dirty="0"/>
              <a:t>Data Table</a:t>
            </a:r>
            <a:r>
              <a:rPr lang="zh-CN" altLang="en-US" dirty="0"/>
              <a:t>。双击设置</a:t>
            </a:r>
            <a:r>
              <a:rPr lang="en-US" altLang="zh-CN" dirty="0"/>
              <a:t>X</a:t>
            </a:r>
            <a:r>
              <a:rPr lang="zh-CN" altLang="en-US" dirty="0"/>
              <a:t>轴为质量数，</a:t>
            </a:r>
            <a:r>
              <a:rPr lang="en-US" altLang="zh-CN" dirty="0"/>
              <a:t>Y</a:t>
            </a:r>
            <a:r>
              <a:rPr lang="zh-CN" altLang="en-US" dirty="0"/>
              <a:t>轴为丰度，还可以选择用颜色和形状区分不同污染源。</a:t>
            </a:r>
            <a:endParaRPr lang="en-US" altLang="zh-CN" dirty="0"/>
          </a:p>
          <a:p>
            <a:r>
              <a:rPr lang="zh-CN" altLang="en-US" dirty="0"/>
              <a:t>步骤四：对比体验</a:t>
            </a:r>
            <a:endParaRPr lang="zh-CN" altLang="en-US" dirty="0"/>
          </a:p>
          <a:p>
            <a:r>
              <a:rPr lang="zh-CN" altLang="en-US" dirty="0"/>
              <a:t>对比</a:t>
            </a:r>
            <a:r>
              <a:rPr lang="en-US" altLang="zh-CN" dirty="0"/>
              <a:t>Orange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绘图的异同：</a:t>
            </a:r>
            <a:endParaRPr lang="en-US" altLang="zh-CN" dirty="0"/>
          </a:p>
          <a:p>
            <a:r>
              <a:rPr lang="en-US" altLang="zh-CN" dirty="0"/>
              <a:t>Orange</a:t>
            </a:r>
            <a:r>
              <a:rPr lang="zh-CN" altLang="en-US" dirty="0"/>
              <a:t>：更快捷直观，适合快速探索、制作演示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：更灵活可控，适合复杂分析、自动化处理</a:t>
            </a:r>
            <a:endParaRPr lang="en-US" altLang="zh-CN" dirty="0"/>
          </a:p>
          <a:p>
            <a:r>
              <a:rPr lang="zh-CN" altLang="en-US" dirty="0"/>
              <a:t>两者互补，根据需要选择！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好了，今天的课程内容到这里就结束了。让我们快速回顾一下今天学了什么：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知识点回顾：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en-US" altLang="zh-CN" dirty="0"/>
              <a:t>DeepSeek</a:t>
            </a:r>
            <a:r>
              <a:rPr lang="zh-CN" altLang="en-US" dirty="0"/>
              <a:t>对话的提示词技巧</a:t>
            </a:r>
            <a:r>
              <a:rPr lang="en-US" altLang="zh-CN" dirty="0"/>
              <a:t>——</a:t>
            </a:r>
            <a:r>
              <a:rPr lang="zh-CN" altLang="en-US" dirty="0"/>
              <a:t>描述越清楚，回答越准确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Python</a:t>
            </a:r>
            <a:r>
              <a:rPr lang="zh-CN" altLang="en-US" dirty="0"/>
              <a:t>环境搭建</a:t>
            </a:r>
            <a:r>
              <a:rPr lang="en-US" altLang="zh-CN" dirty="0"/>
              <a:t>——Python</a:t>
            </a:r>
            <a:r>
              <a:rPr lang="zh-CN" altLang="en-US" dirty="0"/>
              <a:t>、</a:t>
            </a:r>
            <a:r>
              <a:rPr lang="en-US" altLang="zh-CN" dirty="0"/>
              <a:t>VS Code</a:t>
            </a:r>
            <a:r>
              <a:rPr lang="zh-CN" altLang="en-US" dirty="0"/>
              <a:t>、虚拟环境、</a:t>
            </a:r>
            <a:r>
              <a:rPr lang="en-US" altLang="zh-CN" dirty="0"/>
              <a:t>pip</a:t>
            </a:r>
            <a:r>
              <a:rPr lang="zh-CN" altLang="en-US" dirty="0"/>
              <a:t>安装包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Python</a:t>
            </a:r>
            <a:r>
              <a:rPr lang="zh-CN" altLang="en-US" dirty="0"/>
              <a:t>基础语法</a:t>
            </a:r>
            <a:r>
              <a:rPr lang="en-US" altLang="zh-CN" dirty="0"/>
              <a:t>——</a:t>
            </a:r>
            <a:r>
              <a:rPr lang="zh-CN" altLang="en-US" dirty="0"/>
              <a:t>变量（存储盒子）、列表（收纳袋）、循环（自动化助手）、函数（魔法盒子）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matplotlib</a:t>
            </a:r>
            <a:r>
              <a:rPr lang="zh-CN" altLang="en-US" dirty="0"/>
              <a:t>数据可视化</a:t>
            </a:r>
            <a:r>
              <a:rPr lang="en-US" altLang="zh-CN" dirty="0"/>
              <a:t>——</a:t>
            </a:r>
            <a:r>
              <a:rPr lang="zh-CN" altLang="en-US" dirty="0"/>
              <a:t>五步法绘制专业图表</a:t>
            </a:r>
            <a:endParaRPr lang="zh-CN" altLang="en-US" dirty="0"/>
          </a:p>
          <a:p>
            <a:r>
              <a:rPr lang="en-US" altLang="en-US" dirty="0"/>
              <a:t>✅</a:t>
            </a:r>
            <a:r>
              <a:rPr lang="en-US" altLang="zh-CN" dirty="0"/>
              <a:t> Orange</a:t>
            </a:r>
            <a:r>
              <a:rPr lang="zh-CN" altLang="en-US" dirty="0"/>
              <a:t>无代码工具</a:t>
            </a:r>
            <a:r>
              <a:rPr lang="en-US" altLang="zh-CN" dirty="0"/>
              <a:t>——</a:t>
            </a:r>
            <a:r>
              <a:rPr lang="zh-CN" altLang="en-US" dirty="0"/>
              <a:t>拖拽式数据探索</a:t>
            </a:r>
            <a:endParaRPr lang="zh-CN" altLang="en-US" dirty="0"/>
          </a:p>
          <a:p>
            <a:endParaRPr lang="en-US" altLang="zh-CN" dirty="0"/>
          </a:p>
          <a:p>
            <a:r>
              <a:rPr lang="zh-CN" altLang="en-US" dirty="0"/>
              <a:t>你已经具备了独立探索数据的基础能力！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下次我们将学习更高级的数据分析方法，包括：</a:t>
            </a:r>
            <a:endParaRPr lang="en-US" altLang="zh-CN" dirty="0"/>
          </a:p>
          <a:p>
            <a:r>
              <a:rPr lang="zh-CN" altLang="en-US" dirty="0"/>
              <a:t>数据筛选过滤</a:t>
            </a:r>
            <a:endParaRPr lang="en-US" altLang="zh-CN" dirty="0"/>
          </a:p>
          <a:p>
            <a:r>
              <a:rPr lang="zh-CN" altLang="en-US" dirty="0"/>
              <a:t>分组统计汇总</a:t>
            </a:r>
            <a:endParaRPr lang="en-US" altLang="zh-CN" dirty="0"/>
          </a:p>
          <a:p>
            <a:r>
              <a:rPr lang="zh-CN" altLang="en-US" dirty="0"/>
              <a:t>多图表组合展示</a:t>
            </a:r>
            <a:endParaRPr lang="en-US" altLang="zh-CN" dirty="0"/>
          </a:p>
          <a:p>
            <a:r>
              <a:rPr lang="zh-CN" altLang="en-US" dirty="0"/>
              <a:t>我们将用更强大的技术，深入挖掘汞同位素数据背后的环境故事！</a:t>
            </a:r>
            <a:endParaRPr lang="en-US" altLang="zh-CN" dirty="0"/>
          </a:p>
          <a:p>
            <a:r>
              <a:rPr lang="zh-CN" altLang="en-US" dirty="0"/>
              <a:t>请大家提前安装好</a:t>
            </a:r>
            <a:r>
              <a:rPr lang="en-US" altLang="zh-CN" dirty="0"/>
              <a:t>Orange</a:t>
            </a:r>
            <a:r>
              <a:rPr lang="zh-CN" altLang="en-US" dirty="0"/>
              <a:t>（如果还没安装的话），下节课我们会用到。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今天的课程就到这里。</a:t>
            </a:r>
            <a:endParaRPr lang="en-US" altLang="zh-CN" dirty="0"/>
          </a:p>
          <a:p>
            <a:r>
              <a:rPr lang="zh-CN" altLang="en-US" dirty="0"/>
              <a:t>我们学会了：与</a:t>
            </a:r>
            <a:r>
              <a:rPr lang="en-US" altLang="zh-CN" dirty="0"/>
              <a:t>AI</a:t>
            </a:r>
            <a:r>
              <a:rPr lang="zh-CN" altLang="en-US" dirty="0"/>
              <a:t>对话的技巧、搭建编程环境、</a:t>
            </a:r>
            <a:r>
              <a:rPr lang="en-US" altLang="zh-CN" dirty="0"/>
              <a:t>Python</a:t>
            </a:r>
            <a:r>
              <a:rPr lang="zh-CN" altLang="en-US" dirty="0"/>
              <a:t>基础语法、绘制数据图表、使用无代码工具。</a:t>
            </a:r>
            <a:endParaRPr lang="en-US" altLang="zh-CN" dirty="0"/>
          </a:p>
          <a:p>
            <a:r>
              <a:rPr lang="zh-CN" altLang="en-US" dirty="0"/>
              <a:t>希望大家课后多练习，把今天学到的知识用起来。</a:t>
            </a:r>
            <a:endParaRPr lang="en-US" altLang="zh-CN" dirty="0"/>
          </a:p>
          <a:p>
            <a:r>
              <a:rPr lang="zh-CN" altLang="en-US" dirty="0"/>
              <a:t>谢谢大家！欢迎提问。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image" Target="../media/image17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image" Target="../media/image2.png"/><Relationship Id="rId2" Type="http://schemas.openxmlformats.org/officeDocument/2006/relationships/tags" Target="../tags/tag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tags" Target="../tags/tag9.xml"/><Relationship Id="rId10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image" Target="../media/image21.jpe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9" Type="http://schemas.openxmlformats.org/officeDocument/2006/relationships/notesSlide" Target="../notesSlides/notesSlide13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24.png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image" Target="../media/image23.png"/><Relationship Id="rId11" Type="http://schemas.openxmlformats.org/officeDocument/2006/relationships/tags" Target="../tags/tag24.xml"/><Relationship Id="rId10" Type="http://schemas.openxmlformats.org/officeDocument/2006/relationships/image" Target="../media/image22.png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image" Target="../media/image25.png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3" Type="http://schemas.openxmlformats.org/officeDocument/2006/relationships/notesSlide" Target="../notesSlides/notesSlide14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8.jpeg"/><Relationship Id="rId20" Type="http://schemas.openxmlformats.org/officeDocument/2006/relationships/tags" Target="../tags/tag45.xml"/><Relationship Id="rId2" Type="http://schemas.openxmlformats.org/officeDocument/2006/relationships/tags" Target="../tags/tag30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image" Target="../media/image27.png"/><Relationship Id="rId13" Type="http://schemas.openxmlformats.org/officeDocument/2006/relationships/tags" Target="../tags/tag39.xml"/><Relationship Id="rId12" Type="http://schemas.openxmlformats.org/officeDocument/2006/relationships/image" Target="../media/image26.png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31.png"/><Relationship Id="rId2" Type="http://schemas.openxmlformats.org/officeDocument/2006/relationships/image" Target="../media/image22.png"/><Relationship Id="rId1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37.png"/><Relationship Id="rId7" Type="http://schemas.openxmlformats.org/officeDocument/2006/relationships/image" Target="../media/image23.png"/><Relationship Id="rId6" Type="http://schemas.openxmlformats.org/officeDocument/2006/relationships/image" Target="../media/image36.png"/><Relationship Id="rId5" Type="http://schemas.openxmlformats.org/officeDocument/2006/relationships/image" Target="../media/image22.png"/><Relationship Id="rId4" Type="http://schemas.openxmlformats.org/officeDocument/2006/relationships/image" Target="../media/image35.pn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3" Type="http://schemas.openxmlformats.org/officeDocument/2006/relationships/notesSlide" Target="../notesSlides/notesSlide20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image" Target="../media/image3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39.jpeg"/><Relationship Id="rId3" Type="http://schemas.openxmlformats.org/officeDocument/2006/relationships/tags" Target="../tags/tag47.xml"/><Relationship Id="rId2" Type="http://schemas.openxmlformats.org/officeDocument/2006/relationships/image" Target="../media/image38.png"/><Relationship Id="rId14" Type="http://schemas.openxmlformats.org/officeDocument/2006/relationships/notesSlide" Target="../notesSlides/notesSlide25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tags" Target="../tags/tag4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image" Target="../media/image31.png"/><Relationship Id="rId4" Type="http://schemas.openxmlformats.org/officeDocument/2006/relationships/tags" Target="../tags/tag57.xml"/><Relationship Id="rId3" Type="http://schemas.openxmlformats.org/officeDocument/2006/relationships/image" Target="../media/image22.png"/><Relationship Id="rId2" Type="http://schemas.openxmlformats.org/officeDocument/2006/relationships/tags" Target="../tags/tag56.xml"/><Relationship Id="rId13" Type="http://schemas.openxmlformats.org/officeDocument/2006/relationships/notesSlide" Target="../notesSlides/notesSlide2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41.svg"/><Relationship Id="rId6" Type="http://schemas.openxmlformats.org/officeDocument/2006/relationships/image" Target="../media/image40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29595" y="144780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471170" y="0"/>
                </a:moveTo>
                <a:lnTo>
                  <a:pt x="0" y="0"/>
                </a:lnTo>
                <a:lnTo>
                  <a:pt x="0" y="470864"/>
                </a:lnTo>
                <a:lnTo>
                  <a:pt x="308063" y="470864"/>
                </a:lnTo>
                <a:lnTo>
                  <a:pt x="471170" y="658495"/>
                </a:lnTo>
                <a:lnTo>
                  <a:pt x="47117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306810" y="144780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471170" y="0"/>
                </a:moveTo>
                <a:lnTo>
                  <a:pt x="0" y="0"/>
                </a:lnTo>
                <a:lnTo>
                  <a:pt x="0" y="470864"/>
                </a:lnTo>
                <a:lnTo>
                  <a:pt x="308070" y="470864"/>
                </a:lnTo>
                <a:lnTo>
                  <a:pt x="471170" y="658495"/>
                </a:lnTo>
                <a:lnTo>
                  <a:pt x="47117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654432" y="990530"/>
            <a:ext cx="4508336" cy="5727451"/>
          </a:xfrm>
          <a:custGeom>
            <a:avLst/>
            <a:gdLst/>
            <a:ahLst/>
            <a:cxnLst/>
            <a:rect l="l" t="t" r="r" b="b"/>
            <a:pathLst>
              <a:path w="4508336" h="5727451">
                <a:moveTo>
                  <a:pt x="4508336" y="0"/>
                </a:moveTo>
                <a:lnTo>
                  <a:pt x="0" y="0"/>
                </a:lnTo>
                <a:lnTo>
                  <a:pt x="0" y="5727451"/>
                </a:lnTo>
                <a:lnTo>
                  <a:pt x="4508336" y="5727451"/>
                </a:lnTo>
                <a:lnTo>
                  <a:pt x="4508336" y="0"/>
                </a:lnTo>
                <a:close/>
              </a:path>
            </a:pathLst>
          </a:custGeom>
          <a:solidFill>
            <a:srgbClr val="DDF100"/>
          </a:solidFill>
        </p:spPr>
      </p:sp>
      <p:pic>
        <p:nvPicPr>
          <p:cNvPr id="5" name="Image 0" descr="https://kimi-img.moonshot.cn/pub/slides/slides_tmpl/image/25-09-04-14:55:15-d2sjfku1bb2p4onbq0f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5095" y="881924"/>
            <a:ext cx="4235470" cy="583410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8702" y="5879687"/>
            <a:ext cx="515216" cy="546407"/>
          </a:xfrm>
          <a:custGeom>
            <a:avLst/>
            <a:gdLst/>
            <a:ahLst/>
            <a:cxnLst/>
            <a:rect l="l" t="t" r="r" b="b"/>
            <a:pathLst>
              <a:path w="515216" h="546407">
                <a:moveTo>
                  <a:pt x="515216" y="0"/>
                </a:moveTo>
                <a:lnTo>
                  <a:pt x="0" y="0"/>
                </a:lnTo>
                <a:lnTo>
                  <a:pt x="0" y="546407"/>
                </a:lnTo>
                <a:lnTo>
                  <a:pt x="515216" y="546407"/>
                </a:lnTo>
                <a:lnTo>
                  <a:pt x="515216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7" name="Shape 4"/>
          <p:cNvSpPr/>
          <p:nvPr/>
        </p:nvSpPr>
        <p:spPr>
          <a:xfrm>
            <a:off x="532815" y="5974642"/>
            <a:ext cx="224108" cy="351179"/>
          </a:xfrm>
          <a:custGeom>
            <a:avLst/>
            <a:gdLst/>
            <a:ahLst/>
            <a:cxnLst/>
            <a:rect l="l" t="t" r="r" b="b"/>
            <a:pathLst>
              <a:path w="224108" h="351179">
                <a:moveTo>
                  <a:pt x="0" y="0"/>
                </a:moveTo>
                <a:lnTo>
                  <a:pt x="0" y="351179"/>
                </a:lnTo>
                <a:lnTo>
                  <a:pt x="224108" y="1755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5"/>
          <p:cNvSpPr/>
          <p:nvPr/>
        </p:nvSpPr>
        <p:spPr>
          <a:xfrm>
            <a:off x="1175095" y="876238"/>
            <a:ext cx="4254579" cy="5841815"/>
          </a:xfrm>
          <a:custGeom>
            <a:avLst/>
            <a:gdLst/>
            <a:ahLst/>
            <a:cxnLst/>
            <a:rect l="l" t="t" r="r" b="b"/>
            <a:pathLst>
              <a:path w="4254579" h="5841815">
                <a:moveTo>
                  <a:pt x="4254579" y="0"/>
                </a:moveTo>
                <a:lnTo>
                  <a:pt x="0" y="0"/>
                </a:lnTo>
                <a:lnTo>
                  <a:pt x="0" y="5841815"/>
                </a:lnTo>
                <a:lnTo>
                  <a:pt x="4254579" y="5841815"/>
                </a:lnTo>
                <a:lnTo>
                  <a:pt x="4254579" y="0"/>
                </a:lnTo>
                <a:close/>
              </a:path>
            </a:pathLst>
          </a:custGeom>
          <a:solidFill>
            <a:srgbClr val="FFFFFF">
              <a:alpha val="61961"/>
            </a:srgbClr>
          </a:solidFill>
        </p:spPr>
      </p:sp>
      <p:sp>
        <p:nvSpPr>
          <p:cNvPr id="9" name="Text 6"/>
          <p:cNvSpPr/>
          <p:nvPr/>
        </p:nvSpPr>
        <p:spPr>
          <a:xfrm>
            <a:off x="5954180" y="1451679"/>
            <a:ext cx="5685813" cy="119888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Python与AI助手：</a:t>
            </a:r>
            <a:endParaRPr 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            轻松上手数据探索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01000" y="4219893"/>
            <a:ext cx="366331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</a:t>
            </a: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人：</a:t>
            </a:r>
            <a:r>
              <a:rPr lang="zh-CN" alt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周楚凡</a:t>
            </a:r>
            <a:endParaRPr lang="zh-CN" altLang="en-US" sz="2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77200" y="4649788"/>
            <a:ext cx="36036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汇报时间：2026/04/04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19747" y="6019767"/>
            <a:ext cx="4603447" cy="527153"/>
          </a:xfrm>
          <a:custGeom>
            <a:avLst/>
            <a:gdLst/>
            <a:ahLst/>
            <a:cxnLst/>
            <a:rect l="l" t="t" r="r" b="b"/>
            <a:pathLst>
              <a:path w="4603447" h="527153">
                <a:moveTo>
                  <a:pt x="4603447" y="0"/>
                </a:moveTo>
                <a:lnTo>
                  <a:pt x="0" y="0"/>
                </a:lnTo>
                <a:lnTo>
                  <a:pt x="0" y="527153"/>
                </a:lnTo>
                <a:lnTo>
                  <a:pt x="4603447" y="527153"/>
                </a:lnTo>
                <a:lnTo>
                  <a:pt x="4603447" y="0"/>
                </a:lnTo>
                <a:close/>
              </a:path>
            </a:pathLst>
          </a:custGeom>
          <a:solidFill>
            <a:srgbClr val="EBEBEB"/>
          </a:solidFill>
        </p:spPr>
      </p:sp>
      <p:sp>
        <p:nvSpPr>
          <p:cNvPr id="13" name="Shape 10"/>
          <p:cNvSpPr/>
          <p:nvPr/>
        </p:nvSpPr>
        <p:spPr>
          <a:xfrm>
            <a:off x="7172325" y="5794375"/>
            <a:ext cx="4508500" cy="531495"/>
          </a:xfrm>
          <a:custGeom>
            <a:avLst/>
            <a:gdLst/>
            <a:ahLst/>
            <a:cxnLst/>
            <a:rect l="l" t="t" r="r" b="b"/>
            <a:pathLst>
              <a:path w="4508500" h="531495">
                <a:moveTo>
                  <a:pt x="4508500" y="0"/>
                </a:moveTo>
                <a:lnTo>
                  <a:pt x="0" y="0"/>
                </a:lnTo>
                <a:lnTo>
                  <a:pt x="0" y="531495"/>
                </a:lnTo>
                <a:lnTo>
                  <a:pt x="4508500" y="531495"/>
                </a:lnTo>
                <a:lnTo>
                  <a:pt x="450850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4" name="Shape 11"/>
          <p:cNvSpPr/>
          <p:nvPr/>
        </p:nvSpPr>
        <p:spPr>
          <a:xfrm>
            <a:off x="8811260" y="5736590"/>
            <a:ext cx="3380740" cy="431165"/>
          </a:xfrm>
          <a:prstGeom prst="rect">
            <a:avLst/>
          </a:prstGeom>
          <a:solidFill>
            <a:srgbClr val="000000"/>
          </a:solidFill>
        </p:spPr>
      </p:sp>
      <p:grpSp>
        <p:nvGrpSpPr>
          <p:cNvPr id="15" name="组合 14"/>
          <p:cNvGrpSpPr/>
          <p:nvPr/>
        </p:nvGrpSpPr>
        <p:grpSpPr>
          <a:xfrm>
            <a:off x="121920" y="80645"/>
            <a:ext cx="2021840" cy="693420"/>
            <a:chOff x="15990" y="125"/>
            <a:chExt cx="3184" cy="1092"/>
          </a:xfrm>
        </p:grpSpPr>
        <p:pic>
          <p:nvPicPr>
            <p:cNvPr id="16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" name="图片 16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18" name="图片 17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787772" y="857190"/>
            <a:ext cx="838286" cy="838286"/>
          </a:xfrm>
          <a:custGeom>
            <a:avLst/>
            <a:gdLst/>
            <a:ahLst/>
            <a:cxnLst/>
            <a:rect l="l" t="t" r="r" b="b"/>
            <a:pathLst>
              <a:path w="838286" h="838286">
                <a:moveTo>
                  <a:pt x="640641" y="0"/>
                </a:moveTo>
                <a:lnTo>
                  <a:pt x="0" y="0"/>
                </a:lnTo>
                <a:lnTo>
                  <a:pt x="0" y="640641"/>
                </a:lnTo>
                <a:lnTo>
                  <a:pt x="2143" y="669847"/>
                </a:lnTo>
                <a:lnTo>
                  <a:pt x="8368" y="697723"/>
                </a:lnTo>
                <a:lnTo>
                  <a:pt x="18369" y="723963"/>
                </a:lnTo>
                <a:lnTo>
                  <a:pt x="31842" y="748260"/>
                </a:lnTo>
                <a:lnTo>
                  <a:pt x="48479" y="770310"/>
                </a:lnTo>
                <a:lnTo>
                  <a:pt x="67975" y="789807"/>
                </a:lnTo>
                <a:lnTo>
                  <a:pt x="90026" y="806444"/>
                </a:lnTo>
                <a:lnTo>
                  <a:pt x="114323" y="819916"/>
                </a:lnTo>
                <a:lnTo>
                  <a:pt x="140563" y="829918"/>
                </a:lnTo>
                <a:lnTo>
                  <a:pt x="168438" y="836143"/>
                </a:lnTo>
                <a:lnTo>
                  <a:pt x="197645" y="838286"/>
                </a:lnTo>
                <a:lnTo>
                  <a:pt x="838286" y="838286"/>
                </a:lnTo>
                <a:lnTo>
                  <a:pt x="838286" y="197645"/>
                </a:lnTo>
                <a:lnTo>
                  <a:pt x="836143" y="168438"/>
                </a:lnTo>
                <a:lnTo>
                  <a:pt x="829918" y="140563"/>
                </a:lnTo>
                <a:lnTo>
                  <a:pt x="819916" y="114323"/>
                </a:lnTo>
                <a:lnTo>
                  <a:pt x="806444" y="90026"/>
                </a:lnTo>
                <a:lnTo>
                  <a:pt x="789807" y="67975"/>
                </a:lnTo>
                <a:lnTo>
                  <a:pt x="770310" y="48479"/>
                </a:lnTo>
                <a:lnTo>
                  <a:pt x="748260" y="31842"/>
                </a:lnTo>
                <a:lnTo>
                  <a:pt x="723963" y="18369"/>
                </a:lnTo>
                <a:lnTo>
                  <a:pt x="697723" y="8368"/>
                </a:lnTo>
                <a:lnTo>
                  <a:pt x="669847" y="2143"/>
                </a:lnTo>
                <a:lnTo>
                  <a:pt x="64064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787772" y="2009634"/>
            <a:ext cx="838286" cy="838286"/>
          </a:xfrm>
          <a:custGeom>
            <a:avLst/>
            <a:gdLst/>
            <a:ahLst/>
            <a:cxnLst/>
            <a:rect l="l" t="t" r="r" b="b"/>
            <a:pathLst>
              <a:path w="838286" h="838286">
                <a:moveTo>
                  <a:pt x="640641" y="0"/>
                </a:moveTo>
                <a:lnTo>
                  <a:pt x="0" y="0"/>
                </a:lnTo>
                <a:lnTo>
                  <a:pt x="0" y="640641"/>
                </a:lnTo>
                <a:lnTo>
                  <a:pt x="2143" y="669847"/>
                </a:lnTo>
                <a:lnTo>
                  <a:pt x="8368" y="697723"/>
                </a:lnTo>
                <a:lnTo>
                  <a:pt x="18369" y="723963"/>
                </a:lnTo>
                <a:lnTo>
                  <a:pt x="31842" y="748260"/>
                </a:lnTo>
                <a:lnTo>
                  <a:pt x="48479" y="770310"/>
                </a:lnTo>
                <a:lnTo>
                  <a:pt x="67975" y="789807"/>
                </a:lnTo>
                <a:lnTo>
                  <a:pt x="90026" y="806444"/>
                </a:lnTo>
                <a:lnTo>
                  <a:pt x="114323" y="819916"/>
                </a:lnTo>
                <a:lnTo>
                  <a:pt x="140563" y="829918"/>
                </a:lnTo>
                <a:lnTo>
                  <a:pt x="168438" y="836143"/>
                </a:lnTo>
                <a:lnTo>
                  <a:pt x="197645" y="838286"/>
                </a:lnTo>
                <a:lnTo>
                  <a:pt x="838286" y="838286"/>
                </a:lnTo>
                <a:lnTo>
                  <a:pt x="838286" y="197645"/>
                </a:lnTo>
                <a:lnTo>
                  <a:pt x="836143" y="168438"/>
                </a:lnTo>
                <a:lnTo>
                  <a:pt x="829918" y="140563"/>
                </a:lnTo>
                <a:lnTo>
                  <a:pt x="819916" y="114323"/>
                </a:lnTo>
                <a:lnTo>
                  <a:pt x="806444" y="90026"/>
                </a:lnTo>
                <a:lnTo>
                  <a:pt x="789807" y="67975"/>
                </a:lnTo>
                <a:lnTo>
                  <a:pt x="770310" y="48479"/>
                </a:lnTo>
                <a:lnTo>
                  <a:pt x="748260" y="31842"/>
                </a:lnTo>
                <a:lnTo>
                  <a:pt x="723963" y="18369"/>
                </a:lnTo>
                <a:lnTo>
                  <a:pt x="697723" y="8368"/>
                </a:lnTo>
                <a:lnTo>
                  <a:pt x="669847" y="2143"/>
                </a:lnTo>
                <a:lnTo>
                  <a:pt x="64064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787772" y="3162078"/>
            <a:ext cx="838286" cy="838286"/>
          </a:xfrm>
          <a:custGeom>
            <a:avLst/>
            <a:gdLst/>
            <a:ahLst/>
            <a:cxnLst/>
            <a:rect l="l" t="t" r="r" b="b"/>
            <a:pathLst>
              <a:path w="838286" h="838286">
                <a:moveTo>
                  <a:pt x="640641" y="0"/>
                </a:moveTo>
                <a:lnTo>
                  <a:pt x="0" y="0"/>
                </a:lnTo>
                <a:lnTo>
                  <a:pt x="0" y="640641"/>
                </a:lnTo>
                <a:lnTo>
                  <a:pt x="2143" y="669847"/>
                </a:lnTo>
                <a:lnTo>
                  <a:pt x="8368" y="697723"/>
                </a:lnTo>
                <a:lnTo>
                  <a:pt x="18369" y="723963"/>
                </a:lnTo>
                <a:lnTo>
                  <a:pt x="31842" y="748260"/>
                </a:lnTo>
                <a:lnTo>
                  <a:pt x="48479" y="770310"/>
                </a:lnTo>
                <a:lnTo>
                  <a:pt x="67975" y="789807"/>
                </a:lnTo>
                <a:lnTo>
                  <a:pt x="90026" y="806444"/>
                </a:lnTo>
                <a:lnTo>
                  <a:pt x="114323" y="819916"/>
                </a:lnTo>
                <a:lnTo>
                  <a:pt x="140563" y="829918"/>
                </a:lnTo>
                <a:lnTo>
                  <a:pt x="168438" y="836143"/>
                </a:lnTo>
                <a:lnTo>
                  <a:pt x="197645" y="838286"/>
                </a:lnTo>
                <a:lnTo>
                  <a:pt x="838286" y="838286"/>
                </a:lnTo>
                <a:lnTo>
                  <a:pt x="838286" y="197645"/>
                </a:lnTo>
                <a:lnTo>
                  <a:pt x="836143" y="168438"/>
                </a:lnTo>
                <a:lnTo>
                  <a:pt x="829918" y="140563"/>
                </a:lnTo>
                <a:lnTo>
                  <a:pt x="819916" y="114323"/>
                </a:lnTo>
                <a:lnTo>
                  <a:pt x="806444" y="90026"/>
                </a:lnTo>
                <a:lnTo>
                  <a:pt x="789807" y="67975"/>
                </a:lnTo>
                <a:lnTo>
                  <a:pt x="770310" y="48479"/>
                </a:lnTo>
                <a:lnTo>
                  <a:pt x="748260" y="31842"/>
                </a:lnTo>
                <a:lnTo>
                  <a:pt x="723963" y="18369"/>
                </a:lnTo>
                <a:lnTo>
                  <a:pt x="697723" y="8368"/>
                </a:lnTo>
                <a:lnTo>
                  <a:pt x="669847" y="2143"/>
                </a:lnTo>
                <a:lnTo>
                  <a:pt x="64064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787772" y="4314522"/>
            <a:ext cx="838286" cy="838286"/>
          </a:xfrm>
          <a:custGeom>
            <a:avLst/>
            <a:gdLst/>
            <a:ahLst/>
            <a:cxnLst/>
            <a:rect l="l" t="t" r="r" b="b"/>
            <a:pathLst>
              <a:path w="838286" h="838286">
                <a:moveTo>
                  <a:pt x="640641" y="0"/>
                </a:moveTo>
                <a:lnTo>
                  <a:pt x="0" y="0"/>
                </a:lnTo>
                <a:lnTo>
                  <a:pt x="0" y="640641"/>
                </a:lnTo>
                <a:lnTo>
                  <a:pt x="2143" y="669847"/>
                </a:lnTo>
                <a:lnTo>
                  <a:pt x="8368" y="697723"/>
                </a:lnTo>
                <a:lnTo>
                  <a:pt x="18369" y="723963"/>
                </a:lnTo>
                <a:lnTo>
                  <a:pt x="31842" y="748260"/>
                </a:lnTo>
                <a:lnTo>
                  <a:pt x="48479" y="770310"/>
                </a:lnTo>
                <a:lnTo>
                  <a:pt x="67975" y="789807"/>
                </a:lnTo>
                <a:lnTo>
                  <a:pt x="90026" y="806444"/>
                </a:lnTo>
                <a:lnTo>
                  <a:pt x="114323" y="819916"/>
                </a:lnTo>
                <a:lnTo>
                  <a:pt x="140563" y="829918"/>
                </a:lnTo>
                <a:lnTo>
                  <a:pt x="168438" y="836143"/>
                </a:lnTo>
                <a:lnTo>
                  <a:pt x="197645" y="838286"/>
                </a:lnTo>
                <a:lnTo>
                  <a:pt x="838286" y="838286"/>
                </a:lnTo>
                <a:lnTo>
                  <a:pt x="838286" y="197645"/>
                </a:lnTo>
                <a:lnTo>
                  <a:pt x="836143" y="168438"/>
                </a:lnTo>
                <a:lnTo>
                  <a:pt x="829918" y="140563"/>
                </a:lnTo>
                <a:lnTo>
                  <a:pt x="819916" y="114323"/>
                </a:lnTo>
                <a:lnTo>
                  <a:pt x="806444" y="90026"/>
                </a:lnTo>
                <a:lnTo>
                  <a:pt x="789807" y="67975"/>
                </a:lnTo>
                <a:lnTo>
                  <a:pt x="770310" y="48479"/>
                </a:lnTo>
                <a:lnTo>
                  <a:pt x="748260" y="31842"/>
                </a:lnTo>
                <a:lnTo>
                  <a:pt x="723963" y="18369"/>
                </a:lnTo>
                <a:lnTo>
                  <a:pt x="697723" y="8368"/>
                </a:lnTo>
                <a:lnTo>
                  <a:pt x="669847" y="2143"/>
                </a:lnTo>
                <a:lnTo>
                  <a:pt x="64064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787772" y="5466966"/>
            <a:ext cx="838286" cy="838286"/>
          </a:xfrm>
          <a:custGeom>
            <a:avLst/>
            <a:gdLst/>
            <a:ahLst/>
            <a:cxnLst/>
            <a:rect l="l" t="t" r="r" b="b"/>
            <a:pathLst>
              <a:path w="838286" h="838286">
                <a:moveTo>
                  <a:pt x="640641" y="0"/>
                </a:moveTo>
                <a:lnTo>
                  <a:pt x="0" y="0"/>
                </a:lnTo>
                <a:lnTo>
                  <a:pt x="0" y="640641"/>
                </a:lnTo>
                <a:lnTo>
                  <a:pt x="2143" y="669847"/>
                </a:lnTo>
                <a:lnTo>
                  <a:pt x="8368" y="697723"/>
                </a:lnTo>
                <a:lnTo>
                  <a:pt x="18369" y="723963"/>
                </a:lnTo>
                <a:lnTo>
                  <a:pt x="31842" y="748260"/>
                </a:lnTo>
                <a:lnTo>
                  <a:pt x="48479" y="770310"/>
                </a:lnTo>
                <a:lnTo>
                  <a:pt x="67975" y="789807"/>
                </a:lnTo>
                <a:lnTo>
                  <a:pt x="90026" y="806444"/>
                </a:lnTo>
                <a:lnTo>
                  <a:pt x="114323" y="819916"/>
                </a:lnTo>
                <a:lnTo>
                  <a:pt x="140563" y="829918"/>
                </a:lnTo>
                <a:lnTo>
                  <a:pt x="168438" y="836143"/>
                </a:lnTo>
                <a:lnTo>
                  <a:pt x="197645" y="838286"/>
                </a:lnTo>
                <a:lnTo>
                  <a:pt x="838286" y="838286"/>
                </a:lnTo>
                <a:lnTo>
                  <a:pt x="838286" y="197645"/>
                </a:lnTo>
                <a:lnTo>
                  <a:pt x="836143" y="168438"/>
                </a:lnTo>
                <a:lnTo>
                  <a:pt x="829918" y="140563"/>
                </a:lnTo>
                <a:lnTo>
                  <a:pt x="819916" y="114323"/>
                </a:lnTo>
                <a:lnTo>
                  <a:pt x="806444" y="90026"/>
                </a:lnTo>
                <a:lnTo>
                  <a:pt x="789807" y="67975"/>
                </a:lnTo>
                <a:lnTo>
                  <a:pt x="770310" y="48479"/>
                </a:lnTo>
                <a:lnTo>
                  <a:pt x="748260" y="31842"/>
                </a:lnTo>
                <a:lnTo>
                  <a:pt x="723963" y="18369"/>
                </a:lnTo>
                <a:lnTo>
                  <a:pt x="697723" y="8368"/>
                </a:lnTo>
                <a:lnTo>
                  <a:pt x="669847" y="2143"/>
                </a:lnTo>
                <a:lnTo>
                  <a:pt x="640641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10743874" y="628605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11177445" y="628605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0" name="Image 0" descr="https://kimi-img.moonshot.cn/pub/slides/slides_tmpl/image/25-09-04-14:55:15-d2sjfku1bb2p4onbq0i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78" y="780995"/>
            <a:ext cx="152389" cy="152389"/>
          </a:xfrm>
          <a:prstGeom prst="rect">
            <a:avLst/>
          </a:prstGeom>
        </p:spPr>
      </p:pic>
      <p:pic>
        <p:nvPicPr>
          <p:cNvPr id="11" name="Image 1" descr="https://kimi-img.moonshot.cn/pub/slides/slides_tmpl/image/25-09-04-14:55:15-d2sjfku1bb2p4onbq0i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78" y="1936613"/>
            <a:ext cx="152389" cy="152389"/>
          </a:xfrm>
          <a:prstGeom prst="rect">
            <a:avLst/>
          </a:prstGeom>
        </p:spPr>
      </p:pic>
      <p:pic>
        <p:nvPicPr>
          <p:cNvPr id="12" name="Image 2" descr="https://kimi-img.moonshot.cn/pub/slides/slides_tmpl/image/25-09-04-14:55:15-d2sjfku1bb2p4onbq0i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78" y="3092233"/>
            <a:ext cx="152389" cy="152389"/>
          </a:xfrm>
          <a:prstGeom prst="rect">
            <a:avLst/>
          </a:prstGeom>
        </p:spPr>
      </p:pic>
      <p:pic>
        <p:nvPicPr>
          <p:cNvPr id="13" name="Image 3" descr="https://kimi-img.moonshot.cn/pub/slides/slides_tmpl/image/25-09-04-14:55:15-d2sjfku1bb2p4onbq0i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578" y="4247852"/>
            <a:ext cx="152389" cy="152389"/>
          </a:xfrm>
          <a:prstGeom prst="rect">
            <a:avLst/>
          </a:prstGeom>
        </p:spPr>
      </p:pic>
      <p:pic>
        <p:nvPicPr>
          <p:cNvPr id="14" name="Image 4" descr="https://kimi-img.moonshot.cn/pub/slides/slides_tmpl/image/25-09-04-14:55:15-d2sjfku1bb2p4onbq0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78" y="5403470"/>
            <a:ext cx="152389" cy="152389"/>
          </a:xfrm>
          <a:prstGeom prst="rect">
            <a:avLst/>
          </a:prstGeom>
        </p:spPr>
      </p:pic>
      <p:pic>
        <p:nvPicPr>
          <p:cNvPr id="15" name="Image 5" descr="https://kimi-img.moonshot.cn/pub/slides/slides_tmpl/image/25-09-04-14:55:15-d2sjfku1bb2p4onbq0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996315"/>
            <a:ext cx="560070" cy="589280"/>
          </a:xfrm>
          <a:prstGeom prst="rect">
            <a:avLst/>
          </a:prstGeom>
        </p:spPr>
      </p:pic>
      <p:pic>
        <p:nvPicPr>
          <p:cNvPr id="16" name="Image 6" descr="https://kimi-img.moonshot.cn/pub/slides/slides_tmpl/image/25-09-04-14:55:15-d2sjfku1bb2p4onbq0j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973" y="5637530"/>
            <a:ext cx="623570" cy="527050"/>
          </a:xfrm>
          <a:prstGeom prst="rect">
            <a:avLst/>
          </a:prstGeom>
        </p:spPr>
      </p:pic>
      <p:pic>
        <p:nvPicPr>
          <p:cNvPr id="17" name="Image 7" descr="https://kimi-img.moonshot.cn/pub/slides/slides_tmpl/image/25-09-04-14:55:15-d2sjfku1bb2p4onbq0h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" y="4462145"/>
            <a:ext cx="648335" cy="526415"/>
          </a:xfrm>
          <a:prstGeom prst="rect">
            <a:avLst/>
          </a:prstGeom>
        </p:spPr>
      </p:pic>
      <p:pic>
        <p:nvPicPr>
          <p:cNvPr id="18" name="Image 8" descr="https://kimi-img.moonshot.cn/pub/slides/slides_tmpl/image/25-09-04-14:55:15-d2sjfku1bb2p4onbq0k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798" y="3343910"/>
            <a:ext cx="629920" cy="533400"/>
          </a:xfrm>
          <a:prstGeom prst="rect">
            <a:avLst/>
          </a:prstGeom>
        </p:spPr>
      </p:pic>
      <p:pic>
        <p:nvPicPr>
          <p:cNvPr id="19" name="Image 9" descr="https://kimi-img.moonshot.cn/pub/slides/slides_tmpl/image/25-09-04-14:55:15-d2sjfku1bb2p4onbq0d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465" y="2152015"/>
            <a:ext cx="616585" cy="526415"/>
          </a:xfrm>
          <a:prstGeom prst="rect">
            <a:avLst/>
          </a:prstGeom>
        </p:spPr>
      </p:pic>
      <p:sp>
        <p:nvSpPr>
          <p:cNvPr id="20" name="Shape 8"/>
          <p:cNvSpPr/>
          <p:nvPr/>
        </p:nvSpPr>
        <p:spPr>
          <a:xfrm>
            <a:off x="8445335" y="5809842"/>
            <a:ext cx="527153" cy="527153"/>
          </a:xfrm>
          <a:custGeom>
            <a:avLst/>
            <a:gdLst/>
            <a:ahLst/>
            <a:cxnLst/>
            <a:rect l="l" t="t" r="r" b="b"/>
            <a:pathLst>
              <a:path w="527153" h="527153">
                <a:moveTo>
                  <a:pt x="263576" y="0"/>
                </a:moveTo>
                <a:lnTo>
                  <a:pt x="234857" y="1546"/>
                </a:lnTo>
                <a:lnTo>
                  <a:pt x="207032" y="6079"/>
                </a:lnTo>
                <a:lnTo>
                  <a:pt x="180265" y="13437"/>
                </a:lnTo>
                <a:lnTo>
                  <a:pt x="154715" y="23459"/>
                </a:lnTo>
                <a:lnTo>
                  <a:pt x="130544" y="35986"/>
                </a:lnTo>
                <a:lnTo>
                  <a:pt x="107911" y="50854"/>
                </a:lnTo>
                <a:lnTo>
                  <a:pt x="86978" y="67905"/>
                </a:lnTo>
                <a:lnTo>
                  <a:pt x="67905" y="86978"/>
                </a:lnTo>
                <a:lnTo>
                  <a:pt x="50854" y="107911"/>
                </a:lnTo>
                <a:lnTo>
                  <a:pt x="35986" y="130544"/>
                </a:lnTo>
                <a:lnTo>
                  <a:pt x="23459" y="154715"/>
                </a:lnTo>
                <a:lnTo>
                  <a:pt x="13437" y="180265"/>
                </a:lnTo>
                <a:lnTo>
                  <a:pt x="6079" y="207032"/>
                </a:lnTo>
                <a:lnTo>
                  <a:pt x="1546" y="234857"/>
                </a:lnTo>
                <a:lnTo>
                  <a:pt x="0" y="263576"/>
                </a:lnTo>
                <a:lnTo>
                  <a:pt x="1546" y="292296"/>
                </a:lnTo>
                <a:lnTo>
                  <a:pt x="6079" y="320120"/>
                </a:lnTo>
                <a:lnTo>
                  <a:pt x="13437" y="346888"/>
                </a:lnTo>
                <a:lnTo>
                  <a:pt x="23459" y="372437"/>
                </a:lnTo>
                <a:lnTo>
                  <a:pt x="35986" y="396609"/>
                </a:lnTo>
                <a:lnTo>
                  <a:pt x="50854" y="419242"/>
                </a:lnTo>
                <a:lnTo>
                  <a:pt x="67905" y="440175"/>
                </a:lnTo>
                <a:lnTo>
                  <a:pt x="86978" y="459247"/>
                </a:lnTo>
                <a:lnTo>
                  <a:pt x="107911" y="476298"/>
                </a:lnTo>
                <a:lnTo>
                  <a:pt x="130544" y="491167"/>
                </a:lnTo>
                <a:lnTo>
                  <a:pt x="154715" y="503694"/>
                </a:lnTo>
                <a:lnTo>
                  <a:pt x="180265" y="513716"/>
                </a:lnTo>
                <a:lnTo>
                  <a:pt x="207032" y="521073"/>
                </a:lnTo>
                <a:lnTo>
                  <a:pt x="234857" y="525606"/>
                </a:lnTo>
                <a:lnTo>
                  <a:pt x="263576" y="527153"/>
                </a:lnTo>
                <a:lnTo>
                  <a:pt x="292296" y="525606"/>
                </a:lnTo>
                <a:lnTo>
                  <a:pt x="320120" y="521073"/>
                </a:lnTo>
                <a:lnTo>
                  <a:pt x="346888" y="513716"/>
                </a:lnTo>
                <a:lnTo>
                  <a:pt x="372437" y="503694"/>
                </a:lnTo>
                <a:lnTo>
                  <a:pt x="396609" y="491167"/>
                </a:lnTo>
                <a:lnTo>
                  <a:pt x="419242" y="476298"/>
                </a:lnTo>
                <a:lnTo>
                  <a:pt x="440175" y="459247"/>
                </a:lnTo>
                <a:lnTo>
                  <a:pt x="459247" y="440175"/>
                </a:lnTo>
                <a:lnTo>
                  <a:pt x="476298" y="419242"/>
                </a:lnTo>
                <a:lnTo>
                  <a:pt x="491167" y="396609"/>
                </a:lnTo>
                <a:lnTo>
                  <a:pt x="503694" y="372437"/>
                </a:lnTo>
                <a:lnTo>
                  <a:pt x="513716" y="346888"/>
                </a:lnTo>
                <a:lnTo>
                  <a:pt x="521073" y="320120"/>
                </a:lnTo>
                <a:lnTo>
                  <a:pt x="525606" y="292296"/>
                </a:lnTo>
                <a:lnTo>
                  <a:pt x="527153" y="263576"/>
                </a:lnTo>
                <a:lnTo>
                  <a:pt x="525606" y="234857"/>
                </a:lnTo>
                <a:lnTo>
                  <a:pt x="521073" y="207032"/>
                </a:lnTo>
                <a:lnTo>
                  <a:pt x="513716" y="180265"/>
                </a:lnTo>
                <a:lnTo>
                  <a:pt x="503694" y="154715"/>
                </a:lnTo>
                <a:lnTo>
                  <a:pt x="491167" y="130544"/>
                </a:lnTo>
                <a:lnTo>
                  <a:pt x="476298" y="107911"/>
                </a:lnTo>
                <a:lnTo>
                  <a:pt x="459247" y="86978"/>
                </a:lnTo>
                <a:lnTo>
                  <a:pt x="440175" y="67905"/>
                </a:lnTo>
                <a:lnTo>
                  <a:pt x="419242" y="50854"/>
                </a:lnTo>
                <a:lnTo>
                  <a:pt x="396609" y="35986"/>
                </a:lnTo>
                <a:lnTo>
                  <a:pt x="372437" y="23459"/>
                </a:lnTo>
                <a:lnTo>
                  <a:pt x="346888" y="13437"/>
                </a:lnTo>
                <a:lnTo>
                  <a:pt x="320120" y="6079"/>
                </a:lnTo>
                <a:lnTo>
                  <a:pt x="292296" y="1546"/>
                </a:lnTo>
                <a:lnTo>
                  <a:pt x="263576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21" name="Shape 9"/>
          <p:cNvSpPr/>
          <p:nvPr/>
        </p:nvSpPr>
        <p:spPr>
          <a:xfrm>
            <a:off x="8542938" y="5955499"/>
            <a:ext cx="357340" cy="239510"/>
          </a:xfrm>
          <a:custGeom>
            <a:avLst/>
            <a:gdLst/>
            <a:ahLst/>
            <a:cxnLst/>
            <a:rect l="l" t="t" r="r" b="b"/>
            <a:pathLst>
              <a:path w="357340" h="239510">
                <a:moveTo>
                  <a:pt x="123213" y="0"/>
                </a:moveTo>
                <a:lnTo>
                  <a:pt x="0" y="123211"/>
                </a:lnTo>
                <a:lnTo>
                  <a:pt x="123562" y="239510"/>
                </a:lnTo>
                <a:lnTo>
                  <a:pt x="145997" y="215677"/>
                </a:lnTo>
                <a:lnTo>
                  <a:pt x="61286" y="135944"/>
                </a:lnTo>
                <a:lnTo>
                  <a:pt x="357340" y="135944"/>
                </a:lnTo>
                <a:lnTo>
                  <a:pt x="357340" y="103216"/>
                </a:lnTo>
                <a:lnTo>
                  <a:pt x="66279" y="103216"/>
                </a:lnTo>
                <a:lnTo>
                  <a:pt x="146352" y="23140"/>
                </a:lnTo>
                <a:lnTo>
                  <a:pt x="123213" y="0"/>
                </a:lnTo>
                <a:close/>
              </a:path>
            </a:pathLst>
          </a:custGeom>
          <a:solidFill>
            <a:srgbClr val="1E1E1E"/>
          </a:solidFill>
        </p:spPr>
      </p:sp>
      <p:pic>
        <p:nvPicPr>
          <p:cNvPr id="22" name="Image 10" descr="https://kimi-img.moonshot.cn/pub/slides/slides_tmpl/image/25-09-04-14:55:15-d2sjfku1bb2p4onbq0k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0" y="4352925"/>
            <a:ext cx="2609215" cy="2038350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2010841" y="1077005"/>
            <a:ext cx="4448654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开篇导航</a:t>
            </a:r>
            <a:endParaRPr lang="en-US" sz="1600" dirty="0"/>
          </a:p>
        </p:txBody>
      </p:sp>
      <p:sp>
        <p:nvSpPr>
          <p:cNvPr id="24" name="Text 11"/>
          <p:cNvSpPr/>
          <p:nvPr/>
        </p:nvSpPr>
        <p:spPr>
          <a:xfrm>
            <a:off x="2010841" y="2225428"/>
            <a:ext cx="4448654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AI助手探秘</a:t>
            </a:r>
            <a:endParaRPr lang="en-US" sz="1600" dirty="0"/>
          </a:p>
        </p:txBody>
      </p:sp>
      <p:sp>
        <p:nvSpPr>
          <p:cNvPr id="25" name="Text 12"/>
          <p:cNvSpPr/>
          <p:nvPr/>
        </p:nvSpPr>
        <p:spPr>
          <a:xfrm>
            <a:off x="2036489" y="3373851"/>
            <a:ext cx="4423006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环境搭建准备</a:t>
            </a:r>
            <a:endParaRPr lang="en-US" sz="1600" dirty="0"/>
          </a:p>
        </p:txBody>
      </p:sp>
      <p:sp>
        <p:nvSpPr>
          <p:cNvPr id="26" name="Text 13"/>
          <p:cNvSpPr/>
          <p:nvPr/>
        </p:nvSpPr>
        <p:spPr>
          <a:xfrm>
            <a:off x="2010841" y="4522274"/>
            <a:ext cx="4448654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Python基础入门</a:t>
            </a:r>
            <a:endParaRPr lang="en-US" sz="1600" dirty="0"/>
          </a:p>
        </p:txBody>
      </p:sp>
      <p:sp>
        <p:nvSpPr>
          <p:cNvPr id="27" name="Text 14"/>
          <p:cNvSpPr/>
          <p:nvPr/>
        </p:nvSpPr>
        <p:spPr>
          <a:xfrm>
            <a:off x="1985193" y="5670697"/>
            <a:ext cx="4448655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数据可视化实战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509000" y="384175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9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10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11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08665" y="7556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342370" y="7556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5486400" y="3810000"/>
            <a:ext cx="6705600" cy="152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5" name="Shape 3"/>
          <p:cNvSpPr/>
          <p:nvPr/>
        </p:nvSpPr>
        <p:spPr>
          <a:xfrm>
            <a:off x="5410200" y="3484880"/>
            <a:ext cx="762000" cy="7620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6" name="Shape 4"/>
          <p:cNvSpPr/>
          <p:nvPr/>
        </p:nvSpPr>
        <p:spPr>
          <a:xfrm>
            <a:off x="8982075" y="3520440"/>
            <a:ext cx="762000" cy="762000"/>
          </a:xfrm>
          <a:prstGeom prst="ellipse">
            <a:avLst/>
          </a:prstGeom>
          <a:solidFill>
            <a:srgbClr val="DEF101"/>
          </a:solidFill>
        </p:spPr>
      </p:sp>
      <p:pic>
        <p:nvPicPr>
          <p:cNvPr id="9" name="Image 2" descr="https://kimi-img.moonshot.cn/pub/slides/slides_tmpl/image/25-09-04-14:55:15-d2sjfku1bb2p4onbq0e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09600"/>
            <a:ext cx="4942840" cy="2129155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9-04-14:55:15-d2sjfku1bb2p4onbq0h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50" y="3314467"/>
            <a:ext cx="4139909" cy="30096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14548" y="4501366"/>
            <a:ext cx="2713548" cy="529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无代码探索工具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732289" y="4501366"/>
            <a:ext cx="2755518" cy="529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课程总结</a:t>
            </a:r>
            <a:endParaRPr lang="en-US" sz="16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182235" y="2256155"/>
            <a:ext cx="13957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06</a:t>
            </a:r>
            <a:endParaRPr lang="en-US" altLang="zh-CN" sz="8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732520" y="2256155"/>
            <a:ext cx="136144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en-US" altLang="zh-CN" sz="8000" b="1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07</a:t>
            </a:r>
            <a:endParaRPr lang="en-US" altLang="zh-CN" sz="8000" b="1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677275" y="562610"/>
            <a:ext cx="2021840" cy="693420"/>
            <a:chOff x="15990" y="125"/>
            <a:chExt cx="3184" cy="1092"/>
          </a:xfrm>
        </p:grpSpPr>
        <p:pic>
          <p:nvPicPr>
            <p:cNvPr id="16" name="图片 1" descr="国科大标准Logo横式一（蓝色）"/>
            <p:cNvPicPr>
              <a:picLocks noChangeAspect="1"/>
            </p:cNvPicPr>
            <p:nvPr/>
          </p:nvPicPr>
          <p:blipFill>
            <a:blip r:embed="rId3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7" name="图片 16"/>
            <p:cNvPicPr/>
            <p:nvPr/>
          </p:nvPicPr>
          <p:blipFill>
            <a:blip r:embed="rId4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18" name="图片 17"/>
            <p:cNvPicPr/>
            <p:nvPr/>
          </p:nvPicPr>
          <p:blipFill>
            <a:blip r:embed="rId5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开篇导航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509000" y="384175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91215" y="3746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424920" y="3746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635" y="6012815"/>
            <a:ext cx="12191365" cy="844550"/>
          </a:xfrm>
          <a:custGeom>
            <a:avLst/>
            <a:gdLst/>
            <a:ahLst/>
            <a:cxnLst/>
            <a:rect l="l" t="t" r="r" b="b"/>
            <a:pathLst>
              <a:path w="12191365" h="844550">
                <a:moveTo>
                  <a:pt x="12191365" y="0"/>
                </a:moveTo>
                <a:lnTo>
                  <a:pt x="0" y="0"/>
                </a:lnTo>
                <a:lnTo>
                  <a:pt x="0" y="844550"/>
                </a:lnTo>
                <a:lnTo>
                  <a:pt x="12191365" y="844550"/>
                </a:lnTo>
                <a:lnTo>
                  <a:pt x="1219136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073775" y="1282065"/>
            <a:ext cx="44450" cy="4242435"/>
          </a:xfrm>
          <a:custGeom>
            <a:avLst/>
            <a:gdLst/>
            <a:ahLst/>
            <a:cxnLst/>
            <a:rect l="l" t="t" r="r" b="b"/>
            <a:pathLst>
              <a:path w="44450" h="4242435">
                <a:moveTo>
                  <a:pt x="44450" y="0"/>
                </a:moveTo>
                <a:lnTo>
                  <a:pt x="0" y="0"/>
                </a:lnTo>
                <a:lnTo>
                  <a:pt x="0" y="4242435"/>
                </a:lnTo>
                <a:lnTo>
                  <a:pt x="44450" y="4242435"/>
                </a:lnTo>
                <a:lnTo>
                  <a:pt x="44450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Text 4"/>
          <p:cNvSpPr/>
          <p:nvPr/>
        </p:nvSpPr>
        <p:spPr>
          <a:xfrm>
            <a:off x="1618615" y="6150610"/>
            <a:ext cx="9029065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Python与AI助手：轻松上手数据探索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219200"/>
            <a:ext cx="304800" cy="3048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8" name="Shape 6"/>
          <p:cNvSpPr/>
          <p:nvPr/>
        </p:nvSpPr>
        <p:spPr>
          <a:xfrm>
            <a:off x="5943600" y="5334000"/>
            <a:ext cx="304800" cy="3048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9" name="Shape 7"/>
          <p:cNvSpPr/>
          <p:nvPr/>
        </p:nvSpPr>
        <p:spPr>
          <a:xfrm flipH="1">
            <a:off x="228600" y="6172200"/>
            <a:ext cx="293370" cy="447040"/>
          </a:xfrm>
          <a:custGeom>
            <a:avLst/>
            <a:gdLst/>
            <a:ahLst/>
            <a:cxnLst/>
            <a:rect l="l" t="t" r="r" b="b"/>
            <a:pathLst>
              <a:path w="293370" h="447040">
                <a:moveTo>
                  <a:pt x="293370" y="0"/>
                </a:moveTo>
                <a:lnTo>
                  <a:pt x="191813" y="127380"/>
                </a:lnTo>
                <a:lnTo>
                  <a:pt x="0" y="127380"/>
                </a:lnTo>
                <a:lnTo>
                  <a:pt x="0" y="447040"/>
                </a:lnTo>
                <a:lnTo>
                  <a:pt x="293370" y="447040"/>
                </a:lnTo>
                <a:lnTo>
                  <a:pt x="29337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 flipH="1">
            <a:off x="609600" y="6172200"/>
            <a:ext cx="293370" cy="447040"/>
          </a:xfrm>
          <a:custGeom>
            <a:avLst/>
            <a:gdLst/>
            <a:ahLst/>
            <a:cxnLst/>
            <a:rect l="l" t="t" r="r" b="b"/>
            <a:pathLst>
              <a:path w="293370" h="447040">
                <a:moveTo>
                  <a:pt x="293370" y="0"/>
                </a:moveTo>
                <a:lnTo>
                  <a:pt x="191813" y="127380"/>
                </a:lnTo>
                <a:lnTo>
                  <a:pt x="0" y="127380"/>
                </a:lnTo>
                <a:lnTo>
                  <a:pt x="0" y="447040"/>
                </a:lnTo>
                <a:lnTo>
                  <a:pt x="293370" y="447040"/>
                </a:lnTo>
                <a:lnTo>
                  <a:pt x="29337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604520" y="1882140"/>
            <a:ext cx="5034280" cy="529590"/>
          </a:xfrm>
          <a:prstGeom prst="rect">
            <a:avLst/>
          </a:prstGeom>
          <a:solidFill>
            <a:srgbClr val="D9D9D9">
              <a:alpha val="63137"/>
            </a:srgb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课程主题介绍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9450" y="2477917"/>
            <a:ext cx="4734910" cy="214923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欢迎来到数据探索的奇妙世界！今天我们将化身数据侦探，用Python这把万能钥匙和AI助手这位贴心小老师，一起揭开汞同位素数据背后的环境秘密。编程不再是遥不可及的技能，每个人都能成为探索家！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53200" y="1882140"/>
            <a:ext cx="5097145" cy="529590"/>
          </a:xfrm>
          <a:prstGeom prst="rect">
            <a:avLst/>
          </a:prstGeom>
          <a:solidFill>
            <a:srgbClr val="D9D9D9">
              <a:alpha val="63137"/>
            </a:srgbClr>
          </a:solidFill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学习旅程预告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47641" y="2471322"/>
            <a:ext cx="4734910" cy="214923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本次课程将带领你从零开始，学会与AI对话、搭建编程环境、掌握Python基础语法，最终亲手绘制出专业的汞同位素数据图表。准备好了吗？让我们开启这段充满成就感的编程之旅吧！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262255" y="29337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1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2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3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280035" y="1612900"/>
            <a:ext cx="730250" cy="730250"/>
          </a:xfrm>
          <a:custGeom>
            <a:avLst/>
            <a:gdLst/>
            <a:ahLst/>
            <a:cxnLst/>
            <a:rect l="l" t="t" r="r" b="b"/>
            <a:pathLst>
              <a:path w="730250" h="730250">
                <a:moveTo>
                  <a:pt x="730250" y="0"/>
                </a:moveTo>
                <a:lnTo>
                  <a:pt x="0" y="0"/>
                </a:lnTo>
                <a:lnTo>
                  <a:pt x="0" y="730250"/>
                </a:lnTo>
                <a:lnTo>
                  <a:pt x="730250" y="730250"/>
                </a:lnTo>
                <a:lnTo>
                  <a:pt x="73025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4" name="Shape 2"/>
          <p:cNvSpPr/>
          <p:nvPr/>
        </p:nvSpPr>
        <p:spPr>
          <a:xfrm>
            <a:off x="6286500" y="1612900"/>
            <a:ext cx="730250" cy="730250"/>
          </a:xfrm>
          <a:custGeom>
            <a:avLst/>
            <a:gdLst/>
            <a:ahLst/>
            <a:cxnLst/>
            <a:rect l="l" t="t" r="r" b="b"/>
            <a:pathLst>
              <a:path w="730250" h="730250">
                <a:moveTo>
                  <a:pt x="730250" y="0"/>
                </a:moveTo>
                <a:lnTo>
                  <a:pt x="0" y="0"/>
                </a:lnTo>
                <a:lnTo>
                  <a:pt x="0" y="730250"/>
                </a:lnTo>
                <a:lnTo>
                  <a:pt x="730250" y="730250"/>
                </a:lnTo>
                <a:lnTo>
                  <a:pt x="73025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5" name="Shape 3"/>
          <p:cNvSpPr/>
          <p:nvPr/>
        </p:nvSpPr>
        <p:spPr>
          <a:xfrm>
            <a:off x="280035" y="4273550"/>
            <a:ext cx="730250" cy="730250"/>
          </a:xfrm>
          <a:custGeom>
            <a:avLst/>
            <a:gdLst/>
            <a:ahLst/>
            <a:cxnLst/>
            <a:rect l="l" t="t" r="r" b="b"/>
            <a:pathLst>
              <a:path w="730250" h="730250">
                <a:moveTo>
                  <a:pt x="730250" y="0"/>
                </a:moveTo>
                <a:lnTo>
                  <a:pt x="0" y="0"/>
                </a:lnTo>
                <a:lnTo>
                  <a:pt x="0" y="730250"/>
                </a:lnTo>
                <a:lnTo>
                  <a:pt x="730250" y="730250"/>
                </a:lnTo>
                <a:lnTo>
                  <a:pt x="73025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6" name="Shape 4"/>
          <p:cNvSpPr/>
          <p:nvPr/>
        </p:nvSpPr>
        <p:spPr>
          <a:xfrm>
            <a:off x="6286500" y="4273550"/>
            <a:ext cx="730250" cy="730250"/>
          </a:xfrm>
          <a:custGeom>
            <a:avLst/>
            <a:gdLst/>
            <a:ahLst/>
            <a:cxnLst/>
            <a:rect l="l" t="t" r="r" b="b"/>
            <a:pathLst>
              <a:path w="730250" h="730250">
                <a:moveTo>
                  <a:pt x="730250" y="0"/>
                </a:moveTo>
                <a:lnTo>
                  <a:pt x="0" y="0"/>
                </a:lnTo>
                <a:lnTo>
                  <a:pt x="0" y="730250"/>
                </a:lnTo>
                <a:lnTo>
                  <a:pt x="730250" y="730250"/>
                </a:lnTo>
                <a:lnTo>
                  <a:pt x="73025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7" name="Shape 5"/>
          <p:cNvSpPr/>
          <p:nvPr/>
        </p:nvSpPr>
        <p:spPr>
          <a:xfrm>
            <a:off x="337438" y="247387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4"/>
                </a:lnTo>
                <a:lnTo>
                  <a:pt x="25831" y="365908"/>
                </a:lnTo>
                <a:lnTo>
                  <a:pt x="39567" y="390385"/>
                </a:lnTo>
                <a:lnTo>
                  <a:pt x="55832" y="413096"/>
                </a:lnTo>
                <a:lnTo>
                  <a:pt x="74437" y="433848"/>
                </a:lnTo>
                <a:lnTo>
                  <a:pt x="95189" y="452453"/>
                </a:lnTo>
                <a:lnTo>
                  <a:pt x="117900" y="468718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4" y="493469"/>
                </a:lnTo>
                <a:lnTo>
                  <a:pt x="365908" y="482454"/>
                </a:lnTo>
                <a:lnTo>
                  <a:pt x="390385" y="468718"/>
                </a:lnTo>
                <a:lnTo>
                  <a:pt x="413096" y="452453"/>
                </a:lnTo>
                <a:lnTo>
                  <a:pt x="433848" y="433848"/>
                </a:lnTo>
                <a:lnTo>
                  <a:pt x="452453" y="413096"/>
                </a:lnTo>
                <a:lnTo>
                  <a:pt x="468718" y="390385"/>
                </a:lnTo>
                <a:lnTo>
                  <a:pt x="482454" y="365908"/>
                </a:lnTo>
                <a:lnTo>
                  <a:pt x="493469" y="339854"/>
                </a:lnTo>
                <a:lnTo>
                  <a:pt x="501573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3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8" y="117900"/>
                </a:lnTo>
                <a:lnTo>
                  <a:pt x="452453" y="95189"/>
                </a:lnTo>
                <a:lnTo>
                  <a:pt x="433848" y="74437"/>
                </a:lnTo>
                <a:lnTo>
                  <a:pt x="413096" y="55832"/>
                </a:lnTo>
                <a:lnTo>
                  <a:pt x="390385" y="39567"/>
                </a:lnTo>
                <a:lnTo>
                  <a:pt x="365908" y="25831"/>
                </a:lnTo>
                <a:lnTo>
                  <a:pt x="339854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6"/>
          <p:cNvSpPr/>
          <p:nvPr/>
        </p:nvSpPr>
        <p:spPr>
          <a:xfrm>
            <a:off x="10928010" y="431770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11361582" y="431770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845728" y="247903"/>
            <a:ext cx="6510517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上节课回顾与本节课目标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9-04-14:55:15-d2sjfku1bb2p4onbq0e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7040" y="1725930"/>
            <a:ext cx="479425" cy="50419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4-14:55:15-d2sjfku1bb2p4onbq0h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320" y="4383405"/>
            <a:ext cx="621030" cy="504190"/>
          </a:xfrm>
          <a:prstGeom prst="rect">
            <a:avLst/>
          </a:prstGeom>
        </p:spPr>
      </p:pic>
      <p:pic>
        <p:nvPicPr>
          <p:cNvPr id="13" name="Image 2" descr="https://kimi-img.moonshot.cn/pub/slides/slides_tmpl/image/25-09-04-14:55:15-d2sjfku1bb2p4onbq0k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790" y="4383405"/>
            <a:ext cx="601980" cy="509905"/>
          </a:xfrm>
          <a:prstGeom prst="rect">
            <a:avLst/>
          </a:prstGeom>
        </p:spPr>
      </p:pic>
      <p:pic>
        <p:nvPicPr>
          <p:cNvPr id="14" name="Image 3" descr="https://kimi-img.moonshot.cn/pub/slides/slides_tmpl/image/25-09-04-14:55:15-d2sjfku1bb2p4onbq0d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725930"/>
            <a:ext cx="590550" cy="5041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81509" y="1559326"/>
            <a:ext cx="3472079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汞同位素指纹回顾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1280413" y="1928658"/>
            <a:ext cx="4409995" cy="105167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还记得吗？汞同位素就像污染源的专属身份证，不同来源的汞会留下独特的同位素特征。通过分析这些指纹，科学家能追踪污染源头。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081509" y="4202363"/>
            <a:ext cx="3472079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目标一：认识AI助手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280413" y="4571695"/>
            <a:ext cx="4409995" cy="7315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认识DeepSeek这位编程好帮手，学会让它帮我们写代码、解释代码、找错误、优化程序。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7047639" y="1559326"/>
            <a:ext cx="3472079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目标二：掌握提示词技巧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246543" y="1928658"/>
            <a:ext cx="4409995" cy="7315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学习编写高质量的AI提示词，就像学会念正确的魔法咒语，让AI准确理解我们的需求。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7047639" y="4202363"/>
            <a:ext cx="3472079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目标三：动手实践绘图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246543" y="4571695"/>
            <a:ext cx="4409995" cy="73159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完成环境搭建，学习Python基础，最终亲手绘制出漂亮的汞同位素数据图表！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571865" y="2476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5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6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7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AI助手探秘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509000" y="384175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267109" y="1860419"/>
            <a:ext cx="2666957" cy="4673529"/>
          </a:xfrm>
          <a:custGeom>
            <a:avLst/>
            <a:gdLst/>
            <a:ahLst/>
            <a:cxnLst/>
            <a:rect l="l" t="t" r="r" b="b"/>
            <a:pathLst>
              <a:path w="2666957" h="4673529">
                <a:moveTo>
                  <a:pt x="2666957" y="4673529"/>
                </a:moveTo>
                <a:lnTo>
                  <a:pt x="0" y="4673529"/>
                </a:lnTo>
                <a:lnTo>
                  <a:pt x="0" y="0"/>
                </a:lnTo>
                <a:lnTo>
                  <a:pt x="2666957" y="0"/>
                </a:lnTo>
                <a:lnTo>
                  <a:pt x="2666957" y="46735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64099" y="1860419"/>
            <a:ext cx="2666957" cy="4673529"/>
          </a:xfrm>
          <a:custGeom>
            <a:avLst/>
            <a:gdLst/>
            <a:ahLst/>
            <a:cxnLst/>
            <a:rect l="l" t="t" r="r" b="b"/>
            <a:pathLst>
              <a:path w="2666957" h="4673529">
                <a:moveTo>
                  <a:pt x="2666957" y="4673529"/>
                </a:moveTo>
                <a:lnTo>
                  <a:pt x="0" y="4673529"/>
                </a:lnTo>
                <a:lnTo>
                  <a:pt x="0" y="0"/>
                </a:lnTo>
                <a:lnTo>
                  <a:pt x="2666957" y="0"/>
                </a:lnTo>
                <a:lnTo>
                  <a:pt x="2666957" y="46735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1088" y="1860419"/>
            <a:ext cx="2666957" cy="4673529"/>
          </a:xfrm>
          <a:custGeom>
            <a:avLst/>
            <a:gdLst/>
            <a:ahLst/>
            <a:cxnLst/>
            <a:rect l="l" t="t" r="r" b="b"/>
            <a:pathLst>
              <a:path w="2666957" h="4673529">
                <a:moveTo>
                  <a:pt x="2666957" y="0"/>
                </a:moveTo>
                <a:lnTo>
                  <a:pt x="0" y="0"/>
                </a:lnTo>
                <a:lnTo>
                  <a:pt x="0" y="4673529"/>
                </a:lnTo>
                <a:lnTo>
                  <a:pt x="2666957" y="4673529"/>
                </a:lnTo>
                <a:lnTo>
                  <a:pt x="2666957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9258077" y="1860419"/>
            <a:ext cx="2666957" cy="4673529"/>
          </a:xfrm>
          <a:custGeom>
            <a:avLst/>
            <a:gdLst/>
            <a:ahLst/>
            <a:cxnLst/>
            <a:rect l="l" t="t" r="r" b="b"/>
            <a:pathLst>
              <a:path w="2666957" h="4673529">
                <a:moveTo>
                  <a:pt x="2666957" y="4673529"/>
                </a:moveTo>
                <a:lnTo>
                  <a:pt x="0" y="4673529"/>
                </a:lnTo>
                <a:lnTo>
                  <a:pt x="0" y="0"/>
                </a:lnTo>
                <a:lnTo>
                  <a:pt x="2666957" y="0"/>
                </a:lnTo>
                <a:lnTo>
                  <a:pt x="2666957" y="46735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94231" y="6394001"/>
            <a:ext cx="228728" cy="228728"/>
          </a:xfrm>
          <a:custGeom>
            <a:avLst/>
            <a:gdLst/>
            <a:ahLst/>
            <a:cxnLst/>
            <a:rect l="l" t="t" r="r" b="b"/>
            <a:pathLst>
              <a:path w="228728" h="228728">
                <a:moveTo>
                  <a:pt x="114364" y="0"/>
                </a:moveTo>
                <a:lnTo>
                  <a:pt x="83962" y="4085"/>
                </a:lnTo>
                <a:lnTo>
                  <a:pt x="56643" y="15614"/>
                </a:lnTo>
                <a:lnTo>
                  <a:pt x="33496" y="33496"/>
                </a:lnTo>
                <a:lnTo>
                  <a:pt x="15614" y="56643"/>
                </a:lnTo>
                <a:lnTo>
                  <a:pt x="4085" y="83962"/>
                </a:lnTo>
                <a:lnTo>
                  <a:pt x="0" y="114364"/>
                </a:lnTo>
                <a:lnTo>
                  <a:pt x="4085" y="144766"/>
                </a:lnTo>
                <a:lnTo>
                  <a:pt x="15614" y="172085"/>
                </a:lnTo>
                <a:lnTo>
                  <a:pt x="33496" y="195232"/>
                </a:lnTo>
                <a:lnTo>
                  <a:pt x="56643" y="213114"/>
                </a:lnTo>
                <a:lnTo>
                  <a:pt x="83962" y="224643"/>
                </a:lnTo>
                <a:lnTo>
                  <a:pt x="114364" y="228728"/>
                </a:lnTo>
                <a:lnTo>
                  <a:pt x="144766" y="224643"/>
                </a:lnTo>
                <a:lnTo>
                  <a:pt x="172085" y="213114"/>
                </a:lnTo>
                <a:lnTo>
                  <a:pt x="195232" y="195232"/>
                </a:lnTo>
                <a:lnTo>
                  <a:pt x="213114" y="172085"/>
                </a:lnTo>
                <a:lnTo>
                  <a:pt x="224643" y="144766"/>
                </a:lnTo>
                <a:lnTo>
                  <a:pt x="228728" y="114364"/>
                </a:lnTo>
                <a:lnTo>
                  <a:pt x="224643" y="83962"/>
                </a:lnTo>
                <a:lnTo>
                  <a:pt x="213114" y="56643"/>
                </a:lnTo>
                <a:lnTo>
                  <a:pt x="195232" y="33496"/>
                </a:lnTo>
                <a:lnTo>
                  <a:pt x="172085" y="15614"/>
                </a:lnTo>
                <a:lnTo>
                  <a:pt x="144766" y="4085"/>
                </a:lnTo>
                <a:lnTo>
                  <a:pt x="11436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6"/>
          <p:cNvSpPr/>
          <p:nvPr/>
        </p:nvSpPr>
        <p:spPr>
          <a:xfrm>
            <a:off x="5816619" y="6394001"/>
            <a:ext cx="228728" cy="228728"/>
          </a:xfrm>
          <a:custGeom>
            <a:avLst/>
            <a:gdLst/>
            <a:ahLst/>
            <a:cxnLst/>
            <a:rect l="l" t="t" r="r" b="b"/>
            <a:pathLst>
              <a:path w="228728" h="228728">
                <a:moveTo>
                  <a:pt x="114364" y="0"/>
                </a:moveTo>
                <a:lnTo>
                  <a:pt x="83962" y="4085"/>
                </a:lnTo>
                <a:lnTo>
                  <a:pt x="56643" y="15614"/>
                </a:lnTo>
                <a:lnTo>
                  <a:pt x="33496" y="33496"/>
                </a:lnTo>
                <a:lnTo>
                  <a:pt x="15614" y="56643"/>
                </a:lnTo>
                <a:lnTo>
                  <a:pt x="4085" y="83962"/>
                </a:lnTo>
                <a:lnTo>
                  <a:pt x="0" y="114364"/>
                </a:lnTo>
                <a:lnTo>
                  <a:pt x="4085" y="144766"/>
                </a:lnTo>
                <a:lnTo>
                  <a:pt x="15614" y="172085"/>
                </a:lnTo>
                <a:lnTo>
                  <a:pt x="33496" y="195232"/>
                </a:lnTo>
                <a:lnTo>
                  <a:pt x="56643" y="213114"/>
                </a:lnTo>
                <a:lnTo>
                  <a:pt x="83962" y="224643"/>
                </a:lnTo>
                <a:lnTo>
                  <a:pt x="114364" y="228728"/>
                </a:lnTo>
                <a:lnTo>
                  <a:pt x="144766" y="224643"/>
                </a:lnTo>
                <a:lnTo>
                  <a:pt x="172085" y="213114"/>
                </a:lnTo>
                <a:lnTo>
                  <a:pt x="195232" y="195232"/>
                </a:lnTo>
                <a:lnTo>
                  <a:pt x="213114" y="172085"/>
                </a:lnTo>
                <a:lnTo>
                  <a:pt x="224643" y="144766"/>
                </a:lnTo>
                <a:lnTo>
                  <a:pt x="228728" y="114364"/>
                </a:lnTo>
                <a:lnTo>
                  <a:pt x="224643" y="83962"/>
                </a:lnTo>
                <a:lnTo>
                  <a:pt x="213114" y="56643"/>
                </a:lnTo>
                <a:lnTo>
                  <a:pt x="195232" y="33496"/>
                </a:lnTo>
                <a:lnTo>
                  <a:pt x="172085" y="15614"/>
                </a:lnTo>
                <a:lnTo>
                  <a:pt x="144766" y="4085"/>
                </a:lnTo>
                <a:lnTo>
                  <a:pt x="11436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9" name="Shape 7"/>
          <p:cNvSpPr/>
          <p:nvPr/>
        </p:nvSpPr>
        <p:spPr>
          <a:xfrm>
            <a:off x="8839008" y="6394001"/>
            <a:ext cx="228728" cy="228728"/>
          </a:xfrm>
          <a:custGeom>
            <a:avLst/>
            <a:gdLst/>
            <a:ahLst/>
            <a:cxnLst/>
            <a:rect l="l" t="t" r="r" b="b"/>
            <a:pathLst>
              <a:path w="228728" h="228728">
                <a:moveTo>
                  <a:pt x="114364" y="0"/>
                </a:moveTo>
                <a:lnTo>
                  <a:pt x="83962" y="4085"/>
                </a:lnTo>
                <a:lnTo>
                  <a:pt x="56643" y="15614"/>
                </a:lnTo>
                <a:lnTo>
                  <a:pt x="33496" y="33496"/>
                </a:lnTo>
                <a:lnTo>
                  <a:pt x="15614" y="56643"/>
                </a:lnTo>
                <a:lnTo>
                  <a:pt x="4085" y="83962"/>
                </a:lnTo>
                <a:lnTo>
                  <a:pt x="0" y="114364"/>
                </a:lnTo>
                <a:lnTo>
                  <a:pt x="4085" y="144766"/>
                </a:lnTo>
                <a:lnTo>
                  <a:pt x="15614" y="172085"/>
                </a:lnTo>
                <a:lnTo>
                  <a:pt x="33496" y="195232"/>
                </a:lnTo>
                <a:lnTo>
                  <a:pt x="56643" y="213114"/>
                </a:lnTo>
                <a:lnTo>
                  <a:pt x="83962" y="224643"/>
                </a:lnTo>
                <a:lnTo>
                  <a:pt x="114364" y="228728"/>
                </a:lnTo>
                <a:lnTo>
                  <a:pt x="144766" y="224643"/>
                </a:lnTo>
                <a:lnTo>
                  <a:pt x="172085" y="213114"/>
                </a:lnTo>
                <a:lnTo>
                  <a:pt x="195232" y="195232"/>
                </a:lnTo>
                <a:lnTo>
                  <a:pt x="213114" y="172085"/>
                </a:lnTo>
                <a:lnTo>
                  <a:pt x="224643" y="144766"/>
                </a:lnTo>
                <a:lnTo>
                  <a:pt x="228728" y="114364"/>
                </a:lnTo>
                <a:lnTo>
                  <a:pt x="224643" y="83962"/>
                </a:lnTo>
                <a:lnTo>
                  <a:pt x="213114" y="56643"/>
                </a:lnTo>
                <a:lnTo>
                  <a:pt x="195232" y="33496"/>
                </a:lnTo>
                <a:lnTo>
                  <a:pt x="172085" y="15614"/>
                </a:lnTo>
                <a:lnTo>
                  <a:pt x="144766" y="4085"/>
                </a:lnTo>
                <a:lnTo>
                  <a:pt x="11436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0" name="Shape 8"/>
          <p:cNvSpPr/>
          <p:nvPr/>
        </p:nvSpPr>
        <p:spPr>
          <a:xfrm>
            <a:off x="11810598" y="6394001"/>
            <a:ext cx="228728" cy="228728"/>
          </a:xfrm>
          <a:custGeom>
            <a:avLst/>
            <a:gdLst/>
            <a:ahLst/>
            <a:cxnLst/>
            <a:rect l="l" t="t" r="r" b="b"/>
            <a:pathLst>
              <a:path w="228728" h="228728">
                <a:moveTo>
                  <a:pt x="114364" y="0"/>
                </a:moveTo>
                <a:lnTo>
                  <a:pt x="83962" y="4085"/>
                </a:lnTo>
                <a:lnTo>
                  <a:pt x="56643" y="15614"/>
                </a:lnTo>
                <a:lnTo>
                  <a:pt x="33496" y="33496"/>
                </a:lnTo>
                <a:lnTo>
                  <a:pt x="15614" y="56643"/>
                </a:lnTo>
                <a:lnTo>
                  <a:pt x="4085" y="83962"/>
                </a:lnTo>
                <a:lnTo>
                  <a:pt x="0" y="114364"/>
                </a:lnTo>
                <a:lnTo>
                  <a:pt x="4085" y="144766"/>
                </a:lnTo>
                <a:lnTo>
                  <a:pt x="15614" y="172085"/>
                </a:lnTo>
                <a:lnTo>
                  <a:pt x="33496" y="195232"/>
                </a:lnTo>
                <a:lnTo>
                  <a:pt x="56643" y="213114"/>
                </a:lnTo>
                <a:lnTo>
                  <a:pt x="83962" y="224643"/>
                </a:lnTo>
                <a:lnTo>
                  <a:pt x="114364" y="228728"/>
                </a:lnTo>
                <a:lnTo>
                  <a:pt x="144766" y="224643"/>
                </a:lnTo>
                <a:lnTo>
                  <a:pt x="172085" y="213114"/>
                </a:lnTo>
                <a:lnTo>
                  <a:pt x="195232" y="195232"/>
                </a:lnTo>
                <a:lnTo>
                  <a:pt x="213114" y="172085"/>
                </a:lnTo>
                <a:lnTo>
                  <a:pt x="224643" y="144766"/>
                </a:lnTo>
                <a:lnTo>
                  <a:pt x="228728" y="114364"/>
                </a:lnTo>
                <a:lnTo>
                  <a:pt x="224643" y="83962"/>
                </a:lnTo>
                <a:lnTo>
                  <a:pt x="213114" y="56643"/>
                </a:lnTo>
                <a:lnTo>
                  <a:pt x="195232" y="33496"/>
                </a:lnTo>
                <a:lnTo>
                  <a:pt x="172085" y="15614"/>
                </a:lnTo>
                <a:lnTo>
                  <a:pt x="144766" y="4085"/>
                </a:lnTo>
                <a:lnTo>
                  <a:pt x="11436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1" name="Shape 9"/>
          <p:cNvSpPr/>
          <p:nvPr/>
        </p:nvSpPr>
        <p:spPr>
          <a:xfrm>
            <a:off x="2933921" y="4044666"/>
            <a:ext cx="330385" cy="44667"/>
          </a:xfrm>
          <a:custGeom>
            <a:avLst/>
            <a:gdLst/>
            <a:ahLst/>
            <a:cxnLst/>
            <a:rect l="l" t="t" r="r" b="b"/>
            <a:pathLst>
              <a:path w="330385" h="44667">
                <a:moveTo>
                  <a:pt x="330385" y="0"/>
                </a:moveTo>
                <a:lnTo>
                  <a:pt x="0" y="0"/>
                </a:lnTo>
                <a:lnTo>
                  <a:pt x="0" y="44667"/>
                </a:lnTo>
                <a:lnTo>
                  <a:pt x="330385" y="44667"/>
                </a:lnTo>
                <a:lnTo>
                  <a:pt x="330385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2" name="Shape 10"/>
          <p:cNvSpPr/>
          <p:nvPr/>
        </p:nvSpPr>
        <p:spPr>
          <a:xfrm>
            <a:off x="5930911" y="4044666"/>
            <a:ext cx="330385" cy="44667"/>
          </a:xfrm>
          <a:custGeom>
            <a:avLst/>
            <a:gdLst/>
            <a:ahLst/>
            <a:cxnLst/>
            <a:rect l="l" t="t" r="r" b="b"/>
            <a:pathLst>
              <a:path w="330385" h="44667">
                <a:moveTo>
                  <a:pt x="330385" y="0"/>
                </a:moveTo>
                <a:lnTo>
                  <a:pt x="0" y="0"/>
                </a:lnTo>
                <a:lnTo>
                  <a:pt x="0" y="44667"/>
                </a:lnTo>
                <a:lnTo>
                  <a:pt x="330385" y="44667"/>
                </a:lnTo>
                <a:lnTo>
                  <a:pt x="330385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8927901" y="4044666"/>
            <a:ext cx="330385" cy="44667"/>
          </a:xfrm>
          <a:custGeom>
            <a:avLst/>
            <a:gdLst/>
            <a:ahLst/>
            <a:cxnLst/>
            <a:rect l="l" t="t" r="r" b="b"/>
            <a:pathLst>
              <a:path w="330385" h="44667">
                <a:moveTo>
                  <a:pt x="330385" y="0"/>
                </a:moveTo>
                <a:lnTo>
                  <a:pt x="0" y="0"/>
                </a:lnTo>
                <a:lnTo>
                  <a:pt x="0" y="44667"/>
                </a:lnTo>
                <a:lnTo>
                  <a:pt x="330385" y="44667"/>
                </a:lnTo>
                <a:lnTo>
                  <a:pt x="330385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11086750" y="279380"/>
            <a:ext cx="354259" cy="495577"/>
          </a:xfrm>
          <a:custGeom>
            <a:avLst/>
            <a:gdLst/>
            <a:ahLst/>
            <a:cxnLst/>
            <a:rect l="l" t="t" r="r" b="b"/>
            <a:pathLst>
              <a:path w="354259" h="495577">
                <a:moveTo>
                  <a:pt x="354259" y="0"/>
                </a:moveTo>
                <a:lnTo>
                  <a:pt x="0" y="0"/>
                </a:lnTo>
                <a:lnTo>
                  <a:pt x="0" y="354363"/>
                </a:lnTo>
                <a:lnTo>
                  <a:pt x="231627" y="354363"/>
                </a:lnTo>
                <a:lnTo>
                  <a:pt x="354259" y="495577"/>
                </a:lnTo>
                <a:lnTo>
                  <a:pt x="354259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11520773" y="279380"/>
            <a:ext cx="354259" cy="495577"/>
          </a:xfrm>
          <a:custGeom>
            <a:avLst/>
            <a:gdLst/>
            <a:ahLst/>
            <a:cxnLst/>
            <a:rect l="l" t="t" r="r" b="b"/>
            <a:pathLst>
              <a:path w="354259" h="495577">
                <a:moveTo>
                  <a:pt x="354259" y="0"/>
                </a:moveTo>
                <a:lnTo>
                  <a:pt x="0" y="0"/>
                </a:lnTo>
                <a:lnTo>
                  <a:pt x="0" y="354363"/>
                </a:lnTo>
                <a:lnTo>
                  <a:pt x="231627" y="354363"/>
                </a:lnTo>
                <a:lnTo>
                  <a:pt x="354259" y="495577"/>
                </a:lnTo>
                <a:lnTo>
                  <a:pt x="354259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2829697" y="682163"/>
            <a:ext cx="7495637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DeepSeek四大超能力揭秘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9177" y="2118934"/>
            <a:ext cx="1857462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超能力一：写代码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0602" y="2765265"/>
            <a:ext cx="2214612" cy="169183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就像拥有24小时待命的编程家教，只需描述需求，DeepSeek就能生成完整可用的代码，让编程新手也能快速上手。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0859" y="2118934"/>
            <a:ext cx="1857462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超能力二：解释代码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32284" y="2765265"/>
            <a:ext cx="2214612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扮演翻译官角色，将复杂的程序语言翻译成通俗易懂的人话，帮助你理解每一行代码的作用。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32541" y="2118934"/>
            <a:ext cx="1857462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超能力三：改Bug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53966" y="2765265"/>
            <a:ext cx="2214612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化身程序医生，快速诊断代码中的错误并给出修复方案，再也不用为报错信息头疼了。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54223" y="2118934"/>
            <a:ext cx="1857462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超能力四：优化代码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75648" y="2797797"/>
            <a:ext cx="2214612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像经验丰富的教练，帮助提升代码的运行效率和可读性，让你的程序跑得更快、更优雅。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95250" y="17780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1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2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3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" y="2921000"/>
            <a:ext cx="12191365" cy="95250"/>
          </a:xfrm>
          <a:custGeom>
            <a:avLst/>
            <a:gdLst/>
            <a:ahLst/>
            <a:cxnLst/>
            <a:rect l="l" t="t" r="r" b="b"/>
            <a:pathLst>
              <a:path w="12191365" h="95250">
                <a:moveTo>
                  <a:pt x="0" y="95250"/>
                </a:moveTo>
                <a:lnTo>
                  <a:pt x="12191365" y="95250"/>
                </a:lnTo>
                <a:lnTo>
                  <a:pt x="12191365" y="0"/>
                </a:lnTo>
                <a:lnTo>
                  <a:pt x="0" y="0"/>
                </a:lnTo>
                <a:lnTo>
                  <a:pt x="0" y="9525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3" name="Shape 1"/>
          <p:cNvSpPr/>
          <p:nvPr/>
        </p:nvSpPr>
        <p:spPr>
          <a:xfrm>
            <a:off x="10908962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342534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Text 3"/>
          <p:cNvSpPr/>
          <p:nvPr/>
        </p:nvSpPr>
        <p:spPr>
          <a:xfrm>
            <a:off x="2027963" y="1449790"/>
            <a:ext cx="8136074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提示词技巧：与AI对话的秘诀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667000"/>
            <a:ext cx="533400" cy="5334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7" name="Shape 5"/>
          <p:cNvSpPr/>
          <p:nvPr/>
        </p:nvSpPr>
        <p:spPr>
          <a:xfrm>
            <a:off x="4267200" y="2703195"/>
            <a:ext cx="533400" cy="5334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8" name="Shape 6"/>
          <p:cNvSpPr/>
          <p:nvPr/>
        </p:nvSpPr>
        <p:spPr>
          <a:xfrm>
            <a:off x="8370570" y="2667000"/>
            <a:ext cx="533400" cy="533400"/>
          </a:xfrm>
          <a:prstGeom prst="ellipse">
            <a:avLst/>
          </a:prstGeom>
          <a:solidFill>
            <a:srgbClr val="DEF101"/>
          </a:solidFill>
        </p:spPr>
      </p:sp>
      <p:sp>
        <p:nvSpPr>
          <p:cNvPr id="9" name="Text 7"/>
          <p:cNvSpPr/>
          <p:nvPr/>
        </p:nvSpPr>
        <p:spPr>
          <a:xfrm>
            <a:off x="262635" y="3429000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提示词四要素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95" y="3864175"/>
            <a:ext cx="3022254" cy="1742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好提示词就像魔法咒语，需要包含四个要素：明确角色设定、具体任务描述、清晰输入数据、明确输出格式要求。掌握这些，AI就能精准响应你的需求。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09604" y="3429000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坏例子警示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96964" y="3864175"/>
            <a:ext cx="3022254" cy="1183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❌ 坏例子：帮我画个图。太模糊！AI不知道你要画什么图、用什么工具、数据在哪里，结果往往令人失望。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11349" y="3429000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好例子示范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8709" y="3864175"/>
            <a:ext cx="3022254" cy="1742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✅ 好例子：请用Python的matplotlib库绘制汞同位素丰度散点图，X轴为质量数202-204，Y轴为相对丰度百分比，添加标题和坐标轴标签。具体明确，AI才能给出满意答案！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1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2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3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16-d2sjfl61bb2p4onbq0tg.png"/>
          <p:cNvPicPr>
            <a:picLocks noChangeAspect="1"/>
          </p:cNvPicPr>
          <p:nvPr/>
        </p:nvPicPr>
        <p:blipFill>
          <a:blip r:embed="rId1"/>
          <a:srcRect l="8612"/>
          <a:stretch>
            <a:fillRect/>
          </a:stretch>
        </p:blipFill>
        <p:spPr>
          <a:xfrm>
            <a:off x="635" y="2374900"/>
            <a:ext cx="5660390" cy="3322320"/>
          </a:xfrm>
          <a:prstGeom prst="rect">
            <a:avLst/>
          </a:prstGeom>
        </p:spPr>
      </p:pic>
      <p:pic>
        <p:nvPicPr>
          <p:cNvPr id="3" name="Image 1" descr="https://kimi-img.moonshot.cn/pub/slides/slides_tmpl/image/25-09-04-14:55:16-d2sjfl61bb2p4onbq0tg.png"/>
          <p:cNvPicPr>
            <a:picLocks noChangeAspect="1"/>
          </p:cNvPicPr>
          <p:nvPr/>
        </p:nvPicPr>
        <p:blipFill>
          <a:blip r:embed="rId1"/>
          <a:srcRect l="8612"/>
          <a:stretch>
            <a:fillRect/>
          </a:stretch>
        </p:blipFill>
        <p:spPr>
          <a:xfrm rot="10800000">
            <a:off x="6629400" y="2374900"/>
            <a:ext cx="5660390" cy="3322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0908962" y="323827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1"/>
          <p:cNvSpPr/>
          <p:nvPr/>
        </p:nvSpPr>
        <p:spPr>
          <a:xfrm>
            <a:off x="11342534" y="323827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Shape 2"/>
          <p:cNvSpPr/>
          <p:nvPr/>
        </p:nvSpPr>
        <p:spPr>
          <a:xfrm>
            <a:off x="11670908" y="5262640"/>
            <a:ext cx="336546" cy="225648"/>
          </a:xfrm>
          <a:custGeom>
            <a:avLst/>
            <a:gdLst/>
            <a:ahLst/>
            <a:cxnLst/>
            <a:rect l="l" t="t" r="r" b="b"/>
            <a:pathLst>
              <a:path w="336546" h="225648">
                <a:moveTo>
                  <a:pt x="116038" y="0"/>
                </a:moveTo>
                <a:lnTo>
                  <a:pt x="0" y="116076"/>
                </a:lnTo>
                <a:lnTo>
                  <a:pt x="116369" y="225648"/>
                </a:lnTo>
                <a:lnTo>
                  <a:pt x="137501" y="203193"/>
                </a:lnTo>
                <a:lnTo>
                  <a:pt x="57721" y="128076"/>
                </a:lnTo>
                <a:lnTo>
                  <a:pt x="336546" y="128076"/>
                </a:lnTo>
                <a:lnTo>
                  <a:pt x="336546" y="97242"/>
                </a:lnTo>
                <a:lnTo>
                  <a:pt x="62419" y="97242"/>
                </a:lnTo>
                <a:lnTo>
                  <a:pt x="137832" y="21801"/>
                </a:lnTo>
                <a:lnTo>
                  <a:pt x="116038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7" name="Shape 3"/>
          <p:cNvSpPr/>
          <p:nvPr/>
        </p:nvSpPr>
        <p:spPr>
          <a:xfrm>
            <a:off x="635" y="6133465"/>
            <a:ext cx="12191365" cy="723900"/>
          </a:xfrm>
          <a:custGeom>
            <a:avLst/>
            <a:gdLst/>
            <a:ahLst/>
            <a:cxnLst/>
            <a:rect l="l" t="t" r="r" b="b"/>
            <a:pathLst>
              <a:path w="12191365" h="723900">
                <a:moveTo>
                  <a:pt x="0" y="0"/>
                </a:moveTo>
                <a:lnTo>
                  <a:pt x="12191365" y="0"/>
                </a:lnTo>
                <a:lnTo>
                  <a:pt x="1219136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Text 4"/>
          <p:cNvSpPr/>
          <p:nvPr/>
        </p:nvSpPr>
        <p:spPr>
          <a:xfrm>
            <a:off x="2456180" y="1231583"/>
            <a:ext cx="748411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动手试试：让AI生成第一行代码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937368" y="5227080"/>
            <a:ext cx="336546" cy="225648"/>
          </a:xfrm>
          <a:custGeom>
            <a:avLst/>
            <a:gdLst/>
            <a:ahLst/>
            <a:cxnLst/>
            <a:rect l="l" t="t" r="r" b="b"/>
            <a:pathLst>
              <a:path w="336546" h="225648">
                <a:moveTo>
                  <a:pt x="116038" y="0"/>
                </a:moveTo>
                <a:lnTo>
                  <a:pt x="0" y="116076"/>
                </a:lnTo>
                <a:lnTo>
                  <a:pt x="116369" y="225648"/>
                </a:lnTo>
                <a:lnTo>
                  <a:pt x="137501" y="203193"/>
                </a:lnTo>
                <a:lnTo>
                  <a:pt x="57721" y="128076"/>
                </a:lnTo>
                <a:lnTo>
                  <a:pt x="336546" y="128076"/>
                </a:lnTo>
                <a:lnTo>
                  <a:pt x="336546" y="97242"/>
                </a:lnTo>
                <a:lnTo>
                  <a:pt x="62419" y="97242"/>
                </a:lnTo>
                <a:lnTo>
                  <a:pt x="137832" y="21801"/>
                </a:lnTo>
                <a:lnTo>
                  <a:pt x="116038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0" name="Text 6"/>
          <p:cNvSpPr/>
          <p:nvPr/>
        </p:nvSpPr>
        <p:spPr>
          <a:xfrm>
            <a:off x="616061" y="2834457"/>
            <a:ext cx="4321172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实践任务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63458" y="3424630"/>
            <a:ext cx="4826379" cy="105167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现在打开DeepSeek，输入提示词：请用Python写一段代码，读取汞同位素数据并计算各同位素丰度的平均值。观察AI如何回应，体验人机协作编程的魅力！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254768" y="2801999"/>
            <a:ext cx="4321172" cy="459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预期代码示例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002165" y="3392173"/>
            <a:ext cx="4826379" cy="169183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AI可能生成如下代码：import pandas as pd; data = pd.read_csv('mercury_isotopes.csv'); avg_abundance = data['abundance'].mean(); print(f'平均丰度: {avg_abundance}')。这段代码展示了导入库、读取数据、计算均值和输出结果的完整流程。</a:t>
            </a:r>
            <a:endParaRPr lang="en-US" sz="16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15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6" name="图片 15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环境搭建准备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428355" y="51054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10421" y="984181"/>
            <a:ext cx="3225686" cy="5613086"/>
          </a:xfrm>
          <a:custGeom>
            <a:avLst/>
            <a:gdLst/>
            <a:ahLst/>
            <a:cxnLst/>
            <a:rect l="l" t="t" r="r" b="b"/>
            <a:pathLst>
              <a:path w="3225686" h="5613086">
                <a:moveTo>
                  <a:pt x="2986776" y="0"/>
                </a:moveTo>
                <a:lnTo>
                  <a:pt x="238916" y="0"/>
                </a:lnTo>
                <a:lnTo>
                  <a:pt x="208948" y="1861"/>
                </a:lnTo>
                <a:lnTo>
                  <a:pt x="180089" y="7296"/>
                </a:lnTo>
                <a:lnTo>
                  <a:pt x="152566" y="16081"/>
                </a:lnTo>
                <a:lnTo>
                  <a:pt x="126601" y="27991"/>
                </a:lnTo>
                <a:lnTo>
                  <a:pt x="102419" y="42803"/>
                </a:lnTo>
                <a:lnTo>
                  <a:pt x="80243" y="60293"/>
                </a:lnTo>
                <a:lnTo>
                  <a:pt x="60297" y="80238"/>
                </a:lnTo>
                <a:lnTo>
                  <a:pt x="42806" y="102412"/>
                </a:lnTo>
                <a:lnTo>
                  <a:pt x="27993" y="126593"/>
                </a:lnTo>
                <a:lnTo>
                  <a:pt x="16082" y="152557"/>
                </a:lnTo>
                <a:lnTo>
                  <a:pt x="7296" y="180080"/>
                </a:lnTo>
                <a:lnTo>
                  <a:pt x="1861" y="208937"/>
                </a:lnTo>
                <a:lnTo>
                  <a:pt x="0" y="238905"/>
                </a:lnTo>
                <a:lnTo>
                  <a:pt x="0" y="5374181"/>
                </a:lnTo>
                <a:lnTo>
                  <a:pt x="1861" y="5404149"/>
                </a:lnTo>
                <a:lnTo>
                  <a:pt x="7296" y="5433006"/>
                </a:lnTo>
                <a:lnTo>
                  <a:pt x="16082" y="5460529"/>
                </a:lnTo>
                <a:lnTo>
                  <a:pt x="27993" y="5486492"/>
                </a:lnTo>
                <a:lnTo>
                  <a:pt x="42806" y="5510673"/>
                </a:lnTo>
                <a:lnTo>
                  <a:pt x="60297" y="5532848"/>
                </a:lnTo>
                <a:lnTo>
                  <a:pt x="80243" y="5552793"/>
                </a:lnTo>
                <a:lnTo>
                  <a:pt x="102419" y="5570283"/>
                </a:lnTo>
                <a:lnTo>
                  <a:pt x="126601" y="5585095"/>
                </a:lnTo>
                <a:lnTo>
                  <a:pt x="152566" y="5597005"/>
                </a:lnTo>
                <a:lnTo>
                  <a:pt x="180089" y="5605790"/>
                </a:lnTo>
                <a:lnTo>
                  <a:pt x="208948" y="5611225"/>
                </a:lnTo>
                <a:lnTo>
                  <a:pt x="238916" y="5613086"/>
                </a:lnTo>
                <a:lnTo>
                  <a:pt x="2986776" y="5613086"/>
                </a:lnTo>
                <a:lnTo>
                  <a:pt x="3016744" y="5611225"/>
                </a:lnTo>
                <a:lnTo>
                  <a:pt x="3045602" y="5605790"/>
                </a:lnTo>
                <a:lnTo>
                  <a:pt x="3073125" y="5597005"/>
                </a:lnTo>
                <a:lnTo>
                  <a:pt x="3099089" y="5585095"/>
                </a:lnTo>
                <a:lnTo>
                  <a:pt x="3123271" y="5570283"/>
                </a:lnTo>
                <a:lnTo>
                  <a:pt x="3145447" y="5552793"/>
                </a:lnTo>
                <a:lnTo>
                  <a:pt x="3165391" y="5532848"/>
                </a:lnTo>
                <a:lnTo>
                  <a:pt x="3182882" y="5510673"/>
                </a:lnTo>
                <a:lnTo>
                  <a:pt x="3197694" y="5486492"/>
                </a:lnTo>
                <a:lnTo>
                  <a:pt x="3209605" y="5460529"/>
                </a:lnTo>
                <a:lnTo>
                  <a:pt x="3218390" y="5433006"/>
                </a:lnTo>
                <a:lnTo>
                  <a:pt x="3223825" y="5404149"/>
                </a:lnTo>
                <a:lnTo>
                  <a:pt x="3225686" y="5374181"/>
                </a:lnTo>
                <a:lnTo>
                  <a:pt x="3225686" y="238905"/>
                </a:lnTo>
                <a:lnTo>
                  <a:pt x="3223825" y="208937"/>
                </a:lnTo>
                <a:lnTo>
                  <a:pt x="3218390" y="180080"/>
                </a:lnTo>
                <a:lnTo>
                  <a:pt x="3209605" y="152557"/>
                </a:lnTo>
                <a:lnTo>
                  <a:pt x="3197694" y="126593"/>
                </a:lnTo>
                <a:lnTo>
                  <a:pt x="3182882" y="102412"/>
                </a:lnTo>
                <a:lnTo>
                  <a:pt x="3165391" y="80238"/>
                </a:lnTo>
                <a:lnTo>
                  <a:pt x="3145447" y="60293"/>
                </a:lnTo>
                <a:lnTo>
                  <a:pt x="3123271" y="42803"/>
                </a:lnTo>
                <a:lnTo>
                  <a:pt x="3099089" y="27991"/>
                </a:lnTo>
                <a:lnTo>
                  <a:pt x="3073125" y="16081"/>
                </a:lnTo>
                <a:lnTo>
                  <a:pt x="3045602" y="7296"/>
                </a:lnTo>
                <a:lnTo>
                  <a:pt x="3016744" y="1861"/>
                </a:lnTo>
                <a:lnTo>
                  <a:pt x="2986776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356001" y="984181"/>
            <a:ext cx="8032447" cy="1778228"/>
          </a:xfrm>
          <a:custGeom>
            <a:avLst/>
            <a:gdLst/>
            <a:ahLst/>
            <a:cxnLst/>
            <a:rect l="l" t="t" r="r" b="b"/>
            <a:pathLst>
              <a:path w="8032447" h="1778228">
                <a:moveTo>
                  <a:pt x="7759484" y="0"/>
                </a:moveTo>
                <a:lnTo>
                  <a:pt x="272969" y="0"/>
                </a:lnTo>
                <a:lnTo>
                  <a:pt x="243227" y="1602"/>
                </a:lnTo>
                <a:lnTo>
                  <a:pt x="214412" y="6297"/>
                </a:lnTo>
                <a:lnTo>
                  <a:pt x="186690" y="13918"/>
                </a:lnTo>
                <a:lnTo>
                  <a:pt x="160230" y="24300"/>
                </a:lnTo>
                <a:lnTo>
                  <a:pt x="135197" y="37274"/>
                </a:lnTo>
                <a:lnTo>
                  <a:pt x="111758" y="52676"/>
                </a:lnTo>
                <a:lnTo>
                  <a:pt x="90078" y="70337"/>
                </a:lnTo>
                <a:lnTo>
                  <a:pt x="70326" y="90093"/>
                </a:lnTo>
                <a:lnTo>
                  <a:pt x="52668" y="111775"/>
                </a:lnTo>
                <a:lnTo>
                  <a:pt x="37268" y="135217"/>
                </a:lnTo>
                <a:lnTo>
                  <a:pt x="24296" y="160254"/>
                </a:lnTo>
                <a:lnTo>
                  <a:pt x="13916" y="186718"/>
                </a:lnTo>
                <a:lnTo>
                  <a:pt x="6296" y="214443"/>
                </a:lnTo>
                <a:lnTo>
                  <a:pt x="1602" y="243262"/>
                </a:lnTo>
                <a:lnTo>
                  <a:pt x="0" y="273009"/>
                </a:lnTo>
                <a:lnTo>
                  <a:pt x="0" y="1505219"/>
                </a:lnTo>
                <a:lnTo>
                  <a:pt x="1602" y="1534966"/>
                </a:lnTo>
                <a:lnTo>
                  <a:pt x="6296" y="1563785"/>
                </a:lnTo>
                <a:lnTo>
                  <a:pt x="13916" y="1591510"/>
                </a:lnTo>
                <a:lnTo>
                  <a:pt x="24296" y="1617974"/>
                </a:lnTo>
                <a:lnTo>
                  <a:pt x="37268" y="1643011"/>
                </a:lnTo>
                <a:lnTo>
                  <a:pt x="52668" y="1666453"/>
                </a:lnTo>
                <a:lnTo>
                  <a:pt x="70326" y="1688135"/>
                </a:lnTo>
                <a:lnTo>
                  <a:pt x="90078" y="1707891"/>
                </a:lnTo>
                <a:lnTo>
                  <a:pt x="111758" y="1725552"/>
                </a:lnTo>
                <a:lnTo>
                  <a:pt x="135197" y="1740954"/>
                </a:lnTo>
                <a:lnTo>
                  <a:pt x="160230" y="1753928"/>
                </a:lnTo>
                <a:lnTo>
                  <a:pt x="186690" y="1764310"/>
                </a:lnTo>
                <a:lnTo>
                  <a:pt x="214412" y="1771931"/>
                </a:lnTo>
                <a:lnTo>
                  <a:pt x="243227" y="1776626"/>
                </a:lnTo>
                <a:lnTo>
                  <a:pt x="272969" y="1778228"/>
                </a:lnTo>
                <a:lnTo>
                  <a:pt x="7759484" y="1778228"/>
                </a:lnTo>
                <a:lnTo>
                  <a:pt x="7789227" y="1776626"/>
                </a:lnTo>
                <a:lnTo>
                  <a:pt x="7818042" y="1771931"/>
                </a:lnTo>
                <a:lnTo>
                  <a:pt x="7845762" y="1764310"/>
                </a:lnTo>
                <a:lnTo>
                  <a:pt x="7872222" y="1753928"/>
                </a:lnTo>
                <a:lnTo>
                  <a:pt x="7897255" y="1740954"/>
                </a:lnTo>
                <a:lnTo>
                  <a:pt x="7920693" y="1725552"/>
                </a:lnTo>
                <a:lnTo>
                  <a:pt x="7942372" y="1707891"/>
                </a:lnTo>
                <a:lnTo>
                  <a:pt x="7962123" y="1688135"/>
                </a:lnTo>
                <a:lnTo>
                  <a:pt x="7979782" y="1666453"/>
                </a:lnTo>
                <a:lnTo>
                  <a:pt x="7995180" y="1643011"/>
                </a:lnTo>
                <a:lnTo>
                  <a:pt x="8008153" y="1617974"/>
                </a:lnTo>
                <a:lnTo>
                  <a:pt x="8018531" y="1591510"/>
                </a:lnTo>
                <a:lnTo>
                  <a:pt x="8026152" y="1563785"/>
                </a:lnTo>
                <a:lnTo>
                  <a:pt x="8030845" y="1534966"/>
                </a:lnTo>
                <a:lnTo>
                  <a:pt x="8032447" y="1505219"/>
                </a:lnTo>
                <a:lnTo>
                  <a:pt x="8032447" y="273009"/>
                </a:lnTo>
                <a:lnTo>
                  <a:pt x="8030845" y="243262"/>
                </a:lnTo>
                <a:lnTo>
                  <a:pt x="8026152" y="214443"/>
                </a:lnTo>
                <a:lnTo>
                  <a:pt x="8018531" y="186718"/>
                </a:lnTo>
                <a:lnTo>
                  <a:pt x="8008153" y="160254"/>
                </a:lnTo>
                <a:lnTo>
                  <a:pt x="7995180" y="135217"/>
                </a:lnTo>
                <a:lnTo>
                  <a:pt x="7979782" y="111775"/>
                </a:lnTo>
                <a:lnTo>
                  <a:pt x="7962123" y="90093"/>
                </a:lnTo>
                <a:lnTo>
                  <a:pt x="7942372" y="70337"/>
                </a:lnTo>
                <a:lnTo>
                  <a:pt x="7920693" y="52676"/>
                </a:lnTo>
                <a:lnTo>
                  <a:pt x="7897255" y="37274"/>
                </a:lnTo>
                <a:lnTo>
                  <a:pt x="7872222" y="24300"/>
                </a:lnTo>
                <a:lnTo>
                  <a:pt x="7845762" y="13918"/>
                </a:lnTo>
                <a:lnTo>
                  <a:pt x="7818042" y="6297"/>
                </a:lnTo>
                <a:lnTo>
                  <a:pt x="7789227" y="1602"/>
                </a:lnTo>
                <a:lnTo>
                  <a:pt x="7759484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7870699" y="1075475"/>
            <a:ext cx="388145" cy="388145"/>
          </a:xfrm>
          <a:custGeom>
            <a:avLst/>
            <a:gdLst/>
            <a:ahLst/>
            <a:cxnLst/>
            <a:rect l="l" t="t" r="r" b="b"/>
            <a:pathLst>
              <a:path w="388145" h="388145">
                <a:moveTo>
                  <a:pt x="194076" y="0"/>
                </a:moveTo>
                <a:lnTo>
                  <a:pt x="165397" y="2104"/>
                </a:lnTo>
                <a:lnTo>
                  <a:pt x="138024" y="8216"/>
                </a:lnTo>
                <a:lnTo>
                  <a:pt x="112258" y="18037"/>
                </a:lnTo>
                <a:lnTo>
                  <a:pt x="88399" y="31265"/>
                </a:lnTo>
                <a:lnTo>
                  <a:pt x="66748" y="47602"/>
                </a:lnTo>
                <a:lnTo>
                  <a:pt x="47603" y="66745"/>
                </a:lnTo>
                <a:lnTo>
                  <a:pt x="31267" y="88397"/>
                </a:lnTo>
                <a:lnTo>
                  <a:pt x="18038" y="112255"/>
                </a:lnTo>
                <a:lnTo>
                  <a:pt x="8216" y="138021"/>
                </a:lnTo>
                <a:lnTo>
                  <a:pt x="2104" y="165393"/>
                </a:lnTo>
                <a:lnTo>
                  <a:pt x="0" y="194072"/>
                </a:lnTo>
                <a:lnTo>
                  <a:pt x="2104" y="222752"/>
                </a:lnTo>
                <a:lnTo>
                  <a:pt x="8216" y="250124"/>
                </a:lnTo>
                <a:lnTo>
                  <a:pt x="18038" y="275890"/>
                </a:lnTo>
                <a:lnTo>
                  <a:pt x="31267" y="299749"/>
                </a:lnTo>
                <a:lnTo>
                  <a:pt x="47603" y="321399"/>
                </a:lnTo>
                <a:lnTo>
                  <a:pt x="66748" y="340543"/>
                </a:lnTo>
                <a:lnTo>
                  <a:pt x="88399" y="356880"/>
                </a:lnTo>
                <a:lnTo>
                  <a:pt x="112258" y="370108"/>
                </a:lnTo>
                <a:lnTo>
                  <a:pt x="138024" y="379928"/>
                </a:lnTo>
                <a:lnTo>
                  <a:pt x="165397" y="386041"/>
                </a:lnTo>
                <a:lnTo>
                  <a:pt x="194076" y="388145"/>
                </a:lnTo>
                <a:lnTo>
                  <a:pt x="222753" y="386041"/>
                </a:lnTo>
                <a:lnTo>
                  <a:pt x="250124" y="379928"/>
                </a:lnTo>
                <a:lnTo>
                  <a:pt x="275889" y="370108"/>
                </a:lnTo>
                <a:lnTo>
                  <a:pt x="299748" y="356880"/>
                </a:lnTo>
                <a:lnTo>
                  <a:pt x="321398" y="340543"/>
                </a:lnTo>
                <a:lnTo>
                  <a:pt x="340542" y="321399"/>
                </a:lnTo>
                <a:lnTo>
                  <a:pt x="356879" y="299749"/>
                </a:lnTo>
                <a:lnTo>
                  <a:pt x="370108" y="275890"/>
                </a:lnTo>
                <a:lnTo>
                  <a:pt x="379928" y="250124"/>
                </a:lnTo>
                <a:lnTo>
                  <a:pt x="386041" y="222752"/>
                </a:lnTo>
                <a:lnTo>
                  <a:pt x="388145" y="194072"/>
                </a:lnTo>
                <a:lnTo>
                  <a:pt x="386041" y="165393"/>
                </a:lnTo>
                <a:lnTo>
                  <a:pt x="379928" y="138021"/>
                </a:lnTo>
                <a:lnTo>
                  <a:pt x="370108" y="112255"/>
                </a:lnTo>
                <a:lnTo>
                  <a:pt x="356879" y="88397"/>
                </a:lnTo>
                <a:lnTo>
                  <a:pt x="340542" y="66745"/>
                </a:lnTo>
                <a:lnTo>
                  <a:pt x="321398" y="47602"/>
                </a:lnTo>
                <a:lnTo>
                  <a:pt x="299748" y="31265"/>
                </a:lnTo>
                <a:lnTo>
                  <a:pt x="275889" y="18037"/>
                </a:lnTo>
                <a:lnTo>
                  <a:pt x="250124" y="8216"/>
                </a:lnTo>
                <a:lnTo>
                  <a:pt x="222753" y="2104"/>
                </a:lnTo>
                <a:lnTo>
                  <a:pt x="194076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5" name="Shape 3"/>
          <p:cNvSpPr/>
          <p:nvPr>
            <p:custDataLst>
              <p:tags r:id="rId3"/>
            </p:custDataLst>
          </p:nvPr>
        </p:nvSpPr>
        <p:spPr>
          <a:xfrm>
            <a:off x="356001" y="2901746"/>
            <a:ext cx="8032447" cy="1778228"/>
          </a:xfrm>
          <a:custGeom>
            <a:avLst/>
            <a:gdLst/>
            <a:ahLst/>
            <a:cxnLst/>
            <a:rect l="l" t="t" r="r" b="b"/>
            <a:pathLst>
              <a:path w="8032447" h="1778228">
                <a:moveTo>
                  <a:pt x="7759484" y="0"/>
                </a:moveTo>
                <a:lnTo>
                  <a:pt x="272969" y="0"/>
                </a:lnTo>
                <a:lnTo>
                  <a:pt x="243227" y="1602"/>
                </a:lnTo>
                <a:lnTo>
                  <a:pt x="214412" y="6297"/>
                </a:lnTo>
                <a:lnTo>
                  <a:pt x="186690" y="13918"/>
                </a:lnTo>
                <a:lnTo>
                  <a:pt x="160230" y="24300"/>
                </a:lnTo>
                <a:lnTo>
                  <a:pt x="135197" y="37274"/>
                </a:lnTo>
                <a:lnTo>
                  <a:pt x="111758" y="52676"/>
                </a:lnTo>
                <a:lnTo>
                  <a:pt x="90078" y="70337"/>
                </a:lnTo>
                <a:lnTo>
                  <a:pt x="70326" y="90093"/>
                </a:lnTo>
                <a:lnTo>
                  <a:pt x="52668" y="111775"/>
                </a:lnTo>
                <a:lnTo>
                  <a:pt x="37268" y="135217"/>
                </a:lnTo>
                <a:lnTo>
                  <a:pt x="24296" y="160254"/>
                </a:lnTo>
                <a:lnTo>
                  <a:pt x="13916" y="186718"/>
                </a:lnTo>
                <a:lnTo>
                  <a:pt x="6296" y="214443"/>
                </a:lnTo>
                <a:lnTo>
                  <a:pt x="1602" y="243262"/>
                </a:lnTo>
                <a:lnTo>
                  <a:pt x="0" y="273009"/>
                </a:lnTo>
                <a:lnTo>
                  <a:pt x="0" y="1505219"/>
                </a:lnTo>
                <a:lnTo>
                  <a:pt x="1602" y="1534966"/>
                </a:lnTo>
                <a:lnTo>
                  <a:pt x="6296" y="1563785"/>
                </a:lnTo>
                <a:lnTo>
                  <a:pt x="13916" y="1591510"/>
                </a:lnTo>
                <a:lnTo>
                  <a:pt x="24296" y="1617974"/>
                </a:lnTo>
                <a:lnTo>
                  <a:pt x="37268" y="1643011"/>
                </a:lnTo>
                <a:lnTo>
                  <a:pt x="52668" y="1666453"/>
                </a:lnTo>
                <a:lnTo>
                  <a:pt x="70326" y="1688135"/>
                </a:lnTo>
                <a:lnTo>
                  <a:pt x="90078" y="1707891"/>
                </a:lnTo>
                <a:lnTo>
                  <a:pt x="111758" y="1725552"/>
                </a:lnTo>
                <a:lnTo>
                  <a:pt x="135197" y="1740954"/>
                </a:lnTo>
                <a:lnTo>
                  <a:pt x="160230" y="1753928"/>
                </a:lnTo>
                <a:lnTo>
                  <a:pt x="186690" y="1764310"/>
                </a:lnTo>
                <a:lnTo>
                  <a:pt x="214412" y="1771931"/>
                </a:lnTo>
                <a:lnTo>
                  <a:pt x="243227" y="1776626"/>
                </a:lnTo>
                <a:lnTo>
                  <a:pt x="272969" y="1778228"/>
                </a:lnTo>
                <a:lnTo>
                  <a:pt x="7759484" y="1778228"/>
                </a:lnTo>
                <a:lnTo>
                  <a:pt x="7789227" y="1776626"/>
                </a:lnTo>
                <a:lnTo>
                  <a:pt x="7818042" y="1771931"/>
                </a:lnTo>
                <a:lnTo>
                  <a:pt x="7845762" y="1764310"/>
                </a:lnTo>
                <a:lnTo>
                  <a:pt x="7872222" y="1753928"/>
                </a:lnTo>
                <a:lnTo>
                  <a:pt x="7897255" y="1740954"/>
                </a:lnTo>
                <a:lnTo>
                  <a:pt x="7920693" y="1725552"/>
                </a:lnTo>
                <a:lnTo>
                  <a:pt x="7942372" y="1707891"/>
                </a:lnTo>
                <a:lnTo>
                  <a:pt x="7962123" y="1688135"/>
                </a:lnTo>
                <a:lnTo>
                  <a:pt x="7979782" y="1666453"/>
                </a:lnTo>
                <a:lnTo>
                  <a:pt x="7995180" y="1643011"/>
                </a:lnTo>
                <a:lnTo>
                  <a:pt x="8008153" y="1617974"/>
                </a:lnTo>
                <a:lnTo>
                  <a:pt x="8018531" y="1591510"/>
                </a:lnTo>
                <a:lnTo>
                  <a:pt x="8026152" y="1563785"/>
                </a:lnTo>
                <a:lnTo>
                  <a:pt x="8030845" y="1534966"/>
                </a:lnTo>
                <a:lnTo>
                  <a:pt x="8032447" y="1505219"/>
                </a:lnTo>
                <a:lnTo>
                  <a:pt x="8032447" y="273009"/>
                </a:lnTo>
                <a:lnTo>
                  <a:pt x="8030845" y="243262"/>
                </a:lnTo>
                <a:lnTo>
                  <a:pt x="8026152" y="214443"/>
                </a:lnTo>
                <a:lnTo>
                  <a:pt x="8018531" y="186718"/>
                </a:lnTo>
                <a:lnTo>
                  <a:pt x="8008153" y="160254"/>
                </a:lnTo>
                <a:lnTo>
                  <a:pt x="7995180" y="135217"/>
                </a:lnTo>
                <a:lnTo>
                  <a:pt x="7979782" y="111775"/>
                </a:lnTo>
                <a:lnTo>
                  <a:pt x="7962123" y="90093"/>
                </a:lnTo>
                <a:lnTo>
                  <a:pt x="7942372" y="70337"/>
                </a:lnTo>
                <a:lnTo>
                  <a:pt x="7920693" y="52676"/>
                </a:lnTo>
                <a:lnTo>
                  <a:pt x="7897255" y="37274"/>
                </a:lnTo>
                <a:lnTo>
                  <a:pt x="7872222" y="24300"/>
                </a:lnTo>
                <a:lnTo>
                  <a:pt x="7845762" y="13918"/>
                </a:lnTo>
                <a:lnTo>
                  <a:pt x="7818042" y="6297"/>
                </a:lnTo>
                <a:lnTo>
                  <a:pt x="7789227" y="1602"/>
                </a:lnTo>
                <a:lnTo>
                  <a:pt x="7759484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6" name="Shape 4"/>
          <p:cNvSpPr/>
          <p:nvPr>
            <p:custDataLst>
              <p:tags r:id="rId4"/>
            </p:custDataLst>
          </p:nvPr>
        </p:nvSpPr>
        <p:spPr>
          <a:xfrm>
            <a:off x="7870699" y="3037488"/>
            <a:ext cx="388145" cy="388145"/>
          </a:xfrm>
          <a:custGeom>
            <a:avLst/>
            <a:gdLst/>
            <a:ahLst/>
            <a:cxnLst/>
            <a:rect l="l" t="t" r="r" b="b"/>
            <a:pathLst>
              <a:path w="388145" h="388145">
                <a:moveTo>
                  <a:pt x="194076" y="0"/>
                </a:moveTo>
                <a:lnTo>
                  <a:pt x="165397" y="2104"/>
                </a:lnTo>
                <a:lnTo>
                  <a:pt x="138024" y="8216"/>
                </a:lnTo>
                <a:lnTo>
                  <a:pt x="112258" y="18037"/>
                </a:lnTo>
                <a:lnTo>
                  <a:pt x="88399" y="31265"/>
                </a:lnTo>
                <a:lnTo>
                  <a:pt x="66748" y="47602"/>
                </a:lnTo>
                <a:lnTo>
                  <a:pt x="47603" y="66745"/>
                </a:lnTo>
                <a:lnTo>
                  <a:pt x="31267" y="88397"/>
                </a:lnTo>
                <a:lnTo>
                  <a:pt x="18038" y="112255"/>
                </a:lnTo>
                <a:lnTo>
                  <a:pt x="8216" y="138021"/>
                </a:lnTo>
                <a:lnTo>
                  <a:pt x="2104" y="165393"/>
                </a:lnTo>
                <a:lnTo>
                  <a:pt x="0" y="194072"/>
                </a:lnTo>
                <a:lnTo>
                  <a:pt x="2104" y="222752"/>
                </a:lnTo>
                <a:lnTo>
                  <a:pt x="8216" y="250124"/>
                </a:lnTo>
                <a:lnTo>
                  <a:pt x="18038" y="275890"/>
                </a:lnTo>
                <a:lnTo>
                  <a:pt x="31267" y="299749"/>
                </a:lnTo>
                <a:lnTo>
                  <a:pt x="47603" y="321399"/>
                </a:lnTo>
                <a:lnTo>
                  <a:pt x="66748" y="340543"/>
                </a:lnTo>
                <a:lnTo>
                  <a:pt x="88399" y="356880"/>
                </a:lnTo>
                <a:lnTo>
                  <a:pt x="112258" y="370108"/>
                </a:lnTo>
                <a:lnTo>
                  <a:pt x="138024" y="379928"/>
                </a:lnTo>
                <a:lnTo>
                  <a:pt x="165397" y="386041"/>
                </a:lnTo>
                <a:lnTo>
                  <a:pt x="194076" y="388145"/>
                </a:lnTo>
                <a:lnTo>
                  <a:pt x="222753" y="386041"/>
                </a:lnTo>
                <a:lnTo>
                  <a:pt x="250124" y="379928"/>
                </a:lnTo>
                <a:lnTo>
                  <a:pt x="275889" y="370108"/>
                </a:lnTo>
                <a:lnTo>
                  <a:pt x="299748" y="356880"/>
                </a:lnTo>
                <a:lnTo>
                  <a:pt x="321398" y="340543"/>
                </a:lnTo>
                <a:lnTo>
                  <a:pt x="340542" y="321399"/>
                </a:lnTo>
                <a:lnTo>
                  <a:pt x="356879" y="299749"/>
                </a:lnTo>
                <a:lnTo>
                  <a:pt x="370108" y="275890"/>
                </a:lnTo>
                <a:lnTo>
                  <a:pt x="379928" y="250124"/>
                </a:lnTo>
                <a:lnTo>
                  <a:pt x="386041" y="222752"/>
                </a:lnTo>
                <a:lnTo>
                  <a:pt x="388145" y="194072"/>
                </a:lnTo>
                <a:lnTo>
                  <a:pt x="386041" y="165393"/>
                </a:lnTo>
                <a:lnTo>
                  <a:pt x="379928" y="138021"/>
                </a:lnTo>
                <a:lnTo>
                  <a:pt x="370108" y="112255"/>
                </a:lnTo>
                <a:lnTo>
                  <a:pt x="356879" y="88397"/>
                </a:lnTo>
                <a:lnTo>
                  <a:pt x="340542" y="66745"/>
                </a:lnTo>
                <a:lnTo>
                  <a:pt x="321398" y="47602"/>
                </a:lnTo>
                <a:lnTo>
                  <a:pt x="299748" y="31265"/>
                </a:lnTo>
                <a:lnTo>
                  <a:pt x="275889" y="18037"/>
                </a:lnTo>
                <a:lnTo>
                  <a:pt x="250124" y="8216"/>
                </a:lnTo>
                <a:lnTo>
                  <a:pt x="222753" y="2104"/>
                </a:lnTo>
                <a:lnTo>
                  <a:pt x="194076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7" name="Shape 5"/>
          <p:cNvSpPr/>
          <p:nvPr>
            <p:custDataLst>
              <p:tags r:id="rId5"/>
            </p:custDataLst>
          </p:nvPr>
        </p:nvSpPr>
        <p:spPr>
          <a:xfrm>
            <a:off x="356001" y="4819311"/>
            <a:ext cx="8032447" cy="1778228"/>
          </a:xfrm>
          <a:custGeom>
            <a:avLst/>
            <a:gdLst/>
            <a:ahLst/>
            <a:cxnLst/>
            <a:rect l="l" t="t" r="r" b="b"/>
            <a:pathLst>
              <a:path w="8032447" h="1778228">
                <a:moveTo>
                  <a:pt x="7759484" y="0"/>
                </a:moveTo>
                <a:lnTo>
                  <a:pt x="272969" y="0"/>
                </a:lnTo>
                <a:lnTo>
                  <a:pt x="243227" y="1602"/>
                </a:lnTo>
                <a:lnTo>
                  <a:pt x="214412" y="6297"/>
                </a:lnTo>
                <a:lnTo>
                  <a:pt x="186690" y="13918"/>
                </a:lnTo>
                <a:lnTo>
                  <a:pt x="160230" y="24300"/>
                </a:lnTo>
                <a:lnTo>
                  <a:pt x="135197" y="37274"/>
                </a:lnTo>
                <a:lnTo>
                  <a:pt x="111758" y="52676"/>
                </a:lnTo>
                <a:lnTo>
                  <a:pt x="90078" y="70337"/>
                </a:lnTo>
                <a:lnTo>
                  <a:pt x="70326" y="90093"/>
                </a:lnTo>
                <a:lnTo>
                  <a:pt x="52668" y="111775"/>
                </a:lnTo>
                <a:lnTo>
                  <a:pt x="37268" y="135217"/>
                </a:lnTo>
                <a:lnTo>
                  <a:pt x="24296" y="160254"/>
                </a:lnTo>
                <a:lnTo>
                  <a:pt x="13916" y="186718"/>
                </a:lnTo>
                <a:lnTo>
                  <a:pt x="6296" y="214443"/>
                </a:lnTo>
                <a:lnTo>
                  <a:pt x="1602" y="243262"/>
                </a:lnTo>
                <a:lnTo>
                  <a:pt x="0" y="273009"/>
                </a:lnTo>
                <a:lnTo>
                  <a:pt x="0" y="1505219"/>
                </a:lnTo>
                <a:lnTo>
                  <a:pt x="1602" y="1534966"/>
                </a:lnTo>
                <a:lnTo>
                  <a:pt x="6296" y="1563785"/>
                </a:lnTo>
                <a:lnTo>
                  <a:pt x="13916" y="1591510"/>
                </a:lnTo>
                <a:lnTo>
                  <a:pt x="24296" y="1617974"/>
                </a:lnTo>
                <a:lnTo>
                  <a:pt x="37268" y="1643011"/>
                </a:lnTo>
                <a:lnTo>
                  <a:pt x="52668" y="1666453"/>
                </a:lnTo>
                <a:lnTo>
                  <a:pt x="70326" y="1688135"/>
                </a:lnTo>
                <a:lnTo>
                  <a:pt x="90078" y="1707891"/>
                </a:lnTo>
                <a:lnTo>
                  <a:pt x="111758" y="1725552"/>
                </a:lnTo>
                <a:lnTo>
                  <a:pt x="135197" y="1740954"/>
                </a:lnTo>
                <a:lnTo>
                  <a:pt x="160230" y="1753928"/>
                </a:lnTo>
                <a:lnTo>
                  <a:pt x="186690" y="1764310"/>
                </a:lnTo>
                <a:lnTo>
                  <a:pt x="214412" y="1771931"/>
                </a:lnTo>
                <a:lnTo>
                  <a:pt x="243227" y="1776626"/>
                </a:lnTo>
                <a:lnTo>
                  <a:pt x="272969" y="1778228"/>
                </a:lnTo>
                <a:lnTo>
                  <a:pt x="7759484" y="1778228"/>
                </a:lnTo>
                <a:lnTo>
                  <a:pt x="7789227" y="1776626"/>
                </a:lnTo>
                <a:lnTo>
                  <a:pt x="7818042" y="1771931"/>
                </a:lnTo>
                <a:lnTo>
                  <a:pt x="7845762" y="1764310"/>
                </a:lnTo>
                <a:lnTo>
                  <a:pt x="7872222" y="1753928"/>
                </a:lnTo>
                <a:lnTo>
                  <a:pt x="7897255" y="1740954"/>
                </a:lnTo>
                <a:lnTo>
                  <a:pt x="7920693" y="1725552"/>
                </a:lnTo>
                <a:lnTo>
                  <a:pt x="7942372" y="1707891"/>
                </a:lnTo>
                <a:lnTo>
                  <a:pt x="7962123" y="1688135"/>
                </a:lnTo>
                <a:lnTo>
                  <a:pt x="7979782" y="1666453"/>
                </a:lnTo>
                <a:lnTo>
                  <a:pt x="7995180" y="1643011"/>
                </a:lnTo>
                <a:lnTo>
                  <a:pt x="8008153" y="1617974"/>
                </a:lnTo>
                <a:lnTo>
                  <a:pt x="8018531" y="1591510"/>
                </a:lnTo>
                <a:lnTo>
                  <a:pt x="8026152" y="1563785"/>
                </a:lnTo>
                <a:lnTo>
                  <a:pt x="8030845" y="1534966"/>
                </a:lnTo>
                <a:lnTo>
                  <a:pt x="8032447" y="1505219"/>
                </a:lnTo>
                <a:lnTo>
                  <a:pt x="8032447" y="273009"/>
                </a:lnTo>
                <a:lnTo>
                  <a:pt x="8030845" y="243262"/>
                </a:lnTo>
                <a:lnTo>
                  <a:pt x="8026152" y="214443"/>
                </a:lnTo>
                <a:lnTo>
                  <a:pt x="8018531" y="186718"/>
                </a:lnTo>
                <a:lnTo>
                  <a:pt x="8008153" y="160254"/>
                </a:lnTo>
                <a:lnTo>
                  <a:pt x="7995180" y="135217"/>
                </a:lnTo>
                <a:lnTo>
                  <a:pt x="7979782" y="111775"/>
                </a:lnTo>
                <a:lnTo>
                  <a:pt x="7962123" y="90093"/>
                </a:lnTo>
                <a:lnTo>
                  <a:pt x="7942372" y="70337"/>
                </a:lnTo>
                <a:lnTo>
                  <a:pt x="7920693" y="52676"/>
                </a:lnTo>
                <a:lnTo>
                  <a:pt x="7897255" y="37274"/>
                </a:lnTo>
                <a:lnTo>
                  <a:pt x="7872222" y="24300"/>
                </a:lnTo>
                <a:lnTo>
                  <a:pt x="7845762" y="13918"/>
                </a:lnTo>
                <a:lnTo>
                  <a:pt x="7818042" y="6297"/>
                </a:lnTo>
                <a:lnTo>
                  <a:pt x="7789227" y="1602"/>
                </a:lnTo>
                <a:lnTo>
                  <a:pt x="7759484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8" name="Shape 6"/>
          <p:cNvSpPr/>
          <p:nvPr>
            <p:custDataLst>
              <p:tags r:id="rId6"/>
            </p:custDataLst>
          </p:nvPr>
        </p:nvSpPr>
        <p:spPr>
          <a:xfrm>
            <a:off x="7870699" y="4999499"/>
            <a:ext cx="388145" cy="388145"/>
          </a:xfrm>
          <a:custGeom>
            <a:avLst/>
            <a:gdLst/>
            <a:ahLst/>
            <a:cxnLst/>
            <a:rect l="l" t="t" r="r" b="b"/>
            <a:pathLst>
              <a:path w="388145" h="388145">
                <a:moveTo>
                  <a:pt x="194076" y="0"/>
                </a:moveTo>
                <a:lnTo>
                  <a:pt x="165397" y="2104"/>
                </a:lnTo>
                <a:lnTo>
                  <a:pt x="138024" y="8216"/>
                </a:lnTo>
                <a:lnTo>
                  <a:pt x="112258" y="18037"/>
                </a:lnTo>
                <a:lnTo>
                  <a:pt x="88399" y="31265"/>
                </a:lnTo>
                <a:lnTo>
                  <a:pt x="66748" y="47602"/>
                </a:lnTo>
                <a:lnTo>
                  <a:pt x="47603" y="66745"/>
                </a:lnTo>
                <a:lnTo>
                  <a:pt x="31267" y="88397"/>
                </a:lnTo>
                <a:lnTo>
                  <a:pt x="18038" y="112255"/>
                </a:lnTo>
                <a:lnTo>
                  <a:pt x="8216" y="138021"/>
                </a:lnTo>
                <a:lnTo>
                  <a:pt x="2104" y="165393"/>
                </a:lnTo>
                <a:lnTo>
                  <a:pt x="0" y="194072"/>
                </a:lnTo>
                <a:lnTo>
                  <a:pt x="2104" y="222752"/>
                </a:lnTo>
                <a:lnTo>
                  <a:pt x="8216" y="250124"/>
                </a:lnTo>
                <a:lnTo>
                  <a:pt x="18038" y="275890"/>
                </a:lnTo>
                <a:lnTo>
                  <a:pt x="31267" y="299749"/>
                </a:lnTo>
                <a:lnTo>
                  <a:pt x="47603" y="321399"/>
                </a:lnTo>
                <a:lnTo>
                  <a:pt x="66748" y="340543"/>
                </a:lnTo>
                <a:lnTo>
                  <a:pt x="88399" y="356880"/>
                </a:lnTo>
                <a:lnTo>
                  <a:pt x="112258" y="370108"/>
                </a:lnTo>
                <a:lnTo>
                  <a:pt x="138024" y="379928"/>
                </a:lnTo>
                <a:lnTo>
                  <a:pt x="165397" y="386041"/>
                </a:lnTo>
                <a:lnTo>
                  <a:pt x="194076" y="388145"/>
                </a:lnTo>
                <a:lnTo>
                  <a:pt x="222753" y="386041"/>
                </a:lnTo>
                <a:lnTo>
                  <a:pt x="250124" y="379928"/>
                </a:lnTo>
                <a:lnTo>
                  <a:pt x="275889" y="370108"/>
                </a:lnTo>
                <a:lnTo>
                  <a:pt x="299748" y="356880"/>
                </a:lnTo>
                <a:lnTo>
                  <a:pt x="321398" y="340543"/>
                </a:lnTo>
                <a:lnTo>
                  <a:pt x="340542" y="321399"/>
                </a:lnTo>
                <a:lnTo>
                  <a:pt x="356879" y="299749"/>
                </a:lnTo>
                <a:lnTo>
                  <a:pt x="370108" y="275890"/>
                </a:lnTo>
                <a:lnTo>
                  <a:pt x="379928" y="250124"/>
                </a:lnTo>
                <a:lnTo>
                  <a:pt x="386041" y="222752"/>
                </a:lnTo>
                <a:lnTo>
                  <a:pt x="388145" y="194072"/>
                </a:lnTo>
                <a:lnTo>
                  <a:pt x="386041" y="165393"/>
                </a:lnTo>
                <a:lnTo>
                  <a:pt x="379928" y="138021"/>
                </a:lnTo>
                <a:lnTo>
                  <a:pt x="370108" y="112255"/>
                </a:lnTo>
                <a:lnTo>
                  <a:pt x="356879" y="88397"/>
                </a:lnTo>
                <a:lnTo>
                  <a:pt x="340542" y="66745"/>
                </a:lnTo>
                <a:lnTo>
                  <a:pt x="321398" y="47602"/>
                </a:lnTo>
                <a:lnTo>
                  <a:pt x="299748" y="31265"/>
                </a:lnTo>
                <a:lnTo>
                  <a:pt x="275889" y="18037"/>
                </a:lnTo>
                <a:lnTo>
                  <a:pt x="250124" y="8216"/>
                </a:lnTo>
                <a:lnTo>
                  <a:pt x="222753" y="2104"/>
                </a:lnTo>
                <a:lnTo>
                  <a:pt x="194076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9" name="Shape 7"/>
          <p:cNvSpPr/>
          <p:nvPr/>
        </p:nvSpPr>
        <p:spPr>
          <a:xfrm>
            <a:off x="9282070" y="583523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0" y="0"/>
                </a:moveTo>
                <a:lnTo>
                  <a:pt x="0" y="494808"/>
                </a:lnTo>
                <a:lnTo>
                  <a:pt x="353874" y="494808"/>
                </a:lnTo>
                <a:lnTo>
                  <a:pt x="353874" y="140996"/>
                </a:lnTo>
                <a:lnTo>
                  <a:pt x="122499" y="1409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8848499" y="583523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0" y="0"/>
                </a:moveTo>
                <a:lnTo>
                  <a:pt x="0" y="494808"/>
                </a:lnTo>
                <a:lnTo>
                  <a:pt x="353874" y="494808"/>
                </a:lnTo>
                <a:lnTo>
                  <a:pt x="353874" y="140996"/>
                </a:lnTo>
                <a:lnTo>
                  <a:pt x="122499" y="1409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Shape 9"/>
          <p:cNvSpPr/>
          <p:nvPr/>
        </p:nvSpPr>
        <p:spPr>
          <a:xfrm>
            <a:off x="10908962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2" name="Shape 10"/>
          <p:cNvSpPr/>
          <p:nvPr/>
        </p:nvSpPr>
        <p:spPr>
          <a:xfrm>
            <a:off x="11342534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3" name="Text 11"/>
          <p:cNvSpPr/>
          <p:nvPr/>
        </p:nvSpPr>
        <p:spPr>
          <a:xfrm>
            <a:off x="8810368" y="1403969"/>
            <a:ext cx="2797955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开发环境</a:t>
            </a:r>
            <a:endParaRPr lang="en-US" sz="4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r"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三剑客</a:t>
            </a:r>
            <a:endParaRPr lang="en-US" sz="1600" dirty="0"/>
          </a:p>
        </p:txBody>
      </p:sp>
      <p:pic>
        <p:nvPicPr>
          <p:cNvPr id="14" name="Image 0" descr="https://kimi-img.moonshot.cn/pub/slides/slides_tmpl/image/25-09-04-14:55:16-d2sjfl61bb2p4onbq110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33400" y="5317490"/>
            <a:ext cx="2115185" cy="1231265"/>
          </a:xfrm>
          <a:prstGeom prst="rect">
            <a:avLst/>
          </a:prstGeom>
        </p:spPr>
      </p:pic>
      <p:pic>
        <p:nvPicPr>
          <p:cNvPr id="15" name="Image 1" descr="https://kimi-img.moonshot.cn/pub/slides/slides_tmpl/image/25-09-04-14:55:16-d2sjfl61bb2p4onbq0r0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86105" y="3241675"/>
            <a:ext cx="2066290" cy="1402080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4-14:55:16-d2sjfl61bb2p4onbq0q0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21030" y="1219200"/>
            <a:ext cx="1810385" cy="1402080"/>
          </a:xfrm>
          <a:prstGeom prst="rect">
            <a:avLst/>
          </a:prstGeom>
        </p:spPr>
      </p:pic>
      <p:pic>
        <p:nvPicPr>
          <p:cNvPr id="17" name="Image 3" descr="https://kimi-img.moonshot.cn/pub/slides/slides_tmpl/image/25-09-04-14:55:16-d2sjfl61bb2p4onbq13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48725" y="3733800"/>
            <a:ext cx="2797810" cy="1981200"/>
          </a:xfrm>
          <a:prstGeom prst="rect">
            <a:avLst/>
          </a:prstGeom>
        </p:spPr>
      </p:pic>
      <p:sp>
        <p:nvSpPr>
          <p:cNvPr id="18" name="Text 12"/>
          <p:cNvSpPr/>
          <p:nvPr>
            <p:custDataLst>
              <p:tags r:id="rId14"/>
            </p:custDataLst>
          </p:nvPr>
        </p:nvSpPr>
        <p:spPr>
          <a:xfrm>
            <a:off x="2652512" y="1258133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Python：编程食材</a:t>
            </a:r>
            <a:endParaRPr lang="en-US" sz="1600" dirty="0"/>
          </a:p>
        </p:txBody>
      </p:sp>
      <p:sp>
        <p:nvSpPr>
          <p:cNvPr id="19" name="Text 13"/>
          <p:cNvSpPr/>
          <p:nvPr>
            <p:custDataLst>
              <p:tags r:id="rId15"/>
            </p:custDataLst>
          </p:nvPr>
        </p:nvSpPr>
        <p:spPr>
          <a:xfrm>
            <a:off x="2810135" y="1627465"/>
            <a:ext cx="5422310" cy="6026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Python是编程语言本身，就像烹饪时的食材，是我们编写程序的基础。它简单易学，是数据科学的首选语言。</a:t>
            </a:r>
            <a:endParaRPr lang="en-US" sz="1600" dirty="0"/>
          </a:p>
        </p:txBody>
      </p:sp>
      <p:sp>
        <p:nvSpPr>
          <p:cNvPr id="20" name="Text 14"/>
          <p:cNvSpPr/>
          <p:nvPr>
            <p:custDataLst>
              <p:tags r:id="rId16"/>
            </p:custDataLst>
          </p:nvPr>
        </p:nvSpPr>
        <p:spPr>
          <a:xfrm>
            <a:off x="2652512" y="3211680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Code：厨师工具</a:t>
            </a:r>
            <a:endParaRPr lang="en-US" sz="1600" dirty="0"/>
          </a:p>
        </p:txBody>
      </p:sp>
      <p:sp>
        <p:nvSpPr>
          <p:cNvPr id="21" name="Text 15"/>
          <p:cNvSpPr/>
          <p:nvPr>
            <p:custDataLst>
              <p:tags r:id="rId17"/>
            </p:custDataLst>
          </p:nvPr>
        </p:nvSpPr>
        <p:spPr>
          <a:xfrm>
            <a:off x="2810135" y="3581012"/>
            <a:ext cx="5422310" cy="6026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Code是代码编辑器，相当于厨师的砧板和刀具，提供代码高亮、自动补全、错误提示等便利功能，让编程更高效。</a:t>
            </a:r>
            <a:endParaRPr lang="en-US" sz="1600" dirty="0"/>
          </a:p>
        </p:txBody>
      </p:sp>
      <p:sp>
        <p:nvSpPr>
          <p:cNvPr id="22" name="Text 16"/>
          <p:cNvSpPr/>
          <p:nvPr>
            <p:custDataLst>
              <p:tags r:id="rId18"/>
            </p:custDataLst>
          </p:nvPr>
        </p:nvSpPr>
        <p:spPr>
          <a:xfrm>
            <a:off x="2652512" y="5165227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虚拟环境：独立厨房</a:t>
            </a:r>
            <a:endParaRPr lang="en-US" sz="1600" dirty="0"/>
          </a:p>
        </p:txBody>
      </p:sp>
      <p:sp>
        <p:nvSpPr>
          <p:cNvPr id="23" name="Text 17"/>
          <p:cNvSpPr/>
          <p:nvPr>
            <p:custDataLst>
              <p:tags r:id="rId19"/>
            </p:custDataLst>
          </p:nvPr>
        </p:nvSpPr>
        <p:spPr>
          <a:xfrm>
            <a:off x="2810135" y="5534559"/>
            <a:ext cx="5422310" cy="6026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虚拟环境是独立的实验空间，比喻为不同菜肴使用不同厨房，避免项目之间的依赖包版本冲突，养成好习惯很重要。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0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21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22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4603854" y="1530242"/>
            <a:ext cx="3301929" cy="76243"/>
          </a:xfrm>
          <a:custGeom>
            <a:avLst/>
            <a:gdLst/>
            <a:ahLst/>
            <a:cxnLst/>
            <a:rect l="l" t="t" r="r" b="b"/>
            <a:pathLst>
              <a:path w="3301929" h="76243">
                <a:moveTo>
                  <a:pt x="3301929" y="0"/>
                </a:moveTo>
                <a:lnTo>
                  <a:pt x="0" y="0"/>
                </a:lnTo>
                <a:lnTo>
                  <a:pt x="0" y="76243"/>
                </a:lnTo>
                <a:lnTo>
                  <a:pt x="3301929" y="76243"/>
                </a:lnTo>
                <a:lnTo>
                  <a:pt x="3301929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>
            <p:custDataLst>
              <p:tags r:id="rId2"/>
            </p:custDataLst>
          </p:nvPr>
        </p:nvSpPr>
        <p:spPr>
          <a:xfrm>
            <a:off x="8280246" y="1530242"/>
            <a:ext cx="3301929" cy="76243"/>
          </a:xfrm>
          <a:custGeom>
            <a:avLst/>
            <a:gdLst/>
            <a:ahLst/>
            <a:cxnLst/>
            <a:rect l="l" t="t" r="r" b="b"/>
            <a:pathLst>
              <a:path w="3301929" h="76243">
                <a:moveTo>
                  <a:pt x="3301929" y="0"/>
                </a:moveTo>
                <a:lnTo>
                  <a:pt x="0" y="0"/>
                </a:lnTo>
                <a:lnTo>
                  <a:pt x="0" y="76243"/>
                </a:lnTo>
                <a:lnTo>
                  <a:pt x="3301929" y="76243"/>
                </a:lnTo>
                <a:lnTo>
                  <a:pt x="3301929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>
            <p:custDataLst>
              <p:tags r:id="rId3"/>
            </p:custDataLst>
          </p:nvPr>
        </p:nvSpPr>
        <p:spPr>
          <a:xfrm>
            <a:off x="10908962" y="349225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>
            <p:custDataLst>
              <p:tags r:id="rId4"/>
            </p:custDataLst>
          </p:nvPr>
        </p:nvSpPr>
        <p:spPr>
          <a:xfrm>
            <a:off x="11342534" y="349225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Shape 4"/>
          <p:cNvSpPr/>
          <p:nvPr>
            <p:custDataLst>
              <p:tags r:id="rId5"/>
            </p:custDataLst>
          </p:nvPr>
        </p:nvSpPr>
        <p:spPr>
          <a:xfrm>
            <a:off x="11340465" y="6076315"/>
            <a:ext cx="539750" cy="539750"/>
          </a:xfrm>
          <a:custGeom>
            <a:avLst/>
            <a:gdLst/>
            <a:ahLst/>
            <a:cxnLst/>
            <a:rect l="l" t="t" r="r" b="b"/>
            <a:pathLst>
              <a:path w="539750" h="539750">
                <a:moveTo>
                  <a:pt x="270725" y="0"/>
                </a:moveTo>
                <a:lnTo>
                  <a:pt x="242664" y="1367"/>
                </a:lnTo>
                <a:lnTo>
                  <a:pt x="214583" y="5732"/>
                </a:lnTo>
                <a:lnTo>
                  <a:pt x="186703" y="13178"/>
                </a:lnTo>
                <a:lnTo>
                  <a:pt x="159239" y="23788"/>
                </a:lnTo>
                <a:lnTo>
                  <a:pt x="133075" y="37287"/>
                </a:lnTo>
                <a:lnTo>
                  <a:pt x="109000" y="53198"/>
                </a:lnTo>
                <a:lnTo>
                  <a:pt x="87098" y="71304"/>
                </a:lnTo>
                <a:lnTo>
                  <a:pt x="67451" y="91386"/>
                </a:lnTo>
                <a:lnTo>
                  <a:pt x="50141" y="113226"/>
                </a:lnTo>
                <a:lnTo>
                  <a:pt x="35252" y="136609"/>
                </a:lnTo>
                <a:lnTo>
                  <a:pt x="22865" y="161315"/>
                </a:lnTo>
                <a:lnTo>
                  <a:pt x="13064" y="187127"/>
                </a:lnTo>
                <a:lnTo>
                  <a:pt x="5931" y="213829"/>
                </a:lnTo>
                <a:lnTo>
                  <a:pt x="1549" y="241201"/>
                </a:lnTo>
                <a:lnTo>
                  <a:pt x="0" y="269026"/>
                </a:lnTo>
                <a:lnTo>
                  <a:pt x="1367" y="297086"/>
                </a:lnTo>
                <a:lnTo>
                  <a:pt x="5732" y="325166"/>
                </a:lnTo>
                <a:lnTo>
                  <a:pt x="13178" y="353046"/>
                </a:lnTo>
                <a:lnTo>
                  <a:pt x="23788" y="380508"/>
                </a:lnTo>
                <a:lnTo>
                  <a:pt x="37287" y="406673"/>
                </a:lnTo>
                <a:lnTo>
                  <a:pt x="53198" y="430747"/>
                </a:lnTo>
                <a:lnTo>
                  <a:pt x="71304" y="452649"/>
                </a:lnTo>
                <a:lnTo>
                  <a:pt x="91386" y="472297"/>
                </a:lnTo>
                <a:lnTo>
                  <a:pt x="113226" y="489607"/>
                </a:lnTo>
                <a:lnTo>
                  <a:pt x="136609" y="504497"/>
                </a:lnTo>
                <a:lnTo>
                  <a:pt x="161315" y="516884"/>
                </a:lnTo>
                <a:lnTo>
                  <a:pt x="187127" y="526686"/>
                </a:lnTo>
                <a:lnTo>
                  <a:pt x="213829" y="533819"/>
                </a:lnTo>
                <a:lnTo>
                  <a:pt x="241201" y="538201"/>
                </a:lnTo>
                <a:lnTo>
                  <a:pt x="269026" y="539750"/>
                </a:lnTo>
                <a:lnTo>
                  <a:pt x="297086" y="538383"/>
                </a:lnTo>
                <a:lnTo>
                  <a:pt x="325166" y="534017"/>
                </a:lnTo>
                <a:lnTo>
                  <a:pt x="353046" y="526570"/>
                </a:lnTo>
                <a:lnTo>
                  <a:pt x="380508" y="515959"/>
                </a:lnTo>
                <a:lnTo>
                  <a:pt x="406673" y="502460"/>
                </a:lnTo>
                <a:lnTo>
                  <a:pt x="430747" y="486549"/>
                </a:lnTo>
                <a:lnTo>
                  <a:pt x="452649" y="468443"/>
                </a:lnTo>
                <a:lnTo>
                  <a:pt x="472297" y="448362"/>
                </a:lnTo>
                <a:lnTo>
                  <a:pt x="489607" y="426520"/>
                </a:lnTo>
                <a:lnTo>
                  <a:pt x="504497" y="403138"/>
                </a:lnTo>
                <a:lnTo>
                  <a:pt x="516884" y="378432"/>
                </a:lnTo>
                <a:lnTo>
                  <a:pt x="526686" y="352620"/>
                </a:lnTo>
                <a:lnTo>
                  <a:pt x="533819" y="325919"/>
                </a:lnTo>
                <a:lnTo>
                  <a:pt x="538201" y="298547"/>
                </a:lnTo>
                <a:lnTo>
                  <a:pt x="539750" y="270722"/>
                </a:lnTo>
                <a:lnTo>
                  <a:pt x="538383" y="242660"/>
                </a:lnTo>
                <a:lnTo>
                  <a:pt x="534017" y="214581"/>
                </a:lnTo>
                <a:lnTo>
                  <a:pt x="526570" y="186702"/>
                </a:lnTo>
                <a:lnTo>
                  <a:pt x="515959" y="159239"/>
                </a:lnTo>
                <a:lnTo>
                  <a:pt x="502461" y="133075"/>
                </a:lnTo>
                <a:lnTo>
                  <a:pt x="486551" y="109000"/>
                </a:lnTo>
                <a:lnTo>
                  <a:pt x="468447" y="87098"/>
                </a:lnTo>
                <a:lnTo>
                  <a:pt x="448365" y="67451"/>
                </a:lnTo>
                <a:lnTo>
                  <a:pt x="426525" y="50141"/>
                </a:lnTo>
                <a:lnTo>
                  <a:pt x="403143" y="35252"/>
                </a:lnTo>
                <a:lnTo>
                  <a:pt x="378437" y="22865"/>
                </a:lnTo>
                <a:lnTo>
                  <a:pt x="352624" y="13064"/>
                </a:lnTo>
                <a:lnTo>
                  <a:pt x="325923" y="5931"/>
                </a:lnTo>
                <a:lnTo>
                  <a:pt x="298551" y="1549"/>
                </a:lnTo>
                <a:lnTo>
                  <a:pt x="270725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7" name="Shape 5"/>
          <p:cNvSpPr/>
          <p:nvPr>
            <p:custDataLst>
              <p:tags r:id="rId6"/>
            </p:custDataLst>
          </p:nvPr>
        </p:nvSpPr>
        <p:spPr>
          <a:xfrm>
            <a:off x="11486745" y="6186898"/>
            <a:ext cx="220212" cy="331088"/>
          </a:xfrm>
          <a:custGeom>
            <a:avLst/>
            <a:gdLst/>
            <a:ahLst/>
            <a:cxnLst/>
            <a:rect l="l" t="t" r="r" b="b"/>
            <a:pathLst>
              <a:path w="220212" h="331088">
                <a:moveTo>
                  <a:pt x="55415" y="0"/>
                </a:moveTo>
                <a:lnTo>
                  <a:pt x="0" y="160357"/>
                </a:lnTo>
                <a:lnTo>
                  <a:pt x="30942" y="171049"/>
                </a:lnTo>
                <a:lnTo>
                  <a:pt x="68932" y="61111"/>
                </a:lnTo>
                <a:lnTo>
                  <a:pt x="190356" y="331088"/>
                </a:lnTo>
                <a:lnTo>
                  <a:pt x="220212" y="317671"/>
                </a:lnTo>
                <a:lnTo>
                  <a:pt x="100841" y="52250"/>
                </a:lnTo>
                <a:lnTo>
                  <a:pt x="206726" y="92435"/>
                </a:lnTo>
                <a:lnTo>
                  <a:pt x="218343" y="61848"/>
                </a:lnTo>
                <a:lnTo>
                  <a:pt x="5541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8" name="Shape 6"/>
          <p:cNvSpPr/>
          <p:nvPr/>
        </p:nvSpPr>
        <p:spPr>
          <a:xfrm>
            <a:off x="428" y="0"/>
            <a:ext cx="4229165" cy="6857615"/>
          </a:xfrm>
          <a:custGeom>
            <a:avLst/>
            <a:gdLst/>
            <a:ahLst/>
            <a:cxnLst/>
            <a:rect l="l" t="t" r="r" b="b"/>
            <a:pathLst>
              <a:path w="4229165" h="6857615">
                <a:moveTo>
                  <a:pt x="4229165" y="0"/>
                </a:moveTo>
                <a:lnTo>
                  <a:pt x="0" y="0"/>
                </a:lnTo>
                <a:lnTo>
                  <a:pt x="0" y="6857615"/>
                </a:lnTo>
                <a:lnTo>
                  <a:pt x="4229165" y="6857615"/>
                </a:lnTo>
                <a:lnTo>
                  <a:pt x="422916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9" name="Shape 7"/>
          <p:cNvSpPr/>
          <p:nvPr>
            <p:custDataLst>
              <p:tags r:id="rId7"/>
            </p:custDataLst>
          </p:nvPr>
        </p:nvSpPr>
        <p:spPr>
          <a:xfrm>
            <a:off x="3987178" y="222196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5"/>
                </a:lnTo>
                <a:lnTo>
                  <a:pt x="25831" y="365908"/>
                </a:lnTo>
                <a:lnTo>
                  <a:pt x="39567" y="390386"/>
                </a:lnTo>
                <a:lnTo>
                  <a:pt x="55832" y="413096"/>
                </a:lnTo>
                <a:lnTo>
                  <a:pt x="74437" y="433849"/>
                </a:lnTo>
                <a:lnTo>
                  <a:pt x="95189" y="452453"/>
                </a:lnTo>
                <a:lnTo>
                  <a:pt x="117900" y="468719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5" y="493469"/>
                </a:lnTo>
                <a:lnTo>
                  <a:pt x="365908" y="482454"/>
                </a:lnTo>
                <a:lnTo>
                  <a:pt x="390386" y="468719"/>
                </a:lnTo>
                <a:lnTo>
                  <a:pt x="413096" y="452453"/>
                </a:lnTo>
                <a:lnTo>
                  <a:pt x="433849" y="433849"/>
                </a:lnTo>
                <a:lnTo>
                  <a:pt x="452453" y="413096"/>
                </a:lnTo>
                <a:lnTo>
                  <a:pt x="468719" y="390386"/>
                </a:lnTo>
                <a:lnTo>
                  <a:pt x="482454" y="365908"/>
                </a:lnTo>
                <a:lnTo>
                  <a:pt x="493469" y="339855"/>
                </a:lnTo>
                <a:lnTo>
                  <a:pt x="501574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4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9" y="117900"/>
                </a:lnTo>
                <a:lnTo>
                  <a:pt x="452453" y="95189"/>
                </a:lnTo>
                <a:lnTo>
                  <a:pt x="433849" y="74437"/>
                </a:lnTo>
                <a:lnTo>
                  <a:pt x="413096" y="55832"/>
                </a:lnTo>
                <a:lnTo>
                  <a:pt x="390386" y="39567"/>
                </a:lnTo>
                <a:lnTo>
                  <a:pt x="365908" y="25831"/>
                </a:lnTo>
                <a:lnTo>
                  <a:pt x="339855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pic>
        <p:nvPicPr>
          <p:cNvPr id="10" name="Image 0" descr="https://kimi-img.moonshot.cn/pub/slides/slides_tmpl/image/25-09-04-14:55:16-d2sjfl61bb2p4onbq0u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052" y="2984290"/>
            <a:ext cx="3485906" cy="348590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75052" y="2984290"/>
            <a:ext cx="3485990" cy="3485990"/>
          </a:xfrm>
          <a:custGeom>
            <a:avLst/>
            <a:gdLst/>
            <a:ahLst/>
            <a:cxnLst/>
            <a:rect l="l" t="t" r="r" b="b"/>
            <a:pathLst>
              <a:path w="3485990" h="3485990">
                <a:moveTo>
                  <a:pt x="3485990" y="0"/>
                </a:moveTo>
                <a:lnTo>
                  <a:pt x="0" y="0"/>
                </a:lnTo>
                <a:lnTo>
                  <a:pt x="0" y="3485990"/>
                </a:lnTo>
                <a:lnTo>
                  <a:pt x="3485990" y="3485990"/>
                </a:lnTo>
                <a:lnTo>
                  <a:pt x="3485990" y="0"/>
                </a:lnTo>
                <a:close/>
              </a:path>
            </a:pathLst>
          </a:custGeom>
          <a:solidFill>
            <a:srgbClr val="1E1E1E">
              <a:alpha val="41961"/>
            </a:srgbClr>
          </a:solidFill>
        </p:spPr>
      </p:sp>
      <p:sp>
        <p:nvSpPr>
          <p:cNvPr id="12" name="Text 9"/>
          <p:cNvSpPr/>
          <p:nvPr/>
        </p:nvSpPr>
        <p:spPr>
          <a:xfrm>
            <a:off x="247650" y="1093788"/>
            <a:ext cx="3662680" cy="11988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安装Python：</a:t>
            </a:r>
            <a:endParaRPr 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开启编程大门</a:t>
            </a:r>
            <a:endParaRPr lang="en-US" sz="1600" dirty="0"/>
          </a:p>
        </p:txBody>
      </p:sp>
      <p:pic>
        <p:nvPicPr>
          <p:cNvPr id="13" name="Image 1" descr="https://kimi-img.moonshot.cn/pub/slides/slides_tmpl/image/25-09-04-14:55:15-d2sjfku1bb2p4onbq0og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572000" y="1689100"/>
            <a:ext cx="981710" cy="1036955"/>
          </a:xfrm>
          <a:prstGeom prst="rect">
            <a:avLst/>
          </a:prstGeom>
        </p:spPr>
      </p:pic>
      <p:pic>
        <p:nvPicPr>
          <p:cNvPr id="14" name="Image 2" descr="https://kimi-img.moonshot.cn/pub/slides/slides_tmpl/image/25-09-04-14:55:16-d2sjfl61bb2p4onbq0s0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34680" y="1689100"/>
            <a:ext cx="1207770" cy="1036955"/>
          </a:xfrm>
          <a:prstGeom prst="rect">
            <a:avLst/>
          </a:prstGeom>
        </p:spPr>
      </p:pic>
      <p:sp>
        <p:nvSpPr>
          <p:cNvPr id="15" name="Text 10"/>
          <p:cNvSpPr/>
          <p:nvPr>
            <p:custDataLst>
              <p:tags r:id="rId13"/>
            </p:custDataLst>
          </p:nvPr>
        </p:nvSpPr>
        <p:spPr>
          <a:xfrm>
            <a:off x="4390341" y="2981888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安装步骤</a:t>
            </a:r>
            <a:endParaRPr lang="en-US" sz="1600" dirty="0"/>
          </a:p>
        </p:txBody>
      </p:sp>
      <p:sp>
        <p:nvSpPr>
          <p:cNvPr id="16" name="Text 11"/>
          <p:cNvSpPr/>
          <p:nvPr>
            <p:custDataLst>
              <p:tags r:id="rId14"/>
            </p:custDataLst>
          </p:nvPr>
        </p:nvSpPr>
        <p:spPr>
          <a:xfrm>
            <a:off x="4502973" y="3428894"/>
            <a:ext cx="3411316" cy="1742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Windows用户访问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python.org</a:t>
            </a: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下载安装包，安装时务必勾选Add Python to PATH选项；Mac用户可通过官网下载或使用brew install python3命令安装。这是最关键的一步！</a:t>
            </a:r>
            <a:endParaRPr lang="en-US" sz="1600" dirty="0"/>
          </a:p>
        </p:txBody>
      </p:sp>
      <p:sp>
        <p:nvSpPr>
          <p:cNvPr id="17" name="Text 12"/>
          <p:cNvSpPr/>
          <p:nvPr>
            <p:custDataLst>
              <p:tags r:id="rId15"/>
            </p:custDataLst>
          </p:nvPr>
        </p:nvSpPr>
        <p:spPr>
          <a:xfrm>
            <a:off x="8122223" y="2981888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验证安装</a:t>
            </a:r>
            <a:endParaRPr lang="en-US" sz="1600" dirty="0"/>
          </a:p>
        </p:txBody>
      </p:sp>
      <p:sp>
        <p:nvSpPr>
          <p:cNvPr id="18" name="Text 13"/>
          <p:cNvSpPr/>
          <p:nvPr>
            <p:custDataLst>
              <p:tags r:id="rId16"/>
            </p:custDataLst>
          </p:nvPr>
        </p:nvSpPr>
        <p:spPr>
          <a:xfrm>
            <a:off x="8234855" y="3428894"/>
            <a:ext cx="3411316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安装完成后，打开命令行输入python --version或python3 --version，如果看到版本号如Python 3.11.0，恭喜你安装成功！现在可以开始编程之旅了。</a:t>
            </a:r>
            <a:endParaRPr lang="en-US" sz="1600" dirty="0"/>
          </a:p>
        </p:txBody>
      </p:sp>
      <p:pic>
        <p:nvPicPr>
          <p:cNvPr id="19" name="图片 18"/>
          <p:cNvPicPr/>
          <p:nvPr/>
        </p:nvPicPr>
        <p:blipFill>
          <a:blip r:embed="rId17"/>
          <a:stretch>
            <a:fillRect/>
          </a:stretch>
        </p:blipFill>
        <p:spPr>
          <a:xfrm>
            <a:off x="159385" y="222250"/>
            <a:ext cx="2553335" cy="609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>
            <p:custDataLst>
              <p:tags r:id="rId1"/>
            </p:custDataLst>
          </p:nvPr>
        </p:nvSpPr>
        <p:spPr>
          <a:xfrm>
            <a:off x="4227195" y="2533650"/>
            <a:ext cx="3737610" cy="3543935"/>
          </a:xfrm>
          <a:custGeom>
            <a:avLst/>
            <a:gdLst/>
            <a:ahLst/>
            <a:cxnLst/>
            <a:rect l="l" t="t" r="r" b="b"/>
            <a:pathLst>
              <a:path w="3737610" h="3543935">
                <a:moveTo>
                  <a:pt x="3623444" y="0"/>
                </a:moveTo>
                <a:lnTo>
                  <a:pt x="114166" y="0"/>
                </a:lnTo>
                <a:lnTo>
                  <a:pt x="83816" y="4153"/>
                </a:lnTo>
                <a:lnTo>
                  <a:pt x="56544" y="15875"/>
                </a:lnTo>
                <a:lnTo>
                  <a:pt x="33439" y="34057"/>
                </a:lnTo>
                <a:lnTo>
                  <a:pt x="15587" y="57590"/>
                </a:lnTo>
                <a:lnTo>
                  <a:pt x="4078" y="85366"/>
                </a:lnTo>
                <a:lnTo>
                  <a:pt x="0" y="116277"/>
                </a:lnTo>
                <a:lnTo>
                  <a:pt x="0" y="3427657"/>
                </a:lnTo>
                <a:lnTo>
                  <a:pt x="4078" y="3458569"/>
                </a:lnTo>
                <a:lnTo>
                  <a:pt x="15587" y="3486345"/>
                </a:lnTo>
                <a:lnTo>
                  <a:pt x="33439" y="3509878"/>
                </a:lnTo>
                <a:lnTo>
                  <a:pt x="56544" y="3528060"/>
                </a:lnTo>
                <a:lnTo>
                  <a:pt x="83816" y="3539782"/>
                </a:lnTo>
                <a:lnTo>
                  <a:pt x="114166" y="3543935"/>
                </a:lnTo>
                <a:lnTo>
                  <a:pt x="3623444" y="3543935"/>
                </a:lnTo>
                <a:lnTo>
                  <a:pt x="3653794" y="3539782"/>
                </a:lnTo>
                <a:lnTo>
                  <a:pt x="3681066" y="3528060"/>
                </a:lnTo>
                <a:lnTo>
                  <a:pt x="3704171" y="3509878"/>
                </a:lnTo>
                <a:lnTo>
                  <a:pt x="3722023" y="3486345"/>
                </a:lnTo>
                <a:lnTo>
                  <a:pt x="3733532" y="3458569"/>
                </a:lnTo>
                <a:lnTo>
                  <a:pt x="3737610" y="3427657"/>
                </a:lnTo>
                <a:lnTo>
                  <a:pt x="3737610" y="116277"/>
                </a:lnTo>
                <a:lnTo>
                  <a:pt x="3733532" y="85366"/>
                </a:lnTo>
                <a:lnTo>
                  <a:pt x="3722023" y="57590"/>
                </a:lnTo>
                <a:lnTo>
                  <a:pt x="3704171" y="34057"/>
                </a:lnTo>
                <a:lnTo>
                  <a:pt x="3681066" y="15875"/>
                </a:lnTo>
                <a:lnTo>
                  <a:pt x="3653794" y="4153"/>
                </a:lnTo>
                <a:lnTo>
                  <a:pt x="3623444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4" name="Shape 2"/>
          <p:cNvSpPr/>
          <p:nvPr>
            <p:custDataLst>
              <p:tags r:id="rId2"/>
            </p:custDataLst>
          </p:nvPr>
        </p:nvSpPr>
        <p:spPr>
          <a:xfrm>
            <a:off x="8212455" y="2533650"/>
            <a:ext cx="3737610" cy="3544570"/>
          </a:xfrm>
          <a:custGeom>
            <a:avLst/>
            <a:gdLst/>
            <a:ahLst/>
            <a:cxnLst/>
            <a:rect l="l" t="t" r="r" b="b"/>
            <a:pathLst>
              <a:path w="3737610" h="3544570">
                <a:moveTo>
                  <a:pt x="3623444" y="0"/>
                </a:moveTo>
                <a:lnTo>
                  <a:pt x="114166" y="0"/>
                </a:lnTo>
                <a:lnTo>
                  <a:pt x="83816" y="4154"/>
                </a:lnTo>
                <a:lnTo>
                  <a:pt x="56544" y="15878"/>
                </a:lnTo>
                <a:lnTo>
                  <a:pt x="33439" y="34063"/>
                </a:lnTo>
                <a:lnTo>
                  <a:pt x="15587" y="57600"/>
                </a:lnTo>
                <a:lnTo>
                  <a:pt x="4078" y="85382"/>
                </a:lnTo>
                <a:lnTo>
                  <a:pt x="0" y="116298"/>
                </a:lnTo>
                <a:lnTo>
                  <a:pt x="0" y="3428272"/>
                </a:lnTo>
                <a:lnTo>
                  <a:pt x="4078" y="3459188"/>
                </a:lnTo>
                <a:lnTo>
                  <a:pt x="15587" y="3486970"/>
                </a:lnTo>
                <a:lnTo>
                  <a:pt x="33439" y="3510506"/>
                </a:lnTo>
                <a:lnTo>
                  <a:pt x="56544" y="3528692"/>
                </a:lnTo>
                <a:lnTo>
                  <a:pt x="83816" y="3540416"/>
                </a:lnTo>
                <a:lnTo>
                  <a:pt x="114166" y="3544570"/>
                </a:lnTo>
                <a:lnTo>
                  <a:pt x="3623444" y="3544570"/>
                </a:lnTo>
                <a:lnTo>
                  <a:pt x="3653794" y="3540416"/>
                </a:lnTo>
                <a:lnTo>
                  <a:pt x="3681066" y="3528692"/>
                </a:lnTo>
                <a:lnTo>
                  <a:pt x="3704171" y="3510506"/>
                </a:lnTo>
                <a:lnTo>
                  <a:pt x="3722023" y="3486970"/>
                </a:lnTo>
                <a:lnTo>
                  <a:pt x="3733532" y="3459188"/>
                </a:lnTo>
                <a:lnTo>
                  <a:pt x="3737610" y="3428272"/>
                </a:lnTo>
                <a:lnTo>
                  <a:pt x="3737610" y="116298"/>
                </a:lnTo>
                <a:lnTo>
                  <a:pt x="3733532" y="85382"/>
                </a:lnTo>
                <a:lnTo>
                  <a:pt x="3722023" y="57600"/>
                </a:lnTo>
                <a:lnTo>
                  <a:pt x="3704171" y="34063"/>
                </a:lnTo>
                <a:lnTo>
                  <a:pt x="3681066" y="15878"/>
                </a:lnTo>
                <a:lnTo>
                  <a:pt x="3653794" y="4154"/>
                </a:lnTo>
                <a:lnTo>
                  <a:pt x="3623444" y="0"/>
                </a:lnTo>
                <a:close/>
              </a:path>
            </a:pathLst>
          </a:custGeom>
          <a:solidFill>
            <a:srgbClr val="CCCCCC"/>
          </a:solidFill>
        </p:spPr>
      </p:sp>
      <p:sp>
        <p:nvSpPr>
          <p:cNvPr id="5" name="Shape 3"/>
          <p:cNvSpPr/>
          <p:nvPr/>
        </p:nvSpPr>
        <p:spPr>
          <a:xfrm>
            <a:off x="10778762" y="520664"/>
            <a:ext cx="353874" cy="465158"/>
          </a:xfrm>
          <a:custGeom>
            <a:avLst/>
            <a:gdLst/>
            <a:ahLst/>
            <a:cxnLst/>
            <a:rect l="l" t="t" r="r" b="b"/>
            <a:pathLst>
              <a:path w="353874" h="465158">
                <a:moveTo>
                  <a:pt x="336402" y="0"/>
                </a:moveTo>
                <a:lnTo>
                  <a:pt x="17472" y="0"/>
                </a:lnTo>
                <a:lnTo>
                  <a:pt x="10672" y="1373"/>
                </a:lnTo>
                <a:lnTo>
                  <a:pt x="5118" y="5118"/>
                </a:lnTo>
                <a:lnTo>
                  <a:pt x="1373" y="10671"/>
                </a:lnTo>
                <a:lnTo>
                  <a:pt x="0" y="17470"/>
                </a:lnTo>
                <a:lnTo>
                  <a:pt x="0" y="336354"/>
                </a:lnTo>
                <a:lnTo>
                  <a:pt x="1373" y="343154"/>
                </a:lnTo>
                <a:lnTo>
                  <a:pt x="5118" y="348707"/>
                </a:lnTo>
                <a:lnTo>
                  <a:pt x="10672" y="352451"/>
                </a:lnTo>
                <a:lnTo>
                  <a:pt x="17472" y="353824"/>
                </a:lnTo>
                <a:lnTo>
                  <a:pt x="228472" y="353824"/>
                </a:lnTo>
                <a:lnTo>
                  <a:pt x="233280" y="356022"/>
                </a:lnTo>
                <a:lnTo>
                  <a:pt x="323210" y="459529"/>
                </a:lnTo>
                <a:lnTo>
                  <a:pt x="332473" y="465158"/>
                </a:lnTo>
                <a:lnTo>
                  <a:pt x="342517" y="464436"/>
                </a:lnTo>
                <a:lnTo>
                  <a:pt x="350574" y="458396"/>
                </a:lnTo>
                <a:lnTo>
                  <a:pt x="353874" y="448073"/>
                </a:lnTo>
                <a:lnTo>
                  <a:pt x="353874" y="17470"/>
                </a:lnTo>
                <a:lnTo>
                  <a:pt x="352501" y="10671"/>
                </a:lnTo>
                <a:lnTo>
                  <a:pt x="348756" y="5118"/>
                </a:lnTo>
                <a:lnTo>
                  <a:pt x="343202" y="1373"/>
                </a:lnTo>
                <a:lnTo>
                  <a:pt x="336402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11212334" y="520664"/>
            <a:ext cx="353874" cy="465158"/>
          </a:xfrm>
          <a:custGeom>
            <a:avLst/>
            <a:gdLst/>
            <a:ahLst/>
            <a:cxnLst/>
            <a:rect l="l" t="t" r="r" b="b"/>
            <a:pathLst>
              <a:path w="353874" h="465158">
                <a:moveTo>
                  <a:pt x="336402" y="0"/>
                </a:moveTo>
                <a:lnTo>
                  <a:pt x="17472" y="0"/>
                </a:lnTo>
                <a:lnTo>
                  <a:pt x="10672" y="1373"/>
                </a:lnTo>
                <a:lnTo>
                  <a:pt x="5118" y="5118"/>
                </a:lnTo>
                <a:lnTo>
                  <a:pt x="1373" y="10671"/>
                </a:lnTo>
                <a:lnTo>
                  <a:pt x="0" y="17470"/>
                </a:lnTo>
                <a:lnTo>
                  <a:pt x="0" y="336354"/>
                </a:lnTo>
                <a:lnTo>
                  <a:pt x="1373" y="343154"/>
                </a:lnTo>
                <a:lnTo>
                  <a:pt x="5118" y="348707"/>
                </a:lnTo>
                <a:lnTo>
                  <a:pt x="10672" y="352451"/>
                </a:lnTo>
                <a:lnTo>
                  <a:pt x="17472" y="353824"/>
                </a:lnTo>
                <a:lnTo>
                  <a:pt x="228472" y="353824"/>
                </a:lnTo>
                <a:lnTo>
                  <a:pt x="233280" y="356022"/>
                </a:lnTo>
                <a:lnTo>
                  <a:pt x="323210" y="459529"/>
                </a:lnTo>
                <a:lnTo>
                  <a:pt x="332473" y="465158"/>
                </a:lnTo>
                <a:lnTo>
                  <a:pt x="342517" y="464436"/>
                </a:lnTo>
                <a:lnTo>
                  <a:pt x="350574" y="458396"/>
                </a:lnTo>
                <a:lnTo>
                  <a:pt x="353874" y="448073"/>
                </a:lnTo>
                <a:lnTo>
                  <a:pt x="353874" y="17470"/>
                </a:lnTo>
                <a:lnTo>
                  <a:pt x="352501" y="10671"/>
                </a:lnTo>
                <a:lnTo>
                  <a:pt x="348756" y="5118"/>
                </a:lnTo>
                <a:lnTo>
                  <a:pt x="343202" y="1373"/>
                </a:lnTo>
                <a:lnTo>
                  <a:pt x="336402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50279" y="520439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4"/>
                </a:lnTo>
                <a:lnTo>
                  <a:pt x="25831" y="365908"/>
                </a:lnTo>
                <a:lnTo>
                  <a:pt x="39567" y="390385"/>
                </a:lnTo>
                <a:lnTo>
                  <a:pt x="55832" y="413096"/>
                </a:lnTo>
                <a:lnTo>
                  <a:pt x="74437" y="433848"/>
                </a:lnTo>
                <a:lnTo>
                  <a:pt x="95189" y="452453"/>
                </a:lnTo>
                <a:lnTo>
                  <a:pt x="117900" y="468718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4" y="493469"/>
                </a:lnTo>
                <a:lnTo>
                  <a:pt x="365908" y="482454"/>
                </a:lnTo>
                <a:lnTo>
                  <a:pt x="390385" y="468718"/>
                </a:lnTo>
                <a:lnTo>
                  <a:pt x="413096" y="452453"/>
                </a:lnTo>
                <a:lnTo>
                  <a:pt x="433848" y="433848"/>
                </a:lnTo>
                <a:lnTo>
                  <a:pt x="452453" y="413096"/>
                </a:lnTo>
                <a:lnTo>
                  <a:pt x="468718" y="390385"/>
                </a:lnTo>
                <a:lnTo>
                  <a:pt x="482454" y="365908"/>
                </a:lnTo>
                <a:lnTo>
                  <a:pt x="493469" y="339854"/>
                </a:lnTo>
                <a:lnTo>
                  <a:pt x="501573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3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8" y="117900"/>
                </a:lnTo>
                <a:lnTo>
                  <a:pt x="452453" y="95189"/>
                </a:lnTo>
                <a:lnTo>
                  <a:pt x="433848" y="74437"/>
                </a:lnTo>
                <a:lnTo>
                  <a:pt x="413096" y="55832"/>
                </a:lnTo>
                <a:lnTo>
                  <a:pt x="390385" y="39567"/>
                </a:lnTo>
                <a:lnTo>
                  <a:pt x="365908" y="25831"/>
                </a:lnTo>
                <a:lnTo>
                  <a:pt x="339854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7689738" y="2590618"/>
            <a:ext cx="216021" cy="216021"/>
          </a:xfrm>
          <a:custGeom>
            <a:avLst/>
            <a:gdLst/>
            <a:ahLst/>
            <a:cxnLst/>
            <a:rect l="l" t="t" r="r" b="b"/>
            <a:pathLst>
              <a:path w="216021" h="216021">
                <a:moveTo>
                  <a:pt x="108011" y="0"/>
                </a:moveTo>
                <a:lnTo>
                  <a:pt x="79296" y="3858"/>
                </a:lnTo>
                <a:lnTo>
                  <a:pt x="53495" y="14746"/>
                </a:lnTo>
                <a:lnTo>
                  <a:pt x="31635" y="31635"/>
                </a:lnTo>
                <a:lnTo>
                  <a:pt x="14746" y="53495"/>
                </a:lnTo>
                <a:lnTo>
                  <a:pt x="3858" y="79296"/>
                </a:lnTo>
                <a:lnTo>
                  <a:pt x="0" y="108011"/>
                </a:lnTo>
                <a:lnTo>
                  <a:pt x="3858" y="136724"/>
                </a:lnTo>
                <a:lnTo>
                  <a:pt x="14746" y="162526"/>
                </a:lnTo>
                <a:lnTo>
                  <a:pt x="31635" y="184386"/>
                </a:lnTo>
                <a:lnTo>
                  <a:pt x="53495" y="201274"/>
                </a:lnTo>
                <a:lnTo>
                  <a:pt x="79296" y="212162"/>
                </a:lnTo>
                <a:lnTo>
                  <a:pt x="108011" y="216021"/>
                </a:lnTo>
                <a:lnTo>
                  <a:pt x="136724" y="212162"/>
                </a:lnTo>
                <a:lnTo>
                  <a:pt x="162526" y="201274"/>
                </a:lnTo>
                <a:lnTo>
                  <a:pt x="184386" y="184386"/>
                </a:lnTo>
                <a:lnTo>
                  <a:pt x="201274" y="162526"/>
                </a:lnTo>
                <a:lnTo>
                  <a:pt x="212162" y="136724"/>
                </a:lnTo>
                <a:lnTo>
                  <a:pt x="216021" y="108011"/>
                </a:lnTo>
                <a:lnTo>
                  <a:pt x="212162" y="79296"/>
                </a:lnTo>
                <a:lnTo>
                  <a:pt x="201274" y="53495"/>
                </a:lnTo>
                <a:lnTo>
                  <a:pt x="184386" y="31635"/>
                </a:lnTo>
                <a:lnTo>
                  <a:pt x="162526" y="14746"/>
                </a:lnTo>
                <a:lnTo>
                  <a:pt x="136724" y="3858"/>
                </a:lnTo>
                <a:lnTo>
                  <a:pt x="108011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7733416" y="2631226"/>
            <a:ext cx="89720" cy="140933"/>
          </a:xfrm>
          <a:custGeom>
            <a:avLst/>
            <a:gdLst/>
            <a:ahLst/>
            <a:cxnLst/>
            <a:rect l="l" t="t" r="r" b="b"/>
            <a:pathLst>
              <a:path w="89720" h="140933">
                <a:moveTo>
                  <a:pt x="89720" y="0"/>
                </a:moveTo>
                <a:lnTo>
                  <a:pt x="0" y="70470"/>
                </a:lnTo>
                <a:lnTo>
                  <a:pt x="89720" y="140933"/>
                </a:lnTo>
                <a:lnTo>
                  <a:pt x="8972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11677257" y="2590618"/>
            <a:ext cx="216021" cy="216021"/>
          </a:xfrm>
          <a:custGeom>
            <a:avLst/>
            <a:gdLst/>
            <a:ahLst/>
            <a:cxnLst/>
            <a:rect l="l" t="t" r="r" b="b"/>
            <a:pathLst>
              <a:path w="216021" h="216021">
                <a:moveTo>
                  <a:pt x="108011" y="0"/>
                </a:moveTo>
                <a:lnTo>
                  <a:pt x="79296" y="3858"/>
                </a:lnTo>
                <a:lnTo>
                  <a:pt x="53495" y="14746"/>
                </a:lnTo>
                <a:lnTo>
                  <a:pt x="31635" y="31635"/>
                </a:lnTo>
                <a:lnTo>
                  <a:pt x="14746" y="53495"/>
                </a:lnTo>
                <a:lnTo>
                  <a:pt x="3858" y="79296"/>
                </a:lnTo>
                <a:lnTo>
                  <a:pt x="0" y="108011"/>
                </a:lnTo>
                <a:lnTo>
                  <a:pt x="3858" y="136724"/>
                </a:lnTo>
                <a:lnTo>
                  <a:pt x="14746" y="162526"/>
                </a:lnTo>
                <a:lnTo>
                  <a:pt x="31635" y="184386"/>
                </a:lnTo>
                <a:lnTo>
                  <a:pt x="53495" y="201274"/>
                </a:lnTo>
                <a:lnTo>
                  <a:pt x="79296" y="212162"/>
                </a:lnTo>
                <a:lnTo>
                  <a:pt x="108011" y="216021"/>
                </a:lnTo>
                <a:lnTo>
                  <a:pt x="136724" y="212162"/>
                </a:lnTo>
                <a:lnTo>
                  <a:pt x="162526" y="201274"/>
                </a:lnTo>
                <a:lnTo>
                  <a:pt x="184386" y="184386"/>
                </a:lnTo>
                <a:lnTo>
                  <a:pt x="201274" y="162526"/>
                </a:lnTo>
                <a:lnTo>
                  <a:pt x="212162" y="136724"/>
                </a:lnTo>
                <a:lnTo>
                  <a:pt x="216021" y="108011"/>
                </a:lnTo>
                <a:lnTo>
                  <a:pt x="212162" y="79296"/>
                </a:lnTo>
                <a:lnTo>
                  <a:pt x="201274" y="53495"/>
                </a:lnTo>
                <a:lnTo>
                  <a:pt x="184386" y="31635"/>
                </a:lnTo>
                <a:lnTo>
                  <a:pt x="162526" y="14746"/>
                </a:lnTo>
                <a:lnTo>
                  <a:pt x="136724" y="3858"/>
                </a:lnTo>
                <a:lnTo>
                  <a:pt x="108011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1" name="Shape 9"/>
          <p:cNvSpPr/>
          <p:nvPr>
            <p:custDataLst>
              <p:tags r:id="rId6"/>
            </p:custDataLst>
          </p:nvPr>
        </p:nvSpPr>
        <p:spPr>
          <a:xfrm>
            <a:off x="11720936" y="2631226"/>
            <a:ext cx="89720" cy="140933"/>
          </a:xfrm>
          <a:custGeom>
            <a:avLst/>
            <a:gdLst/>
            <a:ahLst/>
            <a:cxnLst/>
            <a:rect l="l" t="t" r="r" b="b"/>
            <a:pathLst>
              <a:path w="89720" h="140933">
                <a:moveTo>
                  <a:pt x="89720" y="0"/>
                </a:moveTo>
                <a:lnTo>
                  <a:pt x="0" y="70470"/>
                </a:lnTo>
                <a:lnTo>
                  <a:pt x="89720" y="140933"/>
                </a:lnTo>
                <a:lnTo>
                  <a:pt x="89720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2" name="Image 0" descr="https://kimi-img.moonshot.cn/pub/slides/slides_tmpl/image/25-09-04-14:55:16-d2sjfl61bb2p4onbq11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41935" y="2533650"/>
            <a:ext cx="3742055" cy="3549015"/>
          </a:xfrm>
          <a:prstGeom prst="rect">
            <a:avLst/>
          </a:prstGeom>
        </p:spPr>
      </p:pic>
      <p:sp>
        <p:nvSpPr>
          <p:cNvPr id="13" name="Shape 10"/>
          <p:cNvSpPr/>
          <p:nvPr>
            <p:custDataLst>
              <p:tags r:id="rId9"/>
            </p:custDataLst>
          </p:nvPr>
        </p:nvSpPr>
        <p:spPr>
          <a:xfrm>
            <a:off x="3702580" y="2591937"/>
            <a:ext cx="216030" cy="220333"/>
          </a:xfrm>
          <a:custGeom>
            <a:avLst/>
            <a:gdLst/>
            <a:ahLst/>
            <a:cxnLst/>
            <a:rect l="l" t="t" r="r" b="b"/>
            <a:pathLst>
              <a:path w="216030" h="220333">
                <a:moveTo>
                  <a:pt x="108015" y="0"/>
                </a:moveTo>
                <a:lnTo>
                  <a:pt x="79300" y="3935"/>
                </a:lnTo>
                <a:lnTo>
                  <a:pt x="53497" y="15040"/>
                </a:lnTo>
                <a:lnTo>
                  <a:pt x="31636" y="32266"/>
                </a:lnTo>
                <a:lnTo>
                  <a:pt x="14747" y="54563"/>
                </a:lnTo>
                <a:lnTo>
                  <a:pt x="3858" y="80879"/>
                </a:lnTo>
                <a:lnTo>
                  <a:pt x="0" y="110167"/>
                </a:lnTo>
                <a:lnTo>
                  <a:pt x="3858" y="139454"/>
                </a:lnTo>
                <a:lnTo>
                  <a:pt x="14747" y="165770"/>
                </a:lnTo>
                <a:lnTo>
                  <a:pt x="31636" y="188067"/>
                </a:lnTo>
                <a:lnTo>
                  <a:pt x="53497" y="205292"/>
                </a:lnTo>
                <a:lnTo>
                  <a:pt x="79300" y="216398"/>
                </a:lnTo>
                <a:lnTo>
                  <a:pt x="108015" y="220333"/>
                </a:lnTo>
                <a:lnTo>
                  <a:pt x="136730" y="216398"/>
                </a:lnTo>
                <a:lnTo>
                  <a:pt x="162532" y="205292"/>
                </a:lnTo>
                <a:lnTo>
                  <a:pt x="184393" y="188067"/>
                </a:lnTo>
                <a:lnTo>
                  <a:pt x="201283" y="165770"/>
                </a:lnTo>
                <a:lnTo>
                  <a:pt x="212171" y="139454"/>
                </a:lnTo>
                <a:lnTo>
                  <a:pt x="216030" y="110167"/>
                </a:lnTo>
                <a:lnTo>
                  <a:pt x="212171" y="80879"/>
                </a:lnTo>
                <a:lnTo>
                  <a:pt x="201283" y="54563"/>
                </a:lnTo>
                <a:lnTo>
                  <a:pt x="184393" y="32266"/>
                </a:lnTo>
                <a:lnTo>
                  <a:pt x="162532" y="15040"/>
                </a:lnTo>
                <a:lnTo>
                  <a:pt x="136730" y="3935"/>
                </a:lnTo>
                <a:lnTo>
                  <a:pt x="10801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746260" y="2633355"/>
            <a:ext cx="89724" cy="143747"/>
          </a:xfrm>
          <a:custGeom>
            <a:avLst/>
            <a:gdLst/>
            <a:ahLst/>
            <a:cxnLst/>
            <a:rect l="l" t="t" r="r" b="b"/>
            <a:pathLst>
              <a:path w="89724" h="143747">
                <a:moveTo>
                  <a:pt x="89724" y="0"/>
                </a:moveTo>
                <a:lnTo>
                  <a:pt x="0" y="71877"/>
                </a:lnTo>
                <a:lnTo>
                  <a:pt x="89724" y="143747"/>
                </a:lnTo>
                <a:lnTo>
                  <a:pt x="89724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5" name="Image 1" descr="https://kimi-img.moonshot.cn/pub/slides/slides_tmpl/image/25-09-04-14:55:16-d2sjfl61bb2p4onbq12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227195" y="2528570"/>
            <a:ext cx="3737610" cy="3549015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4-14:55:17-d2sjfle1bb2p4onbq170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14995" y="2533650"/>
            <a:ext cx="3737610" cy="35490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71040" y="1574483"/>
            <a:ext cx="850265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安装VS Code：打造专属编程工作台</a:t>
            </a:r>
            <a:endParaRPr lang="en-US" sz="1600" dirty="0"/>
          </a:p>
        </p:txBody>
      </p:sp>
      <p:sp>
        <p:nvSpPr>
          <p:cNvPr id="18" name="Text 13"/>
          <p:cNvSpPr/>
          <p:nvPr>
            <p:custDataLst>
              <p:tags r:id="rId15"/>
            </p:custDataLst>
          </p:nvPr>
        </p:nvSpPr>
        <p:spPr>
          <a:xfrm>
            <a:off x="450166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下载安装</a:t>
            </a:r>
            <a:endParaRPr lang="en-US" sz="1600" dirty="0"/>
          </a:p>
        </p:txBody>
      </p:sp>
      <p:sp>
        <p:nvSpPr>
          <p:cNvPr id="19" name="Text 14"/>
          <p:cNvSpPr/>
          <p:nvPr>
            <p:custDataLst>
              <p:tags r:id="rId16"/>
            </p:custDataLst>
          </p:nvPr>
        </p:nvSpPr>
        <p:spPr>
          <a:xfrm>
            <a:off x="400050" y="3460115"/>
            <a:ext cx="3446145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访问</a:t>
            </a:r>
            <a:endParaRPr 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https://code.visualstudio.com/</a:t>
            </a:r>
            <a:endParaRPr lang="en-US" sz="1600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00000"/>
              </a:lnSpc>
              <a:buClrTx/>
              <a:buSzTx/>
              <a:buFontTx/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下载对应系统的安装包，按安装向导完成安装。VS Code免费且功能强大，是全球最受欢迎的代码编辑器。</a:t>
            </a:r>
            <a:endParaRPr lang="en-US" sz="1600" dirty="0"/>
          </a:p>
        </p:txBody>
      </p:sp>
      <p:sp>
        <p:nvSpPr>
          <p:cNvPr id="20" name="Text 15"/>
          <p:cNvSpPr/>
          <p:nvPr>
            <p:custDataLst>
              <p:tags r:id="rId17"/>
            </p:custDataLst>
          </p:nvPr>
        </p:nvSpPr>
        <p:spPr>
          <a:xfrm>
            <a:off x="4397512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安装Python扩展</a:t>
            </a:r>
            <a:endParaRPr lang="en-US" sz="1600" dirty="0"/>
          </a:p>
        </p:txBody>
      </p:sp>
      <p:sp>
        <p:nvSpPr>
          <p:cNvPr id="21" name="Text 16"/>
          <p:cNvSpPr/>
          <p:nvPr>
            <p:custDataLst>
              <p:tags r:id="rId18"/>
            </p:custDataLst>
          </p:nvPr>
        </p:nvSpPr>
        <p:spPr>
          <a:xfrm>
            <a:off x="4479821" y="3389607"/>
            <a:ext cx="3232357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打开VS Code，点击左侧扩展图标，搜索Python并安装官方扩展。这赋予VS Code理解Python代码的能力，提供智能提示和调试功能。</a:t>
            </a:r>
            <a:endParaRPr lang="en-US" sz="1600" dirty="0"/>
          </a:p>
        </p:txBody>
      </p:sp>
      <p:sp>
        <p:nvSpPr>
          <p:cNvPr id="22" name="Text 17"/>
          <p:cNvSpPr/>
          <p:nvPr>
            <p:custDataLst>
              <p:tags r:id="rId19"/>
            </p:custDataLst>
          </p:nvPr>
        </p:nvSpPr>
        <p:spPr>
          <a:xfrm>
            <a:off x="8344860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界面初识</a:t>
            </a:r>
            <a:endParaRPr lang="en-US" sz="1600" dirty="0"/>
          </a:p>
        </p:txBody>
      </p:sp>
      <p:sp>
        <p:nvSpPr>
          <p:cNvPr id="23" name="Text 18"/>
          <p:cNvSpPr/>
          <p:nvPr>
            <p:custDataLst>
              <p:tags r:id="rId20"/>
            </p:custDataLst>
          </p:nvPr>
        </p:nvSpPr>
        <p:spPr>
          <a:xfrm>
            <a:off x="8427169" y="3389607"/>
            <a:ext cx="3232357" cy="1183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熟悉VS Code界面：左侧是文件资源管理器，中间是代码编辑区，底部是终端。现在你的专属编程工作台已经准备就绪！</a:t>
            </a:r>
            <a:endParaRPr lang="en-US" sz="1600" dirty="0"/>
          </a:p>
        </p:txBody>
      </p:sp>
      <p:pic>
        <p:nvPicPr>
          <p:cNvPr id="25" name="图片 24"/>
          <p:cNvPicPr/>
          <p:nvPr/>
        </p:nvPicPr>
        <p:blipFill>
          <a:blip r:embed="rId21"/>
          <a:stretch>
            <a:fillRect/>
          </a:stretch>
        </p:blipFill>
        <p:spPr>
          <a:xfrm>
            <a:off x="9655175" y="520700"/>
            <a:ext cx="940435" cy="4610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0788321" y="5649002"/>
            <a:ext cx="419335" cy="586453"/>
          </a:xfrm>
          <a:custGeom>
            <a:avLst/>
            <a:gdLst/>
            <a:ahLst/>
            <a:cxnLst/>
            <a:rect l="l" t="t" r="r" b="b"/>
            <a:pathLst>
              <a:path w="419335" h="586453">
                <a:moveTo>
                  <a:pt x="419335" y="0"/>
                </a:moveTo>
                <a:lnTo>
                  <a:pt x="274173" y="167105"/>
                </a:lnTo>
                <a:lnTo>
                  <a:pt x="0" y="167105"/>
                </a:lnTo>
                <a:lnTo>
                  <a:pt x="0" y="586453"/>
                </a:lnTo>
                <a:lnTo>
                  <a:pt x="419335" y="586453"/>
                </a:lnTo>
                <a:lnTo>
                  <a:pt x="419335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11302087" y="5649002"/>
            <a:ext cx="419335" cy="586453"/>
          </a:xfrm>
          <a:custGeom>
            <a:avLst/>
            <a:gdLst/>
            <a:ahLst/>
            <a:cxnLst/>
            <a:rect l="l" t="t" r="r" b="b"/>
            <a:pathLst>
              <a:path w="419335" h="586453">
                <a:moveTo>
                  <a:pt x="419335" y="0"/>
                </a:moveTo>
                <a:lnTo>
                  <a:pt x="274173" y="167105"/>
                </a:lnTo>
                <a:lnTo>
                  <a:pt x="0" y="167105"/>
                </a:lnTo>
                <a:lnTo>
                  <a:pt x="0" y="586453"/>
                </a:lnTo>
                <a:lnTo>
                  <a:pt x="419335" y="586453"/>
                </a:lnTo>
                <a:lnTo>
                  <a:pt x="419335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349650" y="1621436"/>
            <a:ext cx="3519875" cy="4716271"/>
          </a:xfrm>
          <a:custGeom>
            <a:avLst/>
            <a:gdLst/>
            <a:ahLst/>
            <a:cxnLst/>
            <a:rect l="l" t="t" r="r" b="b"/>
            <a:pathLst>
              <a:path w="3519875" h="4716271">
                <a:moveTo>
                  <a:pt x="3417365" y="0"/>
                </a:moveTo>
                <a:lnTo>
                  <a:pt x="102510" y="0"/>
                </a:lnTo>
                <a:lnTo>
                  <a:pt x="75260" y="3662"/>
                </a:lnTo>
                <a:lnTo>
                  <a:pt x="50773" y="13995"/>
                </a:lnTo>
                <a:lnTo>
                  <a:pt x="30026" y="30024"/>
                </a:lnTo>
                <a:lnTo>
                  <a:pt x="13996" y="50770"/>
                </a:lnTo>
                <a:lnTo>
                  <a:pt x="3662" y="75257"/>
                </a:lnTo>
                <a:lnTo>
                  <a:pt x="0" y="102505"/>
                </a:lnTo>
                <a:lnTo>
                  <a:pt x="0" y="4613766"/>
                </a:lnTo>
                <a:lnTo>
                  <a:pt x="3662" y="4641017"/>
                </a:lnTo>
                <a:lnTo>
                  <a:pt x="13996" y="4665504"/>
                </a:lnTo>
                <a:lnTo>
                  <a:pt x="30026" y="4686249"/>
                </a:lnTo>
                <a:lnTo>
                  <a:pt x="50773" y="4702277"/>
                </a:lnTo>
                <a:lnTo>
                  <a:pt x="75260" y="4712610"/>
                </a:lnTo>
                <a:lnTo>
                  <a:pt x="102510" y="4716271"/>
                </a:lnTo>
                <a:lnTo>
                  <a:pt x="3417365" y="4716271"/>
                </a:lnTo>
                <a:lnTo>
                  <a:pt x="3444615" y="4712610"/>
                </a:lnTo>
                <a:lnTo>
                  <a:pt x="3469102" y="4702277"/>
                </a:lnTo>
                <a:lnTo>
                  <a:pt x="3489849" y="4686249"/>
                </a:lnTo>
                <a:lnTo>
                  <a:pt x="3505879" y="4665504"/>
                </a:lnTo>
                <a:lnTo>
                  <a:pt x="3516213" y="4641017"/>
                </a:lnTo>
                <a:lnTo>
                  <a:pt x="3519875" y="4613766"/>
                </a:lnTo>
                <a:lnTo>
                  <a:pt x="3519875" y="102505"/>
                </a:lnTo>
                <a:lnTo>
                  <a:pt x="3516213" y="75257"/>
                </a:lnTo>
                <a:lnTo>
                  <a:pt x="3505879" y="50770"/>
                </a:lnTo>
                <a:lnTo>
                  <a:pt x="3489849" y="30024"/>
                </a:lnTo>
                <a:lnTo>
                  <a:pt x="3469102" y="13995"/>
                </a:lnTo>
                <a:lnTo>
                  <a:pt x="3444615" y="3662"/>
                </a:lnTo>
                <a:lnTo>
                  <a:pt x="3417365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6" name="Shape 4"/>
          <p:cNvSpPr/>
          <p:nvPr/>
        </p:nvSpPr>
        <p:spPr>
          <a:xfrm>
            <a:off x="4163850" y="585865"/>
            <a:ext cx="3519875" cy="4716271"/>
          </a:xfrm>
          <a:custGeom>
            <a:avLst/>
            <a:gdLst/>
            <a:ahLst/>
            <a:cxnLst/>
            <a:rect l="l" t="t" r="r" b="b"/>
            <a:pathLst>
              <a:path w="3519875" h="4716271">
                <a:moveTo>
                  <a:pt x="3417364" y="0"/>
                </a:moveTo>
                <a:lnTo>
                  <a:pt x="102504" y="0"/>
                </a:lnTo>
                <a:lnTo>
                  <a:pt x="75254" y="3662"/>
                </a:lnTo>
                <a:lnTo>
                  <a:pt x="50768" y="13995"/>
                </a:lnTo>
                <a:lnTo>
                  <a:pt x="30023" y="30024"/>
                </a:lnTo>
                <a:lnTo>
                  <a:pt x="13995" y="50770"/>
                </a:lnTo>
                <a:lnTo>
                  <a:pt x="3661" y="75257"/>
                </a:lnTo>
                <a:lnTo>
                  <a:pt x="0" y="102505"/>
                </a:lnTo>
                <a:lnTo>
                  <a:pt x="0" y="4613766"/>
                </a:lnTo>
                <a:lnTo>
                  <a:pt x="3661" y="4641017"/>
                </a:lnTo>
                <a:lnTo>
                  <a:pt x="13995" y="4665504"/>
                </a:lnTo>
                <a:lnTo>
                  <a:pt x="30023" y="4686249"/>
                </a:lnTo>
                <a:lnTo>
                  <a:pt x="50768" y="4702277"/>
                </a:lnTo>
                <a:lnTo>
                  <a:pt x="75254" y="4712610"/>
                </a:lnTo>
                <a:lnTo>
                  <a:pt x="102504" y="4716271"/>
                </a:lnTo>
                <a:lnTo>
                  <a:pt x="3417364" y="4716271"/>
                </a:lnTo>
                <a:lnTo>
                  <a:pt x="3444616" y="4712610"/>
                </a:lnTo>
                <a:lnTo>
                  <a:pt x="3469105" y="4702277"/>
                </a:lnTo>
                <a:lnTo>
                  <a:pt x="3489851" y="4686249"/>
                </a:lnTo>
                <a:lnTo>
                  <a:pt x="3505880" y="4665504"/>
                </a:lnTo>
                <a:lnTo>
                  <a:pt x="3516213" y="4641017"/>
                </a:lnTo>
                <a:lnTo>
                  <a:pt x="3519875" y="4613766"/>
                </a:lnTo>
                <a:lnTo>
                  <a:pt x="3519875" y="102505"/>
                </a:lnTo>
                <a:lnTo>
                  <a:pt x="3516213" y="75257"/>
                </a:lnTo>
                <a:lnTo>
                  <a:pt x="3505880" y="50770"/>
                </a:lnTo>
                <a:lnTo>
                  <a:pt x="3489851" y="30024"/>
                </a:lnTo>
                <a:lnTo>
                  <a:pt x="3469105" y="13995"/>
                </a:lnTo>
                <a:lnTo>
                  <a:pt x="3444616" y="3662"/>
                </a:lnTo>
                <a:lnTo>
                  <a:pt x="341736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7" name="Shape 5"/>
          <p:cNvSpPr/>
          <p:nvPr/>
        </p:nvSpPr>
        <p:spPr>
          <a:xfrm>
            <a:off x="349650" y="564876"/>
            <a:ext cx="3519875" cy="853688"/>
          </a:xfrm>
          <a:custGeom>
            <a:avLst/>
            <a:gdLst/>
            <a:ahLst/>
            <a:cxnLst/>
            <a:rect l="l" t="t" r="r" b="b"/>
            <a:pathLst>
              <a:path w="3519875" h="853688">
                <a:moveTo>
                  <a:pt x="3417365" y="853688"/>
                </a:moveTo>
                <a:lnTo>
                  <a:pt x="102510" y="853688"/>
                </a:lnTo>
                <a:lnTo>
                  <a:pt x="75260" y="850027"/>
                </a:lnTo>
                <a:lnTo>
                  <a:pt x="50773" y="839694"/>
                </a:lnTo>
                <a:lnTo>
                  <a:pt x="30026" y="823666"/>
                </a:lnTo>
                <a:lnTo>
                  <a:pt x="13996" y="802920"/>
                </a:lnTo>
                <a:lnTo>
                  <a:pt x="3662" y="778434"/>
                </a:lnTo>
                <a:lnTo>
                  <a:pt x="0" y="751182"/>
                </a:lnTo>
                <a:lnTo>
                  <a:pt x="0" y="102506"/>
                </a:lnTo>
                <a:lnTo>
                  <a:pt x="3662" y="75257"/>
                </a:lnTo>
                <a:lnTo>
                  <a:pt x="13996" y="50770"/>
                </a:lnTo>
                <a:lnTo>
                  <a:pt x="30026" y="30024"/>
                </a:lnTo>
                <a:lnTo>
                  <a:pt x="50773" y="13995"/>
                </a:lnTo>
                <a:lnTo>
                  <a:pt x="75260" y="3662"/>
                </a:lnTo>
                <a:lnTo>
                  <a:pt x="102510" y="0"/>
                </a:lnTo>
                <a:lnTo>
                  <a:pt x="3417365" y="0"/>
                </a:lnTo>
                <a:lnTo>
                  <a:pt x="3444615" y="3662"/>
                </a:lnTo>
                <a:lnTo>
                  <a:pt x="3469102" y="13995"/>
                </a:lnTo>
                <a:lnTo>
                  <a:pt x="3489849" y="30024"/>
                </a:lnTo>
                <a:lnTo>
                  <a:pt x="3505879" y="50770"/>
                </a:lnTo>
                <a:lnTo>
                  <a:pt x="3516213" y="75257"/>
                </a:lnTo>
                <a:lnTo>
                  <a:pt x="3519875" y="102506"/>
                </a:lnTo>
                <a:lnTo>
                  <a:pt x="3519875" y="751182"/>
                </a:lnTo>
                <a:lnTo>
                  <a:pt x="3516213" y="778434"/>
                </a:lnTo>
                <a:lnTo>
                  <a:pt x="3505879" y="802920"/>
                </a:lnTo>
                <a:lnTo>
                  <a:pt x="3489849" y="823666"/>
                </a:lnTo>
                <a:lnTo>
                  <a:pt x="3469102" y="839694"/>
                </a:lnTo>
                <a:lnTo>
                  <a:pt x="3444615" y="850027"/>
                </a:lnTo>
                <a:lnTo>
                  <a:pt x="3417365" y="85368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EEEE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63850" y="5462846"/>
            <a:ext cx="3519875" cy="853688"/>
          </a:xfrm>
          <a:custGeom>
            <a:avLst/>
            <a:gdLst/>
            <a:ahLst/>
            <a:cxnLst/>
            <a:rect l="l" t="t" r="r" b="b"/>
            <a:pathLst>
              <a:path w="3519875" h="853688">
                <a:moveTo>
                  <a:pt x="3417364" y="853688"/>
                </a:moveTo>
                <a:lnTo>
                  <a:pt x="102504" y="853688"/>
                </a:lnTo>
                <a:lnTo>
                  <a:pt x="75254" y="850027"/>
                </a:lnTo>
                <a:lnTo>
                  <a:pt x="50768" y="839694"/>
                </a:lnTo>
                <a:lnTo>
                  <a:pt x="30023" y="823666"/>
                </a:lnTo>
                <a:lnTo>
                  <a:pt x="13995" y="802920"/>
                </a:lnTo>
                <a:lnTo>
                  <a:pt x="3661" y="778434"/>
                </a:lnTo>
                <a:lnTo>
                  <a:pt x="0" y="751182"/>
                </a:lnTo>
                <a:lnTo>
                  <a:pt x="0" y="102506"/>
                </a:lnTo>
                <a:lnTo>
                  <a:pt x="3661" y="75257"/>
                </a:lnTo>
                <a:lnTo>
                  <a:pt x="13995" y="50770"/>
                </a:lnTo>
                <a:lnTo>
                  <a:pt x="30023" y="30024"/>
                </a:lnTo>
                <a:lnTo>
                  <a:pt x="50768" y="13995"/>
                </a:lnTo>
                <a:lnTo>
                  <a:pt x="75254" y="3662"/>
                </a:lnTo>
                <a:lnTo>
                  <a:pt x="102504" y="0"/>
                </a:lnTo>
                <a:lnTo>
                  <a:pt x="3417364" y="0"/>
                </a:lnTo>
                <a:lnTo>
                  <a:pt x="3444616" y="3662"/>
                </a:lnTo>
                <a:lnTo>
                  <a:pt x="3469105" y="13995"/>
                </a:lnTo>
                <a:lnTo>
                  <a:pt x="3489851" y="30024"/>
                </a:lnTo>
                <a:lnTo>
                  <a:pt x="3505880" y="50770"/>
                </a:lnTo>
                <a:lnTo>
                  <a:pt x="3516213" y="75257"/>
                </a:lnTo>
                <a:lnTo>
                  <a:pt x="3519875" y="102506"/>
                </a:lnTo>
                <a:lnTo>
                  <a:pt x="3519875" y="751182"/>
                </a:lnTo>
                <a:lnTo>
                  <a:pt x="3516213" y="778434"/>
                </a:lnTo>
                <a:lnTo>
                  <a:pt x="3505880" y="802920"/>
                </a:lnTo>
                <a:lnTo>
                  <a:pt x="3489851" y="823666"/>
                </a:lnTo>
                <a:lnTo>
                  <a:pt x="3469105" y="839694"/>
                </a:lnTo>
                <a:lnTo>
                  <a:pt x="3444616" y="850027"/>
                </a:lnTo>
                <a:lnTo>
                  <a:pt x="3417364" y="85368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DDF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37124" y="5998922"/>
            <a:ext cx="215251" cy="211015"/>
          </a:xfrm>
          <a:custGeom>
            <a:avLst/>
            <a:gdLst/>
            <a:ahLst/>
            <a:cxnLst/>
            <a:rect l="l" t="t" r="r" b="b"/>
            <a:pathLst>
              <a:path w="215251" h="211015">
                <a:moveTo>
                  <a:pt x="209217" y="0"/>
                </a:moveTo>
                <a:lnTo>
                  <a:pt x="0" y="0"/>
                </a:lnTo>
                <a:lnTo>
                  <a:pt x="0" y="204827"/>
                </a:lnTo>
                <a:lnTo>
                  <a:pt x="17271" y="204827"/>
                </a:lnTo>
                <a:lnTo>
                  <a:pt x="17271" y="29177"/>
                </a:lnTo>
                <a:lnTo>
                  <a:pt x="203182" y="211015"/>
                </a:lnTo>
                <a:lnTo>
                  <a:pt x="215251" y="198646"/>
                </a:lnTo>
                <a:lnTo>
                  <a:pt x="29830" y="17291"/>
                </a:lnTo>
                <a:lnTo>
                  <a:pt x="209217" y="17291"/>
                </a:lnTo>
                <a:lnTo>
                  <a:pt x="209217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0" name="Shape 8"/>
          <p:cNvSpPr/>
          <p:nvPr/>
        </p:nvSpPr>
        <p:spPr>
          <a:xfrm>
            <a:off x="7335283" y="4963351"/>
            <a:ext cx="215251" cy="211015"/>
          </a:xfrm>
          <a:custGeom>
            <a:avLst/>
            <a:gdLst/>
            <a:ahLst/>
            <a:cxnLst/>
            <a:rect l="l" t="t" r="r" b="b"/>
            <a:pathLst>
              <a:path w="215251" h="211015">
                <a:moveTo>
                  <a:pt x="209217" y="0"/>
                </a:moveTo>
                <a:lnTo>
                  <a:pt x="0" y="0"/>
                </a:lnTo>
                <a:lnTo>
                  <a:pt x="0" y="204827"/>
                </a:lnTo>
                <a:lnTo>
                  <a:pt x="17271" y="204827"/>
                </a:lnTo>
                <a:lnTo>
                  <a:pt x="17271" y="29177"/>
                </a:lnTo>
                <a:lnTo>
                  <a:pt x="203182" y="211015"/>
                </a:lnTo>
                <a:lnTo>
                  <a:pt x="215251" y="198646"/>
                </a:lnTo>
                <a:lnTo>
                  <a:pt x="29830" y="17291"/>
                </a:lnTo>
                <a:lnTo>
                  <a:pt x="209217" y="17291"/>
                </a:lnTo>
                <a:lnTo>
                  <a:pt x="209217" y="0"/>
                </a:lnTo>
                <a:close/>
              </a:path>
            </a:pathLst>
          </a:custGeom>
          <a:solidFill>
            <a:srgbClr val="1E1E1E"/>
          </a:solidFill>
        </p:spPr>
      </p:sp>
      <p:pic>
        <p:nvPicPr>
          <p:cNvPr id="11" name="Image 0" descr="https://kimi-img.moonshot.cn/pub/slides/slides_tmpl/image/25-09-04-14:55:16-d2sjfl61bb2p4onbq0r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769" y="2946193"/>
            <a:ext cx="3879577" cy="235568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62769" y="2946193"/>
            <a:ext cx="3879911" cy="2355824"/>
          </a:xfrm>
          <a:custGeom>
            <a:avLst/>
            <a:gdLst/>
            <a:ahLst/>
            <a:cxnLst/>
            <a:rect l="l" t="t" r="r" b="b"/>
            <a:pathLst>
              <a:path w="3879911" h="2355824">
                <a:moveTo>
                  <a:pt x="3879911" y="0"/>
                </a:moveTo>
                <a:lnTo>
                  <a:pt x="0" y="0"/>
                </a:lnTo>
                <a:lnTo>
                  <a:pt x="0" y="2355824"/>
                </a:lnTo>
                <a:lnTo>
                  <a:pt x="3879911" y="2355824"/>
                </a:lnTo>
                <a:lnTo>
                  <a:pt x="3879911" y="0"/>
                </a:lnTo>
                <a:close/>
              </a:path>
            </a:pathLst>
          </a:custGeom>
          <a:solidFill>
            <a:srgbClr val="EEEEEE">
              <a:alpha val="45098"/>
            </a:srgbClr>
          </a:solidFill>
        </p:spPr>
      </p:sp>
      <p:sp>
        <p:nvSpPr>
          <p:cNvPr id="13" name="Text 10"/>
          <p:cNvSpPr/>
          <p:nvPr/>
        </p:nvSpPr>
        <p:spPr>
          <a:xfrm>
            <a:off x="7962265" y="589915"/>
            <a:ext cx="3929380" cy="169608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l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创建虚拟环境：</a:t>
            </a:r>
            <a:endParaRPr lang="en-US" sz="36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 algn="l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项目的独立小房间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89585" y="5712460"/>
            <a:ext cx="276860" cy="521970"/>
          </a:xfrm>
          <a:custGeom>
            <a:avLst/>
            <a:gdLst/>
            <a:ahLst/>
            <a:cxnLst/>
            <a:rect l="l" t="t" r="r" b="b"/>
            <a:pathLst>
              <a:path w="276860" h="521970">
                <a:moveTo>
                  <a:pt x="146783" y="0"/>
                </a:moveTo>
                <a:lnTo>
                  <a:pt x="119133" y="1705"/>
                </a:lnTo>
                <a:lnTo>
                  <a:pt x="94319" y="6798"/>
                </a:lnTo>
                <a:lnTo>
                  <a:pt x="72357" y="15239"/>
                </a:lnTo>
                <a:lnTo>
                  <a:pt x="53266" y="26991"/>
                </a:lnTo>
                <a:lnTo>
                  <a:pt x="37064" y="42018"/>
                </a:lnTo>
                <a:lnTo>
                  <a:pt x="23768" y="60280"/>
                </a:lnTo>
                <a:lnTo>
                  <a:pt x="13396" y="81740"/>
                </a:lnTo>
                <a:lnTo>
                  <a:pt x="5965" y="106362"/>
                </a:lnTo>
                <a:lnTo>
                  <a:pt x="1494" y="134107"/>
                </a:lnTo>
                <a:lnTo>
                  <a:pt x="0" y="164937"/>
                </a:lnTo>
                <a:lnTo>
                  <a:pt x="0" y="354239"/>
                </a:lnTo>
                <a:lnTo>
                  <a:pt x="1494" y="385657"/>
                </a:lnTo>
                <a:lnTo>
                  <a:pt x="5900" y="413498"/>
                </a:lnTo>
                <a:lnTo>
                  <a:pt x="5965" y="413910"/>
                </a:lnTo>
                <a:lnTo>
                  <a:pt x="13396" y="438964"/>
                </a:lnTo>
                <a:lnTo>
                  <a:pt x="23768" y="460786"/>
                </a:lnTo>
                <a:lnTo>
                  <a:pt x="37064" y="479341"/>
                </a:lnTo>
                <a:lnTo>
                  <a:pt x="53266" y="494599"/>
                </a:lnTo>
                <a:lnTo>
                  <a:pt x="72357" y="506523"/>
                </a:lnTo>
                <a:lnTo>
                  <a:pt x="94319" y="515082"/>
                </a:lnTo>
                <a:lnTo>
                  <a:pt x="119133" y="520242"/>
                </a:lnTo>
                <a:lnTo>
                  <a:pt x="146783" y="521970"/>
                </a:lnTo>
                <a:lnTo>
                  <a:pt x="174634" y="520242"/>
                </a:lnTo>
                <a:lnTo>
                  <a:pt x="199609" y="515082"/>
                </a:lnTo>
                <a:lnTo>
                  <a:pt x="221695" y="506523"/>
                </a:lnTo>
                <a:lnTo>
                  <a:pt x="240879" y="494599"/>
                </a:lnTo>
                <a:lnTo>
                  <a:pt x="257148" y="479341"/>
                </a:lnTo>
                <a:lnTo>
                  <a:pt x="270489" y="460786"/>
                </a:lnTo>
                <a:lnTo>
                  <a:pt x="276486" y="448198"/>
                </a:lnTo>
                <a:lnTo>
                  <a:pt x="146783" y="448198"/>
                </a:lnTo>
                <a:lnTo>
                  <a:pt x="130647" y="446991"/>
                </a:lnTo>
                <a:lnTo>
                  <a:pt x="106635" y="436748"/>
                </a:lnTo>
                <a:lnTo>
                  <a:pt x="91600" y="413498"/>
                </a:lnTo>
                <a:lnTo>
                  <a:pt x="83896" y="372022"/>
                </a:lnTo>
                <a:lnTo>
                  <a:pt x="82934" y="344499"/>
                </a:lnTo>
                <a:lnTo>
                  <a:pt x="82934" y="177471"/>
                </a:lnTo>
                <a:lnTo>
                  <a:pt x="83896" y="149946"/>
                </a:lnTo>
                <a:lnTo>
                  <a:pt x="86785" y="126924"/>
                </a:lnTo>
                <a:lnTo>
                  <a:pt x="98343" y="94651"/>
                </a:lnTo>
                <a:lnTo>
                  <a:pt x="117334" y="78731"/>
                </a:lnTo>
                <a:lnTo>
                  <a:pt x="146783" y="73771"/>
                </a:lnTo>
                <a:lnTo>
                  <a:pt x="276860" y="73771"/>
                </a:lnTo>
                <a:lnTo>
                  <a:pt x="270277" y="60280"/>
                </a:lnTo>
                <a:lnTo>
                  <a:pt x="256873" y="42018"/>
                </a:lnTo>
                <a:lnTo>
                  <a:pt x="240562" y="26991"/>
                </a:lnTo>
                <a:lnTo>
                  <a:pt x="221372" y="15239"/>
                </a:lnTo>
                <a:lnTo>
                  <a:pt x="199327" y="6798"/>
                </a:lnTo>
                <a:lnTo>
                  <a:pt x="174456" y="1705"/>
                </a:lnTo>
                <a:lnTo>
                  <a:pt x="146783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5" name="Shape 12"/>
          <p:cNvSpPr/>
          <p:nvPr/>
        </p:nvSpPr>
        <p:spPr>
          <a:xfrm>
            <a:off x="894715" y="5719445"/>
            <a:ext cx="159385" cy="508000"/>
          </a:xfrm>
          <a:custGeom>
            <a:avLst/>
            <a:gdLst/>
            <a:ahLst/>
            <a:cxnLst/>
            <a:rect l="l" t="t" r="r" b="b"/>
            <a:pathLst>
              <a:path w="159385" h="508000">
                <a:moveTo>
                  <a:pt x="159385" y="0"/>
                </a:moveTo>
                <a:lnTo>
                  <a:pt x="90388" y="0"/>
                </a:lnTo>
                <a:lnTo>
                  <a:pt x="0" y="70285"/>
                </a:lnTo>
                <a:lnTo>
                  <a:pt x="0" y="162144"/>
                </a:lnTo>
                <a:lnTo>
                  <a:pt x="82108" y="100210"/>
                </a:lnTo>
                <a:lnTo>
                  <a:pt x="82108" y="508000"/>
                </a:lnTo>
                <a:lnTo>
                  <a:pt x="159385" y="508000"/>
                </a:lnTo>
                <a:lnTo>
                  <a:pt x="159385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6" name="Shape 13"/>
          <p:cNvSpPr/>
          <p:nvPr/>
        </p:nvSpPr>
        <p:spPr>
          <a:xfrm>
            <a:off x="4267200" y="4653915"/>
            <a:ext cx="276860" cy="521970"/>
          </a:xfrm>
          <a:custGeom>
            <a:avLst/>
            <a:gdLst/>
            <a:ahLst/>
            <a:cxnLst/>
            <a:rect l="l" t="t" r="r" b="b"/>
            <a:pathLst>
              <a:path w="276860" h="521970">
                <a:moveTo>
                  <a:pt x="146783" y="0"/>
                </a:moveTo>
                <a:lnTo>
                  <a:pt x="119133" y="1705"/>
                </a:lnTo>
                <a:lnTo>
                  <a:pt x="94319" y="6798"/>
                </a:lnTo>
                <a:lnTo>
                  <a:pt x="72357" y="15239"/>
                </a:lnTo>
                <a:lnTo>
                  <a:pt x="53266" y="26991"/>
                </a:lnTo>
                <a:lnTo>
                  <a:pt x="37064" y="42018"/>
                </a:lnTo>
                <a:lnTo>
                  <a:pt x="23768" y="60280"/>
                </a:lnTo>
                <a:lnTo>
                  <a:pt x="13396" y="81740"/>
                </a:lnTo>
                <a:lnTo>
                  <a:pt x="5965" y="106362"/>
                </a:lnTo>
                <a:lnTo>
                  <a:pt x="1494" y="134107"/>
                </a:lnTo>
                <a:lnTo>
                  <a:pt x="0" y="164937"/>
                </a:lnTo>
                <a:lnTo>
                  <a:pt x="0" y="354239"/>
                </a:lnTo>
                <a:lnTo>
                  <a:pt x="1494" y="385657"/>
                </a:lnTo>
                <a:lnTo>
                  <a:pt x="5900" y="413498"/>
                </a:lnTo>
                <a:lnTo>
                  <a:pt x="5965" y="413910"/>
                </a:lnTo>
                <a:lnTo>
                  <a:pt x="13396" y="438964"/>
                </a:lnTo>
                <a:lnTo>
                  <a:pt x="23768" y="460786"/>
                </a:lnTo>
                <a:lnTo>
                  <a:pt x="37064" y="479341"/>
                </a:lnTo>
                <a:lnTo>
                  <a:pt x="53266" y="494599"/>
                </a:lnTo>
                <a:lnTo>
                  <a:pt x="72357" y="506523"/>
                </a:lnTo>
                <a:lnTo>
                  <a:pt x="94319" y="515082"/>
                </a:lnTo>
                <a:lnTo>
                  <a:pt x="119133" y="520242"/>
                </a:lnTo>
                <a:lnTo>
                  <a:pt x="146783" y="521970"/>
                </a:lnTo>
                <a:lnTo>
                  <a:pt x="174634" y="520242"/>
                </a:lnTo>
                <a:lnTo>
                  <a:pt x="199609" y="515082"/>
                </a:lnTo>
                <a:lnTo>
                  <a:pt x="221695" y="506523"/>
                </a:lnTo>
                <a:lnTo>
                  <a:pt x="240879" y="494599"/>
                </a:lnTo>
                <a:lnTo>
                  <a:pt x="257148" y="479341"/>
                </a:lnTo>
                <a:lnTo>
                  <a:pt x="270489" y="460786"/>
                </a:lnTo>
                <a:lnTo>
                  <a:pt x="276486" y="448198"/>
                </a:lnTo>
                <a:lnTo>
                  <a:pt x="146783" y="448198"/>
                </a:lnTo>
                <a:lnTo>
                  <a:pt x="130647" y="446991"/>
                </a:lnTo>
                <a:lnTo>
                  <a:pt x="106635" y="436748"/>
                </a:lnTo>
                <a:lnTo>
                  <a:pt x="91600" y="413498"/>
                </a:lnTo>
                <a:lnTo>
                  <a:pt x="83896" y="372022"/>
                </a:lnTo>
                <a:lnTo>
                  <a:pt x="82934" y="344499"/>
                </a:lnTo>
                <a:lnTo>
                  <a:pt x="82934" y="177471"/>
                </a:lnTo>
                <a:lnTo>
                  <a:pt x="83896" y="149946"/>
                </a:lnTo>
                <a:lnTo>
                  <a:pt x="86785" y="126924"/>
                </a:lnTo>
                <a:lnTo>
                  <a:pt x="98343" y="94651"/>
                </a:lnTo>
                <a:lnTo>
                  <a:pt x="117334" y="78731"/>
                </a:lnTo>
                <a:lnTo>
                  <a:pt x="146783" y="73771"/>
                </a:lnTo>
                <a:lnTo>
                  <a:pt x="276860" y="73771"/>
                </a:lnTo>
                <a:lnTo>
                  <a:pt x="270277" y="60280"/>
                </a:lnTo>
                <a:lnTo>
                  <a:pt x="256873" y="42018"/>
                </a:lnTo>
                <a:lnTo>
                  <a:pt x="240562" y="26991"/>
                </a:lnTo>
                <a:lnTo>
                  <a:pt x="221372" y="15239"/>
                </a:lnTo>
                <a:lnTo>
                  <a:pt x="199327" y="6798"/>
                </a:lnTo>
                <a:lnTo>
                  <a:pt x="174456" y="1705"/>
                </a:lnTo>
                <a:lnTo>
                  <a:pt x="146783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7" name="Shape 14"/>
          <p:cNvSpPr/>
          <p:nvPr/>
        </p:nvSpPr>
        <p:spPr>
          <a:xfrm>
            <a:off x="4678045" y="4653915"/>
            <a:ext cx="269240" cy="514985"/>
          </a:xfrm>
          <a:custGeom>
            <a:avLst/>
            <a:gdLst/>
            <a:ahLst/>
            <a:cxnLst/>
            <a:rect l="l" t="t" r="r" b="b"/>
            <a:pathLst>
              <a:path w="269240" h="514985">
                <a:moveTo>
                  <a:pt x="134625" y="0"/>
                </a:moveTo>
                <a:lnTo>
                  <a:pt x="105811" y="2338"/>
                </a:lnTo>
                <a:lnTo>
                  <a:pt x="79652" y="9308"/>
                </a:lnTo>
                <a:lnTo>
                  <a:pt x="56471" y="20845"/>
                </a:lnTo>
                <a:lnTo>
                  <a:pt x="36594" y="36883"/>
                </a:lnTo>
                <a:lnTo>
                  <a:pt x="20681" y="56804"/>
                </a:lnTo>
                <a:lnTo>
                  <a:pt x="9234" y="79856"/>
                </a:lnTo>
                <a:lnTo>
                  <a:pt x="2319" y="105781"/>
                </a:lnTo>
                <a:lnTo>
                  <a:pt x="0" y="134315"/>
                </a:lnTo>
                <a:lnTo>
                  <a:pt x="0" y="163545"/>
                </a:lnTo>
                <a:lnTo>
                  <a:pt x="77320" y="163545"/>
                </a:lnTo>
                <a:lnTo>
                  <a:pt x="77320" y="137092"/>
                </a:lnTo>
                <a:lnTo>
                  <a:pt x="78237" y="121653"/>
                </a:lnTo>
                <a:lnTo>
                  <a:pt x="85766" y="97560"/>
                </a:lnTo>
                <a:lnTo>
                  <a:pt x="100330" y="81587"/>
                </a:lnTo>
                <a:lnTo>
                  <a:pt x="120373" y="73999"/>
                </a:lnTo>
                <a:lnTo>
                  <a:pt x="133243" y="73075"/>
                </a:lnTo>
                <a:lnTo>
                  <a:pt x="146132" y="74010"/>
                </a:lnTo>
                <a:lnTo>
                  <a:pt x="166733" y="81881"/>
                </a:lnTo>
                <a:lnTo>
                  <a:pt x="182092" y="98007"/>
                </a:lnTo>
                <a:lnTo>
                  <a:pt x="189625" y="120299"/>
                </a:lnTo>
                <a:lnTo>
                  <a:pt x="190543" y="134315"/>
                </a:lnTo>
                <a:lnTo>
                  <a:pt x="190543" y="144752"/>
                </a:lnTo>
                <a:lnTo>
                  <a:pt x="183726" y="180939"/>
                </a:lnTo>
                <a:lnTo>
                  <a:pt x="175107" y="200533"/>
                </a:lnTo>
                <a:lnTo>
                  <a:pt x="162930" y="221300"/>
                </a:lnTo>
                <a:lnTo>
                  <a:pt x="0" y="455825"/>
                </a:lnTo>
                <a:lnTo>
                  <a:pt x="0" y="514985"/>
                </a:lnTo>
                <a:lnTo>
                  <a:pt x="269240" y="514985"/>
                </a:lnTo>
                <a:lnTo>
                  <a:pt x="269240" y="441910"/>
                </a:lnTo>
                <a:lnTo>
                  <a:pt x="102179" y="441910"/>
                </a:lnTo>
                <a:lnTo>
                  <a:pt x="235286" y="248846"/>
                </a:lnTo>
                <a:lnTo>
                  <a:pt x="251854" y="219813"/>
                </a:lnTo>
                <a:lnTo>
                  <a:pt x="263125" y="190940"/>
                </a:lnTo>
                <a:lnTo>
                  <a:pt x="268582" y="160670"/>
                </a:lnTo>
                <a:lnTo>
                  <a:pt x="269240" y="144752"/>
                </a:lnTo>
                <a:lnTo>
                  <a:pt x="269240" y="132922"/>
                </a:lnTo>
                <a:lnTo>
                  <a:pt x="265097" y="97603"/>
                </a:lnTo>
                <a:lnTo>
                  <a:pt x="252671" y="65415"/>
                </a:lnTo>
                <a:lnTo>
                  <a:pt x="232221" y="38276"/>
                </a:lnTo>
                <a:lnTo>
                  <a:pt x="205038" y="17399"/>
                </a:lnTo>
                <a:lnTo>
                  <a:pt x="171901" y="4263"/>
                </a:lnTo>
                <a:lnTo>
                  <a:pt x="153781" y="1055"/>
                </a:lnTo>
                <a:lnTo>
                  <a:pt x="134625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8" name="Text 15"/>
          <p:cNvSpPr/>
          <p:nvPr/>
        </p:nvSpPr>
        <p:spPr>
          <a:xfrm>
            <a:off x="300611" y="775794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命令行创建法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1495" y="2255520"/>
            <a:ext cx="3289300" cy="265148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在项目文件夹中打开命令行，输入python -m venv myenv创建虚拟环境，然后运行myenv\Scripts\activate（Windows）或source myenv/bin/activate（Mac/Linux）激活环境。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996" y="5729751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DEF101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VS Code创建法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277995" y="1362075"/>
            <a:ext cx="3289300" cy="228576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在VS Code中按Ctrl+Shift+P打开命令面板，输入Python: Create Environment选择Venv，按提示完成创建。激活后，命令行会显示(myenv)前缀，表示已进入独立空间。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4239765" y="50161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4" name="Shape 2"/>
          <p:cNvSpPr/>
          <p:nvPr/>
        </p:nvSpPr>
        <p:spPr>
          <a:xfrm>
            <a:off x="4610204" y="501614"/>
            <a:ext cx="3358533" cy="2870271"/>
          </a:xfrm>
          <a:custGeom>
            <a:avLst/>
            <a:gdLst/>
            <a:ahLst/>
            <a:cxnLst/>
            <a:rect l="l" t="t" r="r" b="b"/>
            <a:pathLst>
              <a:path w="3358533" h="2870271">
                <a:moveTo>
                  <a:pt x="0" y="2870271"/>
                </a:moveTo>
                <a:lnTo>
                  <a:pt x="3358533" y="2870271"/>
                </a:lnTo>
                <a:lnTo>
                  <a:pt x="3358533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5" name="Shape 3"/>
          <p:cNvSpPr/>
          <p:nvPr/>
        </p:nvSpPr>
        <p:spPr>
          <a:xfrm>
            <a:off x="4241930" y="501614"/>
            <a:ext cx="368507" cy="2870271"/>
          </a:xfrm>
          <a:custGeom>
            <a:avLst/>
            <a:gdLst/>
            <a:ahLst/>
            <a:cxnLst/>
            <a:rect l="l" t="t" r="r" b="b"/>
            <a:pathLst>
              <a:path w="368507" h="2870271">
                <a:moveTo>
                  <a:pt x="368507" y="0"/>
                </a:moveTo>
                <a:lnTo>
                  <a:pt x="0" y="0"/>
                </a:lnTo>
                <a:lnTo>
                  <a:pt x="0" y="2870271"/>
                </a:lnTo>
                <a:lnTo>
                  <a:pt x="368507" y="2870271"/>
                </a:lnTo>
                <a:lnTo>
                  <a:pt x="368507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6" name="Shape 4"/>
          <p:cNvSpPr/>
          <p:nvPr/>
        </p:nvSpPr>
        <p:spPr>
          <a:xfrm>
            <a:off x="923449" y="5759047"/>
            <a:ext cx="499428" cy="698507"/>
          </a:xfrm>
          <a:custGeom>
            <a:avLst/>
            <a:gdLst/>
            <a:ahLst/>
            <a:cxnLst/>
            <a:rect l="l" t="t" r="r" b="b"/>
            <a:pathLst>
              <a:path w="499428" h="698507">
                <a:moveTo>
                  <a:pt x="0" y="0"/>
                </a:moveTo>
                <a:lnTo>
                  <a:pt x="0" y="698507"/>
                </a:lnTo>
                <a:lnTo>
                  <a:pt x="499428" y="698507"/>
                </a:lnTo>
                <a:lnTo>
                  <a:pt x="499428" y="199034"/>
                </a:lnTo>
                <a:lnTo>
                  <a:pt x="172887" y="1990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311555" y="5759047"/>
            <a:ext cx="499428" cy="698507"/>
          </a:xfrm>
          <a:custGeom>
            <a:avLst/>
            <a:gdLst/>
            <a:ahLst/>
            <a:cxnLst/>
            <a:rect l="l" t="t" r="r" b="b"/>
            <a:pathLst>
              <a:path w="499428" h="698507">
                <a:moveTo>
                  <a:pt x="0" y="0"/>
                </a:moveTo>
                <a:lnTo>
                  <a:pt x="0" y="698507"/>
                </a:lnTo>
                <a:lnTo>
                  <a:pt x="499428" y="698507"/>
                </a:lnTo>
                <a:lnTo>
                  <a:pt x="499428" y="199034"/>
                </a:lnTo>
                <a:lnTo>
                  <a:pt x="172887" y="1990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4330823" y="590508"/>
            <a:ext cx="180980" cy="180980"/>
          </a:xfrm>
          <a:custGeom>
            <a:avLst/>
            <a:gdLst/>
            <a:ahLst/>
            <a:cxnLst/>
            <a:rect l="l" t="t" r="r" b="b"/>
            <a:pathLst>
              <a:path w="180980" h="180980">
                <a:moveTo>
                  <a:pt x="180980" y="90490"/>
                </a:moveTo>
                <a:lnTo>
                  <a:pt x="176367" y="119091"/>
                </a:lnTo>
                <a:lnTo>
                  <a:pt x="163521" y="143932"/>
                </a:lnTo>
                <a:lnTo>
                  <a:pt x="143932" y="163521"/>
                </a:lnTo>
                <a:lnTo>
                  <a:pt x="119091" y="176367"/>
                </a:lnTo>
                <a:lnTo>
                  <a:pt x="90490" y="180980"/>
                </a:lnTo>
                <a:lnTo>
                  <a:pt x="61888" y="176367"/>
                </a:lnTo>
                <a:lnTo>
                  <a:pt x="37047" y="163521"/>
                </a:lnTo>
                <a:lnTo>
                  <a:pt x="17459" y="143932"/>
                </a:lnTo>
                <a:lnTo>
                  <a:pt x="4613" y="119091"/>
                </a:lnTo>
                <a:lnTo>
                  <a:pt x="0" y="90490"/>
                </a:lnTo>
                <a:lnTo>
                  <a:pt x="4613" y="61888"/>
                </a:lnTo>
                <a:lnTo>
                  <a:pt x="17459" y="37047"/>
                </a:lnTo>
                <a:lnTo>
                  <a:pt x="37047" y="17459"/>
                </a:lnTo>
                <a:lnTo>
                  <a:pt x="61888" y="4613"/>
                </a:lnTo>
                <a:lnTo>
                  <a:pt x="90490" y="0"/>
                </a:lnTo>
                <a:lnTo>
                  <a:pt x="119091" y="4613"/>
                </a:lnTo>
                <a:lnTo>
                  <a:pt x="143932" y="17459"/>
                </a:lnTo>
                <a:lnTo>
                  <a:pt x="163521" y="37047"/>
                </a:lnTo>
                <a:lnTo>
                  <a:pt x="176367" y="61888"/>
                </a:lnTo>
                <a:lnTo>
                  <a:pt x="180980" y="904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81823" y="1433532"/>
            <a:ext cx="3629743" cy="18630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安装Python包：装备数据探索工具箱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9984" y="2362200"/>
            <a:ext cx="152400" cy="914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1" name="Shape 9"/>
          <p:cNvSpPr/>
          <p:nvPr/>
        </p:nvSpPr>
        <p:spPr>
          <a:xfrm>
            <a:off x="4366765" y="62861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12" name="Shape 10"/>
          <p:cNvSpPr/>
          <p:nvPr/>
        </p:nvSpPr>
        <p:spPr>
          <a:xfrm>
            <a:off x="422780" y="62861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13" name="Shape 11"/>
          <p:cNvSpPr/>
          <p:nvPr/>
        </p:nvSpPr>
        <p:spPr>
          <a:xfrm>
            <a:off x="666219" y="501614"/>
            <a:ext cx="3358533" cy="2870271"/>
          </a:xfrm>
          <a:custGeom>
            <a:avLst/>
            <a:gdLst/>
            <a:ahLst/>
            <a:cxnLst/>
            <a:rect l="l" t="t" r="r" b="b"/>
            <a:pathLst>
              <a:path w="3358533" h="2870271">
                <a:moveTo>
                  <a:pt x="0" y="2870271"/>
                </a:moveTo>
                <a:lnTo>
                  <a:pt x="3358533" y="2870271"/>
                </a:lnTo>
                <a:lnTo>
                  <a:pt x="3358533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14" name="Shape 12"/>
          <p:cNvSpPr/>
          <p:nvPr/>
        </p:nvSpPr>
        <p:spPr>
          <a:xfrm>
            <a:off x="297945" y="501614"/>
            <a:ext cx="368507" cy="2870271"/>
          </a:xfrm>
          <a:custGeom>
            <a:avLst/>
            <a:gdLst/>
            <a:ahLst/>
            <a:cxnLst/>
            <a:rect l="l" t="t" r="r" b="b"/>
            <a:pathLst>
              <a:path w="368507" h="2870271">
                <a:moveTo>
                  <a:pt x="368507" y="0"/>
                </a:moveTo>
                <a:lnTo>
                  <a:pt x="0" y="0"/>
                </a:lnTo>
                <a:lnTo>
                  <a:pt x="0" y="2870271"/>
                </a:lnTo>
                <a:lnTo>
                  <a:pt x="368507" y="2870271"/>
                </a:lnTo>
                <a:lnTo>
                  <a:pt x="368507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5" name="Shape 13"/>
          <p:cNvSpPr/>
          <p:nvPr/>
        </p:nvSpPr>
        <p:spPr>
          <a:xfrm>
            <a:off x="386838" y="590508"/>
            <a:ext cx="180980" cy="180980"/>
          </a:xfrm>
          <a:custGeom>
            <a:avLst/>
            <a:gdLst/>
            <a:ahLst/>
            <a:cxnLst/>
            <a:rect l="l" t="t" r="r" b="b"/>
            <a:pathLst>
              <a:path w="180980" h="180980">
                <a:moveTo>
                  <a:pt x="180980" y="90490"/>
                </a:moveTo>
                <a:lnTo>
                  <a:pt x="176367" y="119091"/>
                </a:lnTo>
                <a:lnTo>
                  <a:pt x="163521" y="143932"/>
                </a:lnTo>
                <a:lnTo>
                  <a:pt x="143932" y="163521"/>
                </a:lnTo>
                <a:lnTo>
                  <a:pt x="119091" y="176367"/>
                </a:lnTo>
                <a:lnTo>
                  <a:pt x="90490" y="180980"/>
                </a:lnTo>
                <a:lnTo>
                  <a:pt x="61888" y="176367"/>
                </a:lnTo>
                <a:lnTo>
                  <a:pt x="37047" y="163521"/>
                </a:lnTo>
                <a:lnTo>
                  <a:pt x="17459" y="143932"/>
                </a:lnTo>
                <a:lnTo>
                  <a:pt x="4613" y="119091"/>
                </a:lnTo>
                <a:lnTo>
                  <a:pt x="0" y="90490"/>
                </a:lnTo>
                <a:lnTo>
                  <a:pt x="4613" y="61888"/>
                </a:lnTo>
                <a:lnTo>
                  <a:pt x="17459" y="37047"/>
                </a:lnTo>
                <a:lnTo>
                  <a:pt x="37047" y="17459"/>
                </a:lnTo>
                <a:lnTo>
                  <a:pt x="61888" y="4613"/>
                </a:lnTo>
                <a:lnTo>
                  <a:pt x="90490" y="0"/>
                </a:lnTo>
                <a:lnTo>
                  <a:pt x="119091" y="4613"/>
                </a:lnTo>
                <a:lnTo>
                  <a:pt x="143932" y="17459"/>
                </a:lnTo>
                <a:lnTo>
                  <a:pt x="163521" y="37047"/>
                </a:lnTo>
                <a:lnTo>
                  <a:pt x="176367" y="61888"/>
                </a:lnTo>
                <a:lnTo>
                  <a:pt x="180980" y="904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5999" y="2362200"/>
            <a:ext cx="152400" cy="914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17" name="Shape 15"/>
          <p:cNvSpPr/>
          <p:nvPr/>
        </p:nvSpPr>
        <p:spPr>
          <a:xfrm>
            <a:off x="422780" y="62861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18" name="Shape 16"/>
          <p:cNvSpPr/>
          <p:nvPr/>
        </p:nvSpPr>
        <p:spPr>
          <a:xfrm>
            <a:off x="4404865" y="370836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19" name="Shape 17"/>
          <p:cNvSpPr/>
          <p:nvPr/>
        </p:nvSpPr>
        <p:spPr>
          <a:xfrm>
            <a:off x="4648304" y="3581364"/>
            <a:ext cx="3358533" cy="2870271"/>
          </a:xfrm>
          <a:custGeom>
            <a:avLst/>
            <a:gdLst/>
            <a:ahLst/>
            <a:cxnLst/>
            <a:rect l="l" t="t" r="r" b="b"/>
            <a:pathLst>
              <a:path w="3358533" h="2870271">
                <a:moveTo>
                  <a:pt x="0" y="2870271"/>
                </a:moveTo>
                <a:lnTo>
                  <a:pt x="3358533" y="2870271"/>
                </a:lnTo>
                <a:lnTo>
                  <a:pt x="3358533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20" name="Shape 18"/>
          <p:cNvSpPr/>
          <p:nvPr/>
        </p:nvSpPr>
        <p:spPr>
          <a:xfrm>
            <a:off x="4280030" y="3581364"/>
            <a:ext cx="368507" cy="2870271"/>
          </a:xfrm>
          <a:custGeom>
            <a:avLst/>
            <a:gdLst/>
            <a:ahLst/>
            <a:cxnLst/>
            <a:rect l="l" t="t" r="r" b="b"/>
            <a:pathLst>
              <a:path w="368507" h="2870271">
                <a:moveTo>
                  <a:pt x="368507" y="0"/>
                </a:moveTo>
                <a:lnTo>
                  <a:pt x="0" y="0"/>
                </a:lnTo>
                <a:lnTo>
                  <a:pt x="0" y="2870271"/>
                </a:lnTo>
                <a:lnTo>
                  <a:pt x="368507" y="2870271"/>
                </a:lnTo>
                <a:lnTo>
                  <a:pt x="368507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21" name="Shape 19"/>
          <p:cNvSpPr/>
          <p:nvPr/>
        </p:nvSpPr>
        <p:spPr>
          <a:xfrm>
            <a:off x="4368923" y="3670258"/>
            <a:ext cx="180980" cy="180980"/>
          </a:xfrm>
          <a:custGeom>
            <a:avLst/>
            <a:gdLst/>
            <a:ahLst/>
            <a:cxnLst/>
            <a:rect l="l" t="t" r="r" b="b"/>
            <a:pathLst>
              <a:path w="180980" h="180980">
                <a:moveTo>
                  <a:pt x="180980" y="90490"/>
                </a:moveTo>
                <a:lnTo>
                  <a:pt x="176367" y="119091"/>
                </a:lnTo>
                <a:lnTo>
                  <a:pt x="163521" y="143932"/>
                </a:lnTo>
                <a:lnTo>
                  <a:pt x="143932" y="163521"/>
                </a:lnTo>
                <a:lnTo>
                  <a:pt x="119091" y="176367"/>
                </a:lnTo>
                <a:lnTo>
                  <a:pt x="90490" y="180980"/>
                </a:lnTo>
                <a:lnTo>
                  <a:pt x="61888" y="176367"/>
                </a:lnTo>
                <a:lnTo>
                  <a:pt x="37047" y="163521"/>
                </a:lnTo>
                <a:lnTo>
                  <a:pt x="17459" y="143932"/>
                </a:lnTo>
                <a:lnTo>
                  <a:pt x="4613" y="119091"/>
                </a:lnTo>
                <a:lnTo>
                  <a:pt x="0" y="90490"/>
                </a:lnTo>
                <a:lnTo>
                  <a:pt x="4613" y="61888"/>
                </a:lnTo>
                <a:lnTo>
                  <a:pt x="17459" y="37047"/>
                </a:lnTo>
                <a:lnTo>
                  <a:pt x="37047" y="17459"/>
                </a:lnTo>
                <a:lnTo>
                  <a:pt x="61888" y="4613"/>
                </a:lnTo>
                <a:lnTo>
                  <a:pt x="90490" y="0"/>
                </a:lnTo>
                <a:lnTo>
                  <a:pt x="119091" y="4613"/>
                </a:lnTo>
                <a:lnTo>
                  <a:pt x="143932" y="17459"/>
                </a:lnTo>
                <a:lnTo>
                  <a:pt x="163521" y="37047"/>
                </a:lnTo>
                <a:lnTo>
                  <a:pt x="176367" y="61888"/>
                </a:lnTo>
                <a:lnTo>
                  <a:pt x="180980" y="904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8084" y="5441950"/>
            <a:ext cx="152400" cy="914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3" name="Shape 21"/>
          <p:cNvSpPr/>
          <p:nvPr/>
        </p:nvSpPr>
        <p:spPr>
          <a:xfrm>
            <a:off x="4404865" y="370836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24" name="Shape 22"/>
          <p:cNvSpPr/>
          <p:nvPr/>
        </p:nvSpPr>
        <p:spPr>
          <a:xfrm>
            <a:off x="8289795" y="370836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25" name="Shape 23"/>
          <p:cNvSpPr/>
          <p:nvPr/>
        </p:nvSpPr>
        <p:spPr>
          <a:xfrm>
            <a:off x="8533234" y="3581364"/>
            <a:ext cx="3358533" cy="2870271"/>
          </a:xfrm>
          <a:custGeom>
            <a:avLst/>
            <a:gdLst/>
            <a:ahLst/>
            <a:cxnLst/>
            <a:rect l="l" t="t" r="r" b="b"/>
            <a:pathLst>
              <a:path w="3358533" h="2870271">
                <a:moveTo>
                  <a:pt x="0" y="2870271"/>
                </a:moveTo>
                <a:lnTo>
                  <a:pt x="3358533" y="2870271"/>
                </a:lnTo>
                <a:lnTo>
                  <a:pt x="3358533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26" name="Shape 24"/>
          <p:cNvSpPr/>
          <p:nvPr/>
        </p:nvSpPr>
        <p:spPr>
          <a:xfrm>
            <a:off x="8164960" y="3581364"/>
            <a:ext cx="368507" cy="2870271"/>
          </a:xfrm>
          <a:custGeom>
            <a:avLst/>
            <a:gdLst/>
            <a:ahLst/>
            <a:cxnLst/>
            <a:rect l="l" t="t" r="r" b="b"/>
            <a:pathLst>
              <a:path w="368507" h="2870271">
                <a:moveTo>
                  <a:pt x="368507" y="0"/>
                </a:moveTo>
                <a:lnTo>
                  <a:pt x="0" y="0"/>
                </a:lnTo>
                <a:lnTo>
                  <a:pt x="0" y="2870271"/>
                </a:lnTo>
                <a:lnTo>
                  <a:pt x="368507" y="2870271"/>
                </a:lnTo>
                <a:lnTo>
                  <a:pt x="368507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27" name="Shape 25"/>
          <p:cNvSpPr/>
          <p:nvPr/>
        </p:nvSpPr>
        <p:spPr>
          <a:xfrm>
            <a:off x="8253853" y="3670258"/>
            <a:ext cx="180980" cy="180980"/>
          </a:xfrm>
          <a:custGeom>
            <a:avLst/>
            <a:gdLst/>
            <a:ahLst/>
            <a:cxnLst/>
            <a:rect l="l" t="t" r="r" b="b"/>
            <a:pathLst>
              <a:path w="180980" h="180980">
                <a:moveTo>
                  <a:pt x="180980" y="90490"/>
                </a:moveTo>
                <a:lnTo>
                  <a:pt x="176367" y="119091"/>
                </a:lnTo>
                <a:lnTo>
                  <a:pt x="163521" y="143932"/>
                </a:lnTo>
                <a:lnTo>
                  <a:pt x="143932" y="163521"/>
                </a:lnTo>
                <a:lnTo>
                  <a:pt x="119091" y="176367"/>
                </a:lnTo>
                <a:lnTo>
                  <a:pt x="90490" y="180980"/>
                </a:lnTo>
                <a:lnTo>
                  <a:pt x="61888" y="176367"/>
                </a:lnTo>
                <a:lnTo>
                  <a:pt x="37047" y="163521"/>
                </a:lnTo>
                <a:lnTo>
                  <a:pt x="17459" y="143932"/>
                </a:lnTo>
                <a:lnTo>
                  <a:pt x="4613" y="119091"/>
                </a:lnTo>
                <a:lnTo>
                  <a:pt x="0" y="90490"/>
                </a:lnTo>
                <a:lnTo>
                  <a:pt x="4613" y="61888"/>
                </a:lnTo>
                <a:lnTo>
                  <a:pt x="17459" y="37047"/>
                </a:lnTo>
                <a:lnTo>
                  <a:pt x="37047" y="17459"/>
                </a:lnTo>
                <a:lnTo>
                  <a:pt x="61888" y="4613"/>
                </a:lnTo>
                <a:lnTo>
                  <a:pt x="90490" y="0"/>
                </a:lnTo>
                <a:lnTo>
                  <a:pt x="119091" y="4613"/>
                </a:lnTo>
                <a:lnTo>
                  <a:pt x="143932" y="17459"/>
                </a:lnTo>
                <a:lnTo>
                  <a:pt x="163521" y="37047"/>
                </a:lnTo>
                <a:lnTo>
                  <a:pt x="176367" y="61888"/>
                </a:lnTo>
                <a:lnTo>
                  <a:pt x="180980" y="9049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1369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73014" y="5441950"/>
            <a:ext cx="152400" cy="9144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9" name="Shape 27"/>
          <p:cNvSpPr/>
          <p:nvPr/>
        </p:nvSpPr>
        <p:spPr>
          <a:xfrm>
            <a:off x="8289795" y="3708364"/>
            <a:ext cx="2310" cy="2870271"/>
          </a:xfrm>
          <a:custGeom>
            <a:avLst/>
            <a:gdLst/>
            <a:ahLst/>
            <a:cxnLst/>
            <a:rect l="l" t="t" r="r" b="b"/>
            <a:pathLst>
              <a:path w="2310" h="2870271">
                <a:moveTo>
                  <a:pt x="0" y="2870271"/>
                </a:moveTo>
                <a:lnTo>
                  <a:pt x="2310" y="2870271"/>
                </a:lnTo>
                <a:lnTo>
                  <a:pt x="2310" y="0"/>
                </a:lnTo>
                <a:lnTo>
                  <a:pt x="0" y="0"/>
                </a:lnTo>
                <a:lnTo>
                  <a:pt x="0" y="2870271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30" name="Text 28"/>
          <p:cNvSpPr/>
          <p:nvPr/>
        </p:nvSpPr>
        <p:spPr>
          <a:xfrm>
            <a:off x="556483" y="890658"/>
            <a:ext cx="3396974" cy="345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pip包管理器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984" y="1200717"/>
            <a:ext cx="2948113" cy="11360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pip是Python的应用商店，用于下载安装各种功能扩展包。在激活的虚拟环境中使用，确保包安装到正确位置。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00468" y="890658"/>
            <a:ext cx="3396974" cy="345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numpy数值计算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776969" y="1200717"/>
            <a:ext cx="2948113" cy="11360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运行pip install numpy安装。numpy是数据处理的基础引擎，提供高效的数组运算能力，是科学计算的必备工具。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38568" y="3970408"/>
            <a:ext cx="3396974" cy="345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matplotlib数据可视化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815069" y="4280467"/>
            <a:ext cx="2948113" cy="11360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运行pip install matplotlib安装。这是Python最流行的绘图库，能将枯燥数据变成直观图表，是数据探索的画笔。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3498" y="3970408"/>
            <a:ext cx="3396974" cy="345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pandas与openpyxl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699999" y="4280467"/>
            <a:ext cx="2948113" cy="11360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运行pip install pandas openpyxl安装。pandas提供强大的数据表格操作，openpyxl支持Excel文件读写，方便导入实验数据。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Python基础入门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886" y="247387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4"/>
                </a:lnTo>
                <a:lnTo>
                  <a:pt x="25831" y="365908"/>
                </a:lnTo>
                <a:lnTo>
                  <a:pt x="39567" y="390385"/>
                </a:lnTo>
                <a:lnTo>
                  <a:pt x="55832" y="413096"/>
                </a:lnTo>
                <a:lnTo>
                  <a:pt x="74437" y="433848"/>
                </a:lnTo>
                <a:lnTo>
                  <a:pt x="95189" y="452453"/>
                </a:lnTo>
                <a:lnTo>
                  <a:pt x="117900" y="468718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4" y="493469"/>
                </a:lnTo>
                <a:lnTo>
                  <a:pt x="365908" y="482454"/>
                </a:lnTo>
                <a:lnTo>
                  <a:pt x="390385" y="468718"/>
                </a:lnTo>
                <a:lnTo>
                  <a:pt x="413096" y="452453"/>
                </a:lnTo>
                <a:lnTo>
                  <a:pt x="433848" y="433848"/>
                </a:lnTo>
                <a:lnTo>
                  <a:pt x="452453" y="413096"/>
                </a:lnTo>
                <a:lnTo>
                  <a:pt x="468718" y="390385"/>
                </a:lnTo>
                <a:lnTo>
                  <a:pt x="482454" y="365908"/>
                </a:lnTo>
                <a:lnTo>
                  <a:pt x="493469" y="339854"/>
                </a:lnTo>
                <a:lnTo>
                  <a:pt x="501573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3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8" y="117900"/>
                </a:lnTo>
                <a:lnTo>
                  <a:pt x="452453" y="95189"/>
                </a:lnTo>
                <a:lnTo>
                  <a:pt x="433848" y="74437"/>
                </a:lnTo>
                <a:lnTo>
                  <a:pt x="413096" y="55832"/>
                </a:lnTo>
                <a:lnTo>
                  <a:pt x="390385" y="39567"/>
                </a:lnTo>
                <a:lnTo>
                  <a:pt x="365908" y="25831"/>
                </a:lnTo>
                <a:lnTo>
                  <a:pt x="339854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3" name="Shape 1"/>
          <p:cNvSpPr/>
          <p:nvPr/>
        </p:nvSpPr>
        <p:spPr>
          <a:xfrm>
            <a:off x="10972457" y="323827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406029" y="323827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505460" y="1390650"/>
            <a:ext cx="3511550" cy="4972050"/>
          </a:xfrm>
          <a:custGeom>
            <a:avLst/>
            <a:gdLst/>
            <a:ahLst/>
            <a:cxnLst/>
            <a:rect l="l" t="t" r="r" b="b"/>
            <a:pathLst>
              <a:path w="3511550" h="4972050">
                <a:moveTo>
                  <a:pt x="3165100" y="0"/>
                </a:moveTo>
                <a:lnTo>
                  <a:pt x="346450" y="0"/>
                </a:lnTo>
                <a:lnTo>
                  <a:pt x="318035" y="1148"/>
                </a:lnTo>
                <a:lnTo>
                  <a:pt x="290254" y="4534"/>
                </a:lnTo>
                <a:lnTo>
                  <a:pt x="263193" y="10069"/>
                </a:lnTo>
                <a:lnTo>
                  <a:pt x="236945" y="17662"/>
                </a:lnTo>
                <a:lnTo>
                  <a:pt x="211596" y="27226"/>
                </a:lnTo>
                <a:lnTo>
                  <a:pt x="187236" y="38670"/>
                </a:lnTo>
                <a:lnTo>
                  <a:pt x="163955" y="51906"/>
                </a:lnTo>
                <a:lnTo>
                  <a:pt x="141841" y="66845"/>
                </a:lnTo>
                <a:lnTo>
                  <a:pt x="120984" y="83396"/>
                </a:lnTo>
                <a:lnTo>
                  <a:pt x="101473" y="101473"/>
                </a:lnTo>
                <a:lnTo>
                  <a:pt x="83396" y="120984"/>
                </a:lnTo>
                <a:lnTo>
                  <a:pt x="66845" y="141841"/>
                </a:lnTo>
                <a:lnTo>
                  <a:pt x="51906" y="163955"/>
                </a:lnTo>
                <a:lnTo>
                  <a:pt x="38670" y="187236"/>
                </a:lnTo>
                <a:lnTo>
                  <a:pt x="27226" y="211596"/>
                </a:lnTo>
                <a:lnTo>
                  <a:pt x="17662" y="236945"/>
                </a:lnTo>
                <a:lnTo>
                  <a:pt x="10069" y="263193"/>
                </a:lnTo>
                <a:lnTo>
                  <a:pt x="4534" y="290254"/>
                </a:lnTo>
                <a:lnTo>
                  <a:pt x="1148" y="318035"/>
                </a:lnTo>
                <a:lnTo>
                  <a:pt x="0" y="346450"/>
                </a:lnTo>
                <a:lnTo>
                  <a:pt x="0" y="4972050"/>
                </a:lnTo>
                <a:lnTo>
                  <a:pt x="3511550" y="4972050"/>
                </a:lnTo>
                <a:lnTo>
                  <a:pt x="3511550" y="346450"/>
                </a:lnTo>
                <a:lnTo>
                  <a:pt x="3510401" y="318035"/>
                </a:lnTo>
                <a:lnTo>
                  <a:pt x="3507016" y="290254"/>
                </a:lnTo>
                <a:lnTo>
                  <a:pt x="3501481" y="263193"/>
                </a:lnTo>
                <a:lnTo>
                  <a:pt x="3493888" y="236945"/>
                </a:lnTo>
                <a:lnTo>
                  <a:pt x="3484324" y="211596"/>
                </a:lnTo>
                <a:lnTo>
                  <a:pt x="3472880" y="187236"/>
                </a:lnTo>
                <a:lnTo>
                  <a:pt x="3459644" y="163955"/>
                </a:lnTo>
                <a:lnTo>
                  <a:pt x="3444705" y="141841"/>
                </a:lnTo>
                <a:lnTo>
                  <a:pt x="3428153" y="120984"/>
                </a:lnTo>
                <a:lnTo>
                  <a:pt x="3410077" y="101473"/>
                </a:lnTo>
                <a:lnTo>
                  <a:pt x="3390566" y="83396"/>
                </a:lnTo>
                <a:lnTo>
                  <a:pt x="3369709" y="66845"/>
                </a:lnTo>
                <a:lnTo>
                  <a:pt x="3347595" y="51906"/>
                </a:lnTo>
                <a:lnTo>
                  <a:pt x="3324314" y="38670"/>
                </a:lnTo>
                <a:lnTo>
                  <a:pt x="3299954" y="27226"/>
                </a:lnTo>
                <a:lnTo>
                  <a:pt x="3274605" y="17662"/>
                </a:lnTo>
                <a:lnTo>
                  <a:pt x="3248356" y="10069"/>
                </a:lnTo>
                <a:lnTo>
                  <a:pt x="3221296" y="4534"/>
                </a:lnTo>
                <a:lnTo>
                  <a:pt x="3193515" y="1148"/>
                </a:lnTo>
                <a:lnTo>
                  <a:pt x="316510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Shape 4"/>
          <p:cNvSpPr/>
          <p:nvPr/>
        </p:nvSpPr>
        <p:spPr>
          <a:xfrm>
            <a:off x="4403725" y="1390650"/>
            <a:ext cx="3511550" cy="4972050"/>
          </a:xfrm>
          <a:custGeom>
            <a:avLst/>
            <a:gdLst/>
            <a:ahLst/>
            <a:cxnLst/>
            <a:rect l="l" t="t" r="r" b="b"/>
            <a:pathLst>
              <a:path w="3511550" h="4972050">
                <a:moveTo>
                  <a:pt x="3165100" y="0"/>
                </a:moveTo>
                <a:lnTo>
                  <a:pt x="346450" y="0"/>
                </a:lnTo>
                <a:lnTo>
                  <a:pt x="318035" y="1148"/>
                </a:lnTo>
                <a:lnTo>
                  <a:pt x="290254" y="4534"/>
                </a:lnTo>
                <a:lnTo>
                  <a:pt x="263193" y="10069"/>
                </a:lnTo>
                <a:lnTo>
                  <a:pt x="236945" y="17662"/>
                </a:lnTo>
                <a:lnTo>
                  <a:pt x="211596" y="27226"/>
                </a:lnTo>
                <a:lnTo>
                  <a:pt x="187236" y="38670"/>
                </a:lnTo>
                <a:lnTo>
                  <a:pt x="163955" y="51906"/>
                </a:lnTo>
                <a:lnTo>
                  <a:pt x="141841" y="66845"/>
                </a:lnTo>
                <a:lnTo>
                  <a:pt x="120984" y="83396"/>
                </a:lnTo>
                <a:lnTo>
                  <a:pt x="101473" y="101473"/>
                </a:lnTo>
                <a:lnTo>
                  <a:pt x="83396" y="120984"/>
                </a:lnTo>
                <a:lnTo>
                  <a:pt x="66845" y="141841"/>
                </a:lnTo>
                <a:lnTo>
                  <a:pt x="51906" y="163955"/>
                </a:lnTo>
                <a:lnTo>
                  <a:pt x="38670" y="187236"/>
                </a:lnTo>
                <a:lnTo>
                  <a:pt x="27226" y="211596"/>
                </a:lnTo>
                <a:lnTo>
                  <a:pt x="17662" y="236945"/>
                </a:lnTo>
                <a:lnTo>
                  <a:pt x="10069" y="263193"/>
                </a:lnTo>
                <a:lnTo>
                  <a:pt x="4534" y="290254"/>
                </a:lnTo>
                <a:lnTo>
                  <a:pt x="1148" y="318035"/>
                </a:lnTo>
                <a:lnTo>
                  <a:pt x="0" y="346450"/>
                </a:lnTo>
                <a:lnTo>
                  <a:pt x="0" y="4972050"/>
                </a:lnTo>
                <a:lnTo>
                  <a:pt x="3511550" y="4972050"/>
                </a:lnTo>
                <a:lnTo>
                  <a:pt x="3511550" y="346450"/>
                </a:lnTo>
                <a:lnTo>
                  <a:pt x="3510401" y="318035"/>
                </a:lnTo>
                <a:lnTo>
                  <a:pt x="3507016" y="290254"/>
                </a:lnTo>
                <a:lnTo>
                  <a:pt x="3501481" y="263193"/>
                </a:lnTo>
                <a:lnTo>
                  <a:pt x="3493888" y="236945"/>
                </a:lnTo>
                <a:lnTo>
                  <a:pt x="3484324" y="211596"/>
                </a:lnTo>
                <a:lnTo>
                  <a:pt x="3472880" y="187236"/>
                </a:lnTo>
                <a:lnTo>
                  <a:pt x="3459644" y="163955"/>
                </a:lnTo>
                <a:lnTo>
                  <a:pt x="3444705" y="141841"/>
                </a:lnTo>
                <a:lnTo>
                  <a:pt x="3428153" y="120984"/>
                </a:lnTo>
                <a:lnTo>
                  <a:pt x="3410077" y="101473"/>
                </a:lnTo>
                <a:lnTo>
                  <a:pt x="3390566" y="83396"/>
                </a:lnTo>
                <a:lnTo>
                  <a:pt x="3369709" y="66845"/>
                </a:lnTo>
                <a:lnTo>
                  <a:pt x="3347595" y="51906"/>
                </a:lnTo>
                <a:lnTo>
                  <a:pt x="3324314" y="38670"/>
                </a:lnTo>
                <a:lnTo>
                  <a:pt x="3299954" y="27226"/>
                </a:lnTo>
                <a:lnTo>
                  <a:pt x="3274605" y="17662"/>
                </a:lnTo>
                <a:lnTo>
                  <a:pt x="3248356" y="10069"/>
                </a:lnTo>
                <a:lnTo>
                  <a:pt x="3221296" y="4534"/>
                </a:lnTo>
                <a:lnTo>
                  <a:pt x="3193515" y="1148"/>
                </a:lnTo>
                <a:lnTo>
                  <a:pt x="316510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7" name="Shape 5"/>
          <p:cNvSpPr/>
          <p:nvPr/>
        </p:nvSpPr>
        <p:spPr>
          <a:xfrm>
            <a:off x="8302625" y="1390650"/>
            <a:ext cx="3511550" cy="4972050"/>
          </a:xfrm>
          <a:custGeom>
            <a:avLst/>
            <a:gdLst/>
            <a:ahLst/>
            <a:cxnLst/>
            <a:rect l="l" t="t" r="r" b="b"/>
            <a:pathLst>
              <a:path w="3511550" h="4972050">
                <a:moveTo>
                  <a:pt x="3165100" y="0"/>
                </a:moveTo>
                <a:lnTo>
                  <a:pt x="346450" y="0"/>
                </a:lnTo>
                <a:lnTo>
                  <a:pt x="318035" y="1148"/>
                </a:lnTo>
                <a:lnTo>
                  <a:pt x="290254" y="4534"/>
                </a:lnTo>
                <a:lnTo>
                  <a:pt x="263193" y="10069"/>
                </a:lnTo>
                <a:lnTo>
                  <a:pt x="236945" y="17662"/>
                </a:lnTo>
                <a:lnTo>
                  <a:pt x="211596" y="27226"/>
                </a:lnTo>
                <a:lnTo>
                  <a:pt x="187236" y="38670"/>
                </a:lnTo>
                <a:lnTo>
                  <a:pt x="163955" y="51906"/>
                </a:lnTo>
                <a:lnTo>
                  <a:pt x="141841" y="66845"/>
                </a:lnTo>
                <a:lnTo>
                  <a:pt x="120984" y="83396"/>
                </a:lnTo>
                <a:lnTo>
                  <a:pt x="101473" y="101473"/>
                </a:lnTo>
                <a:lnTo>
                  <a:pt x="83396" y="120984"/>
                </a:lnTo>
                <a:lnTo>
                  <a:pt x="66845" y="141841"/>
                </a:lnTo>
                <a:lnTo>
                  <a:pt x="51906" y="163955"/>
                </a:lnTo>
                <a:lnTo>
                  <a:pt x="38670" y="187236"/>
                </a:lnTo>
                <a:lnTo>
                  <a:pt x="27226" y="211596"/>
                </a:lnTo>
                <a:lnTo>
                  <a:pt x="17662" y="236945"/>
                </a:lnTo>
                <a:lnTo>
                  <a:pt x="10069" y="263193"/>
                </a:lnTo>
                <a:lnTo>
                  <a:pt x="4534" y="290254"/>
                </a:lnTo>
                <a:lnTo>
                  <a:pt x="1148" y="318035"/>
                </a:lnTo>
                <a:lnTo>
                  <a:pt x="0" y="346450"/>
                </a:lnTo>
                <a:lnTo>
                  <a:pt x="0" y="4972050"/>
                </a:lnTo>
                <a:lnTo>
                  <a:pt x="3511550" y="4972050"/>
                </a:lnTo>
                <a:lnTo>
                  <a:pt x="3511550" y="346450"/>
                </a:lnTo>
                <a:lnTo>
                  <a:pt x="3510401" y="318035"/>
                </a:lnTo>
                <a:lnTo>
                  <a:pt x="3507016" y="290254"/>
                </a:lnTo>
                <a:lnTo>
                  <a:pt x="3501481" y="263193"/>
                </a:lnTo>
                <a:lnTo>
                  <a:pt x="3493888" y="236945"/>
                </a:lnTo>
                <a:lnTo>
                  <a:pt x="3484324" y="211596"/>
                </a:lnTo>
                <a:lnTo>
                  <a:pt x="3472880" y="187236"/>
                </a:lnTo>
                <a:lnTo>
                  <a:pt x="3459644" y="163955"/>
                </a:lnTo>
                <a:lnTo>
                  <a:pt x="3444705" y="141841"/>
                </a:lnTo>
                <a:lnTo>
                  <a:pt x="3428153" y="120984"/>
                </a:lnTo>
                <a:lnTo>
                  <a:pt x="3410077" y="101473"/>
                </a:lnTo>
                <a:lnTo>
                  <a:pt x="3390566" y="83396"/>
                </a:lnTo>
                <a:lnTo>
                  <a:pt x="3369709" y="66845"/>
                </a:lnTo>
                <a:lnTo>
                  <a:pt x="3347595" y="51906"/>
                </a:lnTo>
                <a:lnTo>
                  <a:pt x="3324314" y="38670"/>
                </a:lnTo>
                <a:lnTo>
                  <a:pt x="3299954" y="27226"/>
                </a:lnTo>
                <a:lnTo>
                  <a:pt x="3274605" y="17662"/>
                </a:lnTo>
                <a:lnTo>
                  <a:pt x="3248356" y="10069"/>
                </a:lnTo>
                <a:lnTo>
                  <a:pt x="3221296" y="4534"/>
                </a:lnTo>
                <a:lnTo>
                  <a:pt x="3193515" y="1148"/>
                </a:lnTo>
                <a:lnTo>
                  <a:pt x="316510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8" name="Shape 6"/>
          <p:cNvSpPr/>
          <p:nvPr/>
        </p:nvSpPr>
        <p:spPr>
          <a:xfrm>
            <a:off x="502042" y="6362253"/>
            <a:ext cx="3511404" cy="184446"/>
          </a:xfrm>
          <a:custGeom>
            <a:avLst/>
            <a:gdLst/>
            <a:ahLst/>
            <a:cxnLst/>
            <a:rect l="l" t="t" r="r" b="b"/>
            <a:pathLst>
              <a:path w="3511404" h="184446">
                <a:moveTo>
                  <a:pt x="3511404" y="0"/>
                </a:moveTo>
                <a:lnTo>
                  <a:pt x="0" y="0"/>
                </a:lnTo>
                <a:lnTo>
                  <a:pt x="0" y="184446"/>
                </a:lnTo>
                <a:lnTo>
                  <a:pt x="3511404" y="184446"/>
                </a:lnTo>
                <a:lnTo>
                  <a:pt x="351140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9" name="Shape 7"/>
          <p:cNvSpPr/>
          <p:nvPr/>
        </p:nvSpPr>
        <p:spPr>
          <a:xfrm>
            <a:off x="4400669" y="6362253"/>
            <a:ext cx="3511404" cy="184446"/>
          </a:xfrm>
          <a:custGeom>
            <a:avLst/>
            <a:gdLst/>
            <a:ahLst/>
            <a:cxnLst/>
            <a:rect l="l" t="t" r="r" b="b"/>
            <a:pathLst>
              <a:path w="3511404" h="184446">
                <a:moveTo>
                  <a:pt x="3511404" y="0"/>
                </a:moveTo>
                <a:lnTo>
                  <a:pt x="0" y="0"/>
                </a:lnTo>
                <a:lnTo>
                  <a:pt x="0" y="184446"/>
                </a:lnTo>
                <a:lnTo>
                  <a:pt x="3511404" y="184446"/>
                </a:lnTo>
                <a:lnTo>
                  <a:pt x="351140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0" name="Shape 8"/>
          <p:cNvSpPr/>
          <p:nvPr/>
        </p:nvSpPr>
        <p:spPr>
          <a:xfrm>
            <a:off x="8299295" y="6362253"/>
            <a:ext cx="3511404" cy="184446"/>
          </a:xfrm>
          <a:custGeom>
            <a:avLst/>
            <a:gdLst/>
            <a:ahLst/>
            <a:cxnLst/>
            <a:rect l="l" t="t" r="r" b="b"/>
            <a:pathLst>
              <a:path w="3511404" h="184446">
                <a:moveTo>
                  <a:pt x="3511404" y="0"/>
                </a:moveTo>
                <a:lnTo>
                  <a:pt x="0" y="0"/>
                </a:lnTo>
                <a:lnTo>
                  <a:pt x="0" y="184446"/>
                </a:lnTo>
                <a:lnTo>
                  <a:pt x="3511404" y="184446"/>
                </a:lnTo>
                <a:lnTo>
                  <a:pt x="3511404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11" name="Text 9"/>
          <p:cNvSpPr/>
          <p:nvPr/>
        </p:nvSpPr>
        <p:spPr>
          <a:xfrm>
            <a:off x="2557422" y="368931"/>
            <a:ext cx="7077156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变量：数据的存储盒子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1676400"/>
            <a:ext cx="2895600" cy="83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</p:sp>
      <p:sp>
        <p:nvSpPr>
          <p:cNvPr id="13" name="Shape 11"/>
          <p:cNvSpPr/>
          <p:nvPr/>
        </p:nvSpPr>
        <p:spPr>
          <a:xfrm>
            <a:off x="4702810" y="1676400"/>
            <a:ext cx="2895600" cy="83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</p:sp>
      <p:sp>
        <p:nvSpPr>
          <p:cNvPr id="14" name="Shape 12"/>
          <p:cNvSpPr/>
          <p:nvPr/>
        </p:nvSpPr>
        <p:spPr>
          <a:xfrm>
            <a:off x="8652510" y="1676400"/>
            <a:ext cx="2895600" cy="838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1161533" y="1752552"/>
            <a:ext cx="219133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变量概念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8505" y="2821345"/>
            <a:ext cx="3232357" cy="118860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变量就像贴有标签的盒子，可以存放各种数据。盒子里的内容可以随时更换，但标签名保持不变。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05339" y="1752552"/>
            <a:ext cx="219133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命名规则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0076" y="2821345"/>
            <a:ext cx="3232357" cy="192004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变量名只能包含字母、数字和下划线，不能以数字开头，区分大小写。建议使用有意义的英文单词，如mercury_mass、isotope_ratio。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49055" y="1753235"/>
            <a:ext cx="219138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代码示例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86001" y="2821345"/>
            <a:ext cx="3232357" cy="2285762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mercury_mass = 202  # 存储汞的质量数; isotope_ratio = 0.298  # 存储同位素比值; print(mercury_mass)  # 输出: 202。用等号赋值，用print查看内容。</a:t>
            </a:r>
            <a:endParaRPr lang="en-US" sz="1600" dirty="0"/>
          </a:p>
        </p:txBody>
      </p:sp>
      <p:pic>
        <p:nvPicPr>
          <p:cNvPr id="21" name="图片 20"/>
          <p:cNvPicPr/>
          <p:nvPr/>
        </p:nvPicPr>
        <p:blipFill>
          <a:blip r:embed="rId1"/>
          <a:stretch>
            <a:fillRect/>
          </a:stretch>
        </p:blipFill>
        <p:spPr>
          <a:xfrm>
            <a:off x="337820" y="241935"/>
            <a:ext cx="2484755" cy="5765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16-d2sjfl61bb2p4onbq0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635"/>
            <a:ext cx="11734800" cy="41878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08665" y="3238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1"/>
          <p:cNvSpPr/>
          <p:nvPr/>
        </p:nvSpPr>
        <p:spPr>
          <a:xfrm>
            <a:off x="11342370" y="3238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Text 2"/>
          <p:cNvSpPr/>
          <p:nvPr/>
        </p:nvSpPr>
        <p:spPr>
          <a:xfrm>
            <a:off x="2438541" y="1219482"/>
            <a:ext cx="7077156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列表：数据的收纳袋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4:55:15-d2sjfku1bb2p4onbq0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1269365" cy="134112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4-14:55:16-d2sjfl61bb2p4onbq0p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614295"/>
            <a:ext cx="1461135" cy="12471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807779" y="2723241"/>
            <a:ext cx="3636579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列表操作大全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09448" y="4299199"/>
            <a:ext cx="4871545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列表是可伸缩的收纳袋，用中括号创建。访问元素用索引（从0开始），如masses[0]获取第一个元素。添加用append()，删除用remove()，长度用len()获取。masses = [202, 204, 199, 200, 201]存储汞的五种同位素质量数。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709340" y="2723241"/>
            <a:ext cx="3636579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实战代码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1009" y="4299199"/>
            <a:ext cx="4871545" cy="1183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masses = [202, 204, 199, 200, 201]; print(masses[0])  # 202; masses.append(198)  # 添加新元素; print(len(masses))  # 6。列表让批量数据管理变得简单高效！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4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5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6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546" y="260332"/>
            <a:ext cx="251447" cy="351179"/>
          </a:xfrm>
          <a:custGeom>
            <a:avLst/>
            <a:gdLst/>
            <a:ahLst/>
            <a:cxnLst/>
            <a:rect l="l" t="t" r="r" b="b"/>
            <a:pathLst>
              <a:path w="251447" h="351179">
                <a:moveTo>
                  <a:pt x="251447" y="0"/>
                </a:moveTo>
                <a:lnTo>
                  <a:pt x="0" y="0"/>
                </a:lnTo>
                <a:lnTo>
                  <a:pt x="0" y="251116"/>
                </a:lnTo>
                <a:lnTo>
                  <a:pt x="164403" y="251116"/>
                </a:lnTo>
                <a:lnTo>
                  <a:pt x="251447" y="351179"/>
                </a:lnTo>
                <a:lnTo>
                  <a:pt x="251447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445242" y="260332"/>
            <a:ext cx="251447" cy="351179"/>
          </a:xfrm>
          <a:custGeom>
            <a:avLst/>
            <a:gdLst/>
            <a:ahLst/>
            <a:cxnLst/>
            <a:rect l="l" t="t" r="r" b="b"/>
            <a:pathLst>
              <a:path w="251447" h="351179">
                <a:moveTo>
                  <a:pt x="251447" y="0"/>
                </a:moveTo>
                <a:lnTo>
                  <a:pt x="0" y="0"/>
                </a:lnTo>
                <a:lnTo>
                  <a:pt x="0" y="251116"/>
                </a:lnTo>
                <a:lnTo>
                  <a:pt x="164403" y="251116"/>
                </a:lnTo>
                <a:lnTo>
                  <a:pt x="251447" y="351179"/>
                </a:lnTo>
                <a:lnTo>
                  <a:pt x="251447" y="0"/>
                </a:lnTo>
                <a:close/>
              </a:path>
            </a:pathLst>
          </a:custGeom>
          <a:solidFill>
            <a:srgbClr val="1E1E1E"/>
          </a:solidFill>
        </p:spPr>
      </p:sp>
      <p:pic>
        <p:nvPicPr>
          <p:cNvPr id="4" name="Image 0" descr="https://kimi-img.moonshot.cn/pub/slides/slides_tmpl/image/25-09-04-14:55:16-d2sjfl61bb2p4onbq0s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70" y="5670152"/>
            <a:ext cx="3171856" cy="717500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9-04-14:55:16-d2sjfl61bb2p4onbq0t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220" y="5658722"/>
            <a:ext cx="3428759" cy="717500"/>
          </a:xfrm>
          <a:prstGeom prst="rect">
            <a:avLst/>
          </a:prstGeom>
        </p:spPr>
      </p:pic>
      <p:pic>
        <p:nvPicPr>
          <p:cNvPr id="6" name="Image 2" descr="https://kimi-img.moonshot.cn/pub/slides/slides_tmpl/image/25-09-04-14:55:16-d2sjfl61bb2p4onbq0u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161" y="5658722"/>
            <a:ext cx="3428759" cy="7175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557422" y="1098832"/>
            <a:ext cx="7077156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循环：重复任务的自动化助手</a:t>
            </a:r>
            <a:endParaRPr lang="en-US" sz="1600" dirty="0"/>
          </a:p>
        </p:txBody>
      </p:sp>
      <p:pic>
        <p:nvPicPr>
          <p:cNvPr id="8" name="Image 3" descr="https://kimi-img.moonshot.cn/pub/slides/slides_tmpl/image/25-09-04-14:55:16-d2sjfl61bb2p4onbq0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1715" y="5334000"/>
            <a:ext cx="267970" cy="262255"/>
          </a:xfrm>
          <a:prstGeom prst="rect">
            <a:avLst/>
          </a:prstGeom>
        </p:spPr>
      </p:pic>
      <p:pic>
        <p:nvPicPr>
          <p:cNvPr id="9" name="Image 4" descr="https://kimi-img.moonshot.cn/pub/slides/slides_tmpl/image/25-09-04-14:55:16-d2sjfl61bb2p4onbq0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515" y="5322570"/>
            <a:ext cx="267970" cy="262255"/>
          </a:xfrm>
          <a:prstGeom prst="rect">
            <a:avLst/>
          </a:prstGeom>
        </p:spPr>
      </p:pic>
      <p:pic>
        <p:nvPicPr>
          <p:cNvPr id="10" name="Image 5" descr="https://kimi-img.moonshot.cn/pub/slides/slides_tmpl/image/25-09-04-14:55:16-d2sjfl61bb2p4onbq0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9025" y="5322570"/>
            <a:ext cx="267970" cy="262255"/>
          </a:xfrm>
          <a:prstGeom prst="rect">
            <a:avLst/>
          </a:prstGeom>
        </p:spPr>
      </p:pic>
      <p:pic>
        <p:nvPicPr>
          <p:cNvPr id="11" name="Image 6" descr="https://kimi-img.moonshot.cn/pub/slides/slides_tmpl/image/25-09-04-14:55:15-d2sjfku1bb2p4onbq0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" y="2174875"/>
            <a:ext cx="550545" cy="581660"/>
          </a:xfrm>
          <a:prstGeom prst="rect">
            <a:avLst/>
          </a:prstGeom>
        </p:spPr>
      </p:pic>
      <p:pic>
        <p:nvPicPr>
          <p:cNvPr id="12" name="Image 7" descr="https://kimi-img.moonshot.cn/pub/slides/slides_tmpl/image/25-09-04-14:55:16-d2sjfl61bb2p4onbq0v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4690" y="2163445"/>
            <a:ext cx="690880" cy="581025"/>
          </a:xfrm>
          <a:prstGeom prst="rect">
            <a:avLst/>
          </a:prstGeom>
        </p:spPr>
      </p:pic>
      <p:pic>
        <p:nvPicPr>
          <p:cNvPr id="13" name="Image 8" descr="https://kimi-img.moonshot.cn/pub/slides/slides_tmpl/image/25-09-04-14:55:16-d2sjfl61bb2p4onbq0s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5800" y="2163445"/>
            <a:ext cx="676910" cy="581660"/>
          </a:xfrm>
          <a:prstGeom prst="rect">
            <a:avLst/>
          </a:prstGeom>
        </p:spPr>
      </p:pic>
      <p:pic>
        <p:nvPicPr>
          <p:cNvPr id="14" name="Image 9" descr="https://kimi-img.moonshot.cn/pub/slides/slides_tmpl/image/25-09-04-14:55:16-d2sjfl61bb2p4onbq10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2289810"/>
            <a:ext cx="152400" cy="4096385"/>
          </a:xfrm>
          <a:prstGeom prst="rect">
            <a:avLst/>
          </a:prstGeom>
        </p:spPr>
      </p:pic>
      <p:pic>
        <p:nvPicPr>
          <p:cNvPr id="15" name="Image 10" descr="https://kimi-img.moonshot.cn/pub/slides/slides_tmpl/image/25-09-04-14:55:16-d2sjfl61bb2p4onbq10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6690" y="2301240"/>
            <a:ext cx="152400" cy="4096385"/>
          </a:xfrm>
          <a:prstGeom prst="rect">
            <a:avLst/>
          </a:prstGeom>
        </p:spPr>
      </p:pic>
      <p:sp>
        <p:nvSpPr>
          <p:cNvPr id="16" name="Text 3"/>
          <p:cNvSpPr/>
          <p:nvPr/>
        </p:nvSpPr>
        <p:spPr>
          <a:xfrm>
            <a:off x="1312029" y="2204565"/>
            <a:ext cx="2034463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for循环原理</a:t>
            </a:r>
            <a:endParaRPr lang="en-US" sz="1600" dirty="0"/>
          </a:p>
        </p:txBody>
      </p:sp>
      <p:sp>
        <p:nvSpPr>
          <p:cNvPr id="17" name="Text 4"/>
          <p:cNvSpPr/>
          <p:nvPr/>
        </p:nvSpPr>
        <p:spPr>
          <a:xfrm>
            <a:off x="591523" y="2952369"/>
            <a:ext cx="3019108" cy="1183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for循环像勤劳的机器人，按指令重复执行任务。搭配range()函数可生成数字序列，如range(5)产生0到4。</a:t>
            </a:r>
            <a:endParaRPr lang="en-US" sz="1600" dirty="0"/>
          </a:p>
        </p:txBody>
      </p:sp>
      <p:sp>
        <p:nvSpPr>
          <p:cNvPr id="18" name="Text 5"/>
          <p:cNvSpPr/>
          <p:nvPr/>
        </p:nvSpPr>
        <p:spPr>
          <a:xfrm>
            <a:off x="5228096" y="2172730"/>
            <a:ext cx="2034463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计算平均值实战</a:t>
            </a:r>
            <a:endParaRPr lang="en-US" sz="1600" dirty="0"/>
          </a:p>
        </p:txBody>
      </p:sp>
      <p:sp>
        <p:nvSpPr>
          <p:cNvPr id="19" name="Text 6"/>
          <p:cNvSpPr/>
          <p:nvPr/>
        </p:nvSpPr>
        <p:spPr>
          <a:xfrm>
            <a:off x="4413156" y="2940939"/>
            <a:ext cx="3019108" cy="20218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abundances = [29.8, 23.1, 13.2, 16.9, 17.0]; total = 0; for value in abundances: total += value; average = total / len(abundances)。循环遍历每个元素累加求和，再除以个数得到平均值。</a:t>
            </a:r>
            <a:endParaRPr lang="en-US" sz="1600" dirty="0"/>
          </a:p>
        </p:txBody>
      </p:sp>
      <p:sp>
        <p:nvSpPr>
          <p:cNvPr id="20" name="Text 7"/>
          <p:cNvSpPr/>
          <p:nvPr/>
        </p:nvSpPr>
        <p:spPr>
          <a:xfrm>
            <a:off x="9078606" y="2172729"/>
            <a:ext cx="2034463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循环语法要点</a:t>
            </a:r>
            <a:endParaRPr lang="en-US" sz="1600" dirty="0"/>
          </a:p>
        </p:txBody>
      </p:sp>
      <p:sp>
        <p:nvSpPr>
          <p:cNvPr id="21" name="Text 8"/>
          <p:cNvSpPr/>
          <p:nvPr/>
        </p:nvSpPr>
        <p:spPr>
          <a:xfrm>
            <a:off x="8278558" y="2940939"/>
            <a:ext cx="3019108" cy="11836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 变量 in 可迭代对象: 执行语句。注意冒号和缩进！缩进表示代码块归属，是Python语法的核心特征。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9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10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11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01694" y="6184476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231375" y="140996"/>
                </a:lnTo>
                <a:lnTo>
                  <a:pt x="0" y="140996"/>
                </a:lnTo>
                <a:lnTo>
                  <a:pt x="0" y="494808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635266" y="6184476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231375" y="140996"/>
                </a:lnTo>
                <a:lnTo>
                  <a:pt x="0" y="140996"/>
                </a:lnTo>
                <a:lnTo>
                  <a:pt x="0" y="494808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428" y="2273141"/>
            <a:ext cx="6876868" cy="4584578"/>
          </a:xfrm>
          <a:custGeom>
            <a:avLst/>
            <a:gdLst/>
            <a:ahLst/>
            <a:cxnLst/>
            <a:rect l="l" t="t" r="r" b="b"/>
            <a:pathLst>
              <a:path w="6876868" h="4584578">
                <a:moveTo>
                  <a:pt x="6177853" y="0"/>
                </a:moveTo>
                <a:lnTo>
                  <a:pt x="0" y="0"/>
                </a:lnTo>
                <a:lnTo>
                  <a:pt x="0" y="4584578"/>
                </a:lnTo>
                <a:lnTo>
                  <a:pt x="6876868" y="4584578"/>
                </a:lnTo>
                <a:lnTo>
                  <a:pt x="6876868" y="699014"/>
                </a:lnTo>
                <a:lnTo>
                  <a:pt x="6876255" y="669466"/>
                </a:lnTo>
                <a:lnTo>
                  <a:pt x="6874431" y="640230"/>
                </a:lnTo>
                <a:lnTo>
                  <a:pt x="6871422" y="611332"/>
                </a:lnTo>
                <a:lnTo>
                  <a:pt x="6867251" y="582794"/>
                </a:lnTo>
                <a:lnTo>
                  <a:pt x="6861942" y="554641"/>
                </a:lnTo>
                <a:lnTo>
                  <a:pt x="6855520" y="526898"/>
                </a:lnTo>
                <a:lnTo>
                  <a:pt x="6848009" y="499589"/>
                </a:lnTo>
                <a:lnTo>
                  <a:pt x="6839433" y="472739"/>
                </a:lnTo>
                <a:lnTo>
                  <a:pt x="6829817" y="446371"/>
                </a:lnTo>
                <a:lnTo>
                  <a:pt x="6819185" y="420509"/>
                </a:lnTo>
                <a:lnTo>
                  <a:pt x="6807560" y="395178"/>
                </a:lnTo>
                <a:lnTo>
                  <a:pt x="6794968" y="370403"/>
                </a:lnTo>
                <a:lnTo>
                  <a:pt x="6781433" y="346208"/>
                </a:lnTo>
                <a:lnTo>
                  <a:pt x="6766978" y="322616"/>
                </a:lnTo>
                <a:lnTo>
                  <a:pt x="6751629" y="299652"/>
                </a:lnTo>
                <a:lnTo>
                  <a:pt x="6735409" y="277340"/>
                </a:lnTo>
                <a:lnTo>
                  <a:pt x="6718342" y="255704"/>
                </a:lnTo>
                <a:lnTo>
                  <a:pt x="6700453" y="234770"/>
                </a:lnTo>
                <a:lnTo>
                  <a:pt x="6681767" y="214561"/>
                </a:lnTo>
                <a:lnTo>
                  <a:pt x="6662307" y="195101"/>
                </a:lnTo>
                <a:lnTo>
                  <a:pt x="6642098" y="176415"/>
                </a:lnTo>
                <a:lnTo>
                  <a:pt x="6621163" y="158526"/>
                </a:lnTo>
                <a:lnTo>
                  <a:pt x="6599528" y="141460"/>
                </a:lnTo>
                <a:lnTo>
                  <a:pt x="6577216" y="125239"/>
                </a:lnTo>
                <a:lnTo>
                  <a:pt x="6554252" y="109890"/>
                </a:lnTo>
                <a:lnTo>
                  <a:pt x="6530660" y="95435"/>
                </a:lnTo>
                <a:lnTo>
                  <a:pt x="6506465" y="81900"/>
                </a:lnTo>
                <a:lnTo>
                  <a:pt x="6481689" y="69308"/>
                </a:lnTo>
                <a:lnTo>
                  <a:pt x="6456359" y="57683"/>
                </a:lnTo>
                <a:lnTo>
                  <a:pt x="6430497" y="47051"/>
                </a:lnTo>
                <a:lnTo>
                  <a:pt x="6404129" y="37435"/>
                </a:lnTo>
                <a:lnTo>
                  <a:pt x="6377279" y="28859"/>
                </a:lnTo>
                <a:lnTo>
                  <a:pt x="6349970" y="21348"/>
                </a:lnTo>
                <a:lnTo>
                  <a:pt x="6322227" y="14926"/>
                </a:lnTo>
                <a:lnTo>
                  <a:pt x="6294074" y="9617"/>
                </a:lnTo>
                <a:lnTo>
                  <a:pt x="6265536" y="5446"/>
                </a:lnTo>
                <a:lnTo>
                  <a:pt x="6236638" y="2437"/>
                </a:lnTo>
                <a:lnTo>
                  <a:pt x="6207402" y="613"/>
                </a:lnTo>
                <a:lnTo>
                  <a:pt x="6177853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054231" y="6145634"/>
            <a:ext cx="539860" cy="539860"/>
          </a:xfrm>
          <a:custGeom>
            <a:avLst/>
            <a:gdLst/>
            <a:ahLst/>
            <a:cxnLst/>
            <a:rect l="l" t="t" r="r" b="b"/>
            <a:pathLst>
              <a:path w="539860" h="539860">
                <a:moveTo>
                  <a:pt x="262747" y="0"/>
                </a:moveTo>
                <a:lnTo>
                  <a:pt x="235198" y="2147"/>
                </a:lnTo>
                <a:lnTo>
                  <a:pt x="207984" y="7089"/>
                </a:lnTo>
                <a:lnTo>
                  <a:pt x="181336" y="14807"/>
                </a:lnTo>
                <a:lnTo>
                  <a:pt x="155488" y="25283"/>
                </a:lnTo>
                <a:lnTo>
                  <a:pt x="130671" y="38500"/>
                </a:lnTo>
                <a:lnTo>
                  <a:pt x="107117" y="54439"/>
                </a:lnTo>
                <a:lnTo>
                  <a:pt x="85060" y="73082"/>
                </a:lnTo>
                <a:lnTo>
                  <a:pt x="64730" y="94411"/>
                </a:lnTo>
                <a:lnTo>
                  <a:pt x="46810" y="117799"/>
                </a:lnTo>
                <a:lnTo>
                  <a:pt x="31810" y="142479"/>
                </a:lnTo>
                <a:lnTo>
                  <a:pt x="19714" y="168217"/>
                </a:lnTo>
                <a:lnTo>
                  <a:pt x="10503" y="194782"/>
                </a:lnTo>
                <a:lnTo>
                  <a:pt x="4159" y="221942"/>
                </a:lnTo>
                <a:lnTo>
                  <a:pt x="664" y="249463"/>
                </a:lnTo>
                <a:lnTo>
                  <a:pt x="0" y="277114"/>
                </a:lnTo>
                <a:lnTo>
                  <a:pt x="2148" y="304663"/>
                </a:lnTo>
                <a:lnTo>
                  <a:pt x="7090" y="331877"/>
                </a:lnTo>
                <a:lnTo>
                  <a:pt x="14809" y="358524"/>
                </a:lnTo>
                <a:lnTo>
                  <a:pt x="25286" y="384372"/>
                </a:lnTo>
                <a:lnTo>
                  <a:pt x="38503" y="409189"/>
                </a:lnTo>
                <a:lnTo>
                  <a:pt x="54442" y="432741"/>
                </a:lnTo>
                <a:lnTo>
                  <a:pt x="73085" y="454798"/>
                </a:lnTo>
                <a:lnTo>
                  <a:pt x="94413" y="475127"/>
                </a:lnTo>
                <a:lnTo>
                  <a:pt x="117802" y="493047"/>
                </a:lnTo>
                <a:lnTo>
                  <a:pt x="142481" y="508046"/>
                </a:lnTo>
                <a:lnTo>
                  <a:pt x="168220" y="520143"/>
                </a:lnTo>
                <a:lnTo>
                  <a:pt x="194784" y="529355"/>
                </a:lnTo>
                <a:lnTo>
                  <a:pt x="221944" y="535699"/>
                </a:lnTo>
                <a:lnTo>
                  <a:pt x="249465" y="539195"/>
                </a:lnTo>
                <a:lnTo>
                  <a:pt x="277115" y="539860"/>
                </a:lnTo>
                <a:lnTo>
                  <a:pt x="304664" y="537713"/>
                </a:lnTo>
                <a:lnTo>
                  <a:pt x="331878" y="532771"/>
                </a:lnTo>
                <a:lnTo>
                  <a:pt x="358525" y="525053"/>
                </a:lnTo>
                <a:lnTo>
                  <a:pt x="384373" y="514576"/>
                </a:lnTo>
                <a:lnTo>
                  <a:pt x="409189" y="501360"/>
                </a:lnTo>
                <a:lnTo>
                  <a:pt x="432741" y="485421"/>
                </a:lnTo>
                <a:lnTo>
                  <a:pt x="454798" y="466778"/>
                </a:lnTo>
                <a:lnTo>
                  <a:pt x="475127" y="445449"/>
                </a:lnTo>
                <a:lnTo>
                  <a:pt x="493047" y="422061"/>
                </a:lnTo>
                <a:lnTo>
                  <a:pt x="508047" y="397381"/>
                </a:lnTo>
                <a:lnTo>
                  <a:pt x="520143" y="371643"/>
                </a:lnTo>
                <a:lnTo>
                  <a:pt x="529354" y="345078"/>
                </a:lnTo>
                <a:lnTo>
                  <a:pt x="535699" y="317918"/>
                </a:lnTo>
                <a:lnTo>
                  <a:pt x="539195" y="290397"/>
                </a:lnTo>
                <a:lnTo>
                  <a:pt x="539860" y="262746"/>
                </a:lnTo>
                <a:lnTo>
                  <a:pt x="537713" y="235197"/>
                </a:lnTo>
                <a:lnTo>
                  <a:pt x="532771" y="207983"/>
                </a:lnTo>
                <a:lnTo>
                  <a:pt x="525053" y="181336"/>
                </a:lnTo>
                <a:lnTo>
                  <a:pt x="514576" y="155488"/>
                </a:lnTo>
                <a:lnTo>
                  <a:pt x="501360" y="130671"/>
                </a:lnTo>
                <a:lnTo>
                  <a:pt x="485421" y="107119"/>
                </a:lnTo>
                <a:lnTo>
                  <a:pt x="466779" y="85062"/>
                </a:lnTo>
                <a:lnTo>
                  <a:pt x="445450" y="64733"/>
                </a:lnTo>
                <a:lnTo>
                  <a:pt x="422062" y="46813"/>
                </a:lnTo>
                <a:lnTo>
                  <a:pt x="397382" y="31813"/>
                </a:lnTo>
                <a:lnTo>
                  <a:pt x="371644" y="19717"/>
                </a:lnTo>
                <a:lnTo>
                  <a:pt x="345079" y="10505"/>
                </a:lnTo>
                <a:lnTo>
                  <a:pt x="317919" y="4161"/>
                </a:lnTo>
                <a:lnTo>
                  <a:pt x="290398" y="665"/>
                </a:lnTo>
                <a:lnTo>
                  <a:pt x="262747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6" name="Shape 4"/>
          <p:cNvSpPr/>
          <p:nvPr/>
        </p:nvSpPr>
        <p:spPr>
          <a:xfrm>
            <a:off x="6154999" y="6269239"/>
            <a:ext cx="334236" cy="299965"/>
          </a:xfrm>
          <a:custGeom>
            <a:avLst/>
            <a:gdLst/>
            <a:ahLst/>
            <a:cxnLst/>
            <a:rect l="l" t="t" r="r" b="b"/>
            <a:pathLst>
              <a:path w="334236" h="299965">
                <a:moveTo>
                  <a:pt x="204053" y="0"/>
                </a:moveTo>
                <a:lnTo>
                  <a:pt x="0" y="15897"/>
                </a:lnTo>
                <a:lnTo>
                  <a:pt x="21503" y="213950"/>
                </a:lnTo>
                <a:lnTo>
                  <a:pt x="59725" y="209809"/>
                </a:lnTo>
                <a:lnTo>
                  <a:pt x="44983" y="74030"/>
                </a:lnTo>
                <a:lnTo>
                  <a:pt x="309244" y="299965"/>
                </a:lnTo>
                <a:lnTo>
                  <a:pt x="334236" y="270762"/>
                </a:lnTo>
                <a:lnTo>
                  <a:pt x="74429" y="48644"/>
                </a:lnTo>
                <a:lnTo>
                  <a:pt x="207039" y="38311"/>
                </a:lnTo>
                <a:lnTo>
                  <a:pt x="204053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7" name="Shape 5"/>
          <p:cNvSpPr/>
          <p:nvPr/>
        </p:nvSpPr>
        <p:spPr>
          <a:xfrm>
            <a:off x="5334055" y="0"/>
            <a:ext cx="6883029" cy="4584578"/>
          </a:xfrm>
          <a:custGeom>
            <a:avLst/>
            <a:gdLst/>
            <a:ahLst/>
            <a:cxnLst/>
            <a:rect l="l" t="t" r="r" b="b"/>
            <a:pathLst>
              <a:path w="6883029" h="4584578">
                <a:moveTo>
                  <a:pt x="6883029" y="0"/>
                </a:moveTo>
                <a:lnTo>
                  <a:pt x="698995" y="0"/>
                </a:lnTo>
                <a:lnTo>
                  <a:pt x="669448" y="613"/>
                </a:lnTo>
                <a:lnTo>
                  <a:pt x="640213" y="2437"/>
                </a:lnTo>
                <a:lnTo>
                  <a:pt x="611315" y="5446"/>
                </a:lnTo>
                <a:lnTo>
                  <a:pt x="582778" y="9617"/>
                </a:lnTo>
                <a:lnTo>
                  <a:pt x="554626" y="14926"/>
                </a:lnTo>
                <a:lnTo>
                  <a:pt x="526884" y="21348"/>
                </a:lnTo>
                <a:lnTo>
                  <a:pt x="499576" y="28859"/>
                </a:lnTo>
                <a:lnTo>
                  <a:pt x="472726" y="37435"/>
                </a:lnTo>
                <a:lnTo>
                  <a:pt x="446358" y="47051"/>
                </a:lnTo>
                <a:lnTo>
                  <a:pt x="420497" y="57683"/>
                </a:lnTo>
                <a:lnTo>
                  <a:pt x="395168" y="69308"/>
                </a:lnTo>
                <a:lnTo>
                  <a:pt x="370393" y="81900"/>
                </a:lnTo>
                <a:lnTo>
                  <a:pt x="346198" y="95435"/>
                </a:lnTo>
                <a:lnTo>
                  <a:pt x="322607" y="109890"/>
                </a:lnTo>
                <a:lnTo>
                  <a:pt x="299643" y="125239"/>
                </a:lnTo>
                <a:lnTo>
                  <a:pt x="277332" y="141460"/>
                </a:lnTo>
                <a:lnTo>
                  <a:pt x="255697" y="158526"/>
                </a:lnTo>
                <a:lnTo>
                  <a:pt x="234764" y="176415"/>
                </a:lnTo>
                <a:lnTo>
                  <a:pt x="214555" y="195101"/>
                </a:lnTo>
                <a:lnTo>
                  <a:pt x="195096" y="214561"/>
                </a:lnTo>
                <a:lnTo>
                  <a:pt x="176410" y="234770"/>
                </a:lnTo>
                <a:lnTo>
                  <a:pt x="158522" y="255704"/>
                </a:lnTo>
                <a:lnTo>
                  <a:pt x="141456" y="277340"/>
                </a:lnTo>
                <a:lnTo>
                  <a:pt x="125236" y="299652"/>
                </a:lnTo>
                <a:lnTo>
                  <a:pt x="109887" y="322616"/>
                </a:lnTo>
                <a:lnTo>
                  <a:pt x="95433" y="346208"/>
                </a:lnTo>
                <a:lnTo>
                  <a:pt x="81898" y="370403"/>
                </a:lnTo>
                <a:lnTo>
                  <a:pt x="69306" y="395178"/>
                </a:lnTo>
                <a:lnTo>
                  <a:pt x="57682" y="420509"/>
                </a:lnTo>
                <a:lnTo>
                  <a:pt x="47050" y="446371"/>
                </a:lnTo>
                <a:lnTo>
                  <a:pt x="37434" y="472739"/>
                </a:lnTo>
                <a:lnTo>
                  <a:pt x="28858" y="499589"/>
                </a:lnTo>
                <a:lnTo>
                  <a:pt x="21347" y="526898"/>
                </a:lnTo>
                <a:lnTo>
                  <a:pt x="14926" y="554641"/>
                </a:lnTo>
                <a:lnTo>
                  <a:pt x="9617" y="582794"/>
                </a:lnTo>
                <a:lnTo>
                  <a:pt x="5446" y="611332"/>
                </a:lnTo>
                <a:lnTo>
                  <a:pt x="2437" y="640230"/>
                </a:lnTo>
                <a:lnTo>
                  <a:pt x="613" y="669466"/>
                </a:lnTo>
                <a:lnTo>
                  <a:pt x="0" y="699014"/>
                </a:lnTo>
                <a:lnTo>
                  <a:pt x="0" y="4584578"/>
                </a:lnTo>
                <a:lnTo>
                  <a:pt x="6883029" y="4584578"/>
                </a:lnTo>
                <a:lnTo>
                  <a:pt x="6883029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6"/>
          <p:cNvSpPr/>
          <p:nvPr/>
        </p:nvSpPr>
        <p:spPr>
          <a:xfrm>
            <a:off x="5721820" y="349166"/>
            <a:ext cx="539475" cy="539475"/>
          </a:xfrm>
          <a:custGeom>
            <a:avLst/>
            <a:gdLst/>
            <a:ahLst/>
            <a:cxnLst/>
            <a:rect l="l" t="t" r="r" b="b"/>
            <a:pathLst>
              <a:path w="539475" h="539475">
                <a:moveTo>
                  <a:pt x="260308" y="0"/>
                </a:moveTo>
                <a:lnTo>
                  <a:pt x="232790" y="2376"/>
                </a:lnTo>
                <a:lnTo>
                  <a:pt x="205631" y="7542"/>
                </a:lnTo>
                <a:lnTo>
                  <a:pt x="179061" y="15479"/>
                </a:lnTo>
                <a:lnTo>
                  <a:pt x="153313" y="26166"/>
                </a:lnTo>
                <a:lnTo>
                  <a:pt x="128619" y="39584"/>
                </a:lnTo>
                <a:lnTo>
                  <a:pt x="105210" y="55711"/>
                </a:lnTo>
                <a:lnTo>
                  <a:pt x="83320" y="74529"/>
                </a:lnTo>
                <a:lnTo>
                  <a:pt x="63178" y="96017"/>
                </a:lnTo>
                <a:lnTo>
                  <a:pt x="45461" y="119544"/>
                </a:lnTo>
                <a:lnTo>
                  <a:pt x="30675" y="144337"/>
                </a:lnTo>
                <a:lnTo>
                  <a:pt x="18799" y="170163"/>
                </a:lnTo>
                <a:lnTo>
                  <a:pt x="9813" y="196792"/>
                </a:lnTo>
                <a:lnTo>
                  <a:pt x="3698" y="223990"/>
                </a:lnTo>
                <a:lnTo>
                  <a:pt x="434" y="251527"/>
                </a:lnTo>
                <a:lnTo>
                  <a:pt x="0" y="279170"/>
                </a:lnTo>
                <a:lnTo>
                  <a:pt x="2376" y="306687"/>
                </a:lnTo>
                <a:lnTo>
                  <a:pt x="7542" y="333846"/>
                </a:lnTo>
                <a:lnTo>
                  <a:pt x="15479" y="360416"/>
                </a:lnTo>
                <a:lnTo>
                  <a:pt x="26166" y="386163"/>
                </a:lnTo>
                <a:lnTo>
                  <a:pt x="39584" y="410857"/>
                </a:lnTo>
                <a:lnTo>
                  <a:pt x="55711" y="434265"/>
                </a:lnTo>
                <a:lnTo>
                  <a:pt x="74529" y="456156"/>
                </a:lnTo>
                <a:lnTo>
                  <a:pt x="96017" y="476297"/>
                </a:lnTo>
                <a:lnTo>
                  <a:pt x="119544" y="494014"/>
                </a:lnTo>
                <a:lnTo>
                  <a:pt x="144337" y="508801"/>
                </a:lnTo>
                <a:lnTo>
                  <a:pt x="170163" y="520676"/>
                </a:lnTo>
                <a:lnTo>
                  <a:pt x="196792" y="529662"/>
                </a:lnTo>
                <a:lnTo>
                  <a:pt x="223990" y="535776"/>
                </a:lnTo>
                <a:lnTo>
                  <a:pt x="251527" y="539041"/>
                </a:lnTo>
                <a:lnTo>
                  <a:pt x="279170" y="539475"/>
                </a:lnTo>
                <a:lnTo>
                  <a:pt x="306687" y="537099"/>
                </a:lnTo>
                <a:lnTo>
                  <a:pt x="333846" y="531933"/>
                </a:lnTo>
                <a:lnTo>
                  <a:pt x="360416" y="523996"/>
                </a:lnTo>
                <a:lnTo>
                  <a:pt x="386163" y="513309"/>
                </a:lnTo>
                <a:lnTo>
                  <a:pt x="410857" y="499892"/>
                </a:lnTo>
                <a:lnTo>
                  <a:pt x="434265" y="483764"/>
                </a:lnTo>
                <a:lnTo>
                  <a:pt x="456156" y="464946"/>
                </a:lnTo>
                <a:lnTo>
                  <a:pt x="476297" y="443458"/>
                </a:lnTo>
                <a:lnTo>
                  <a:pt x="494014" y="419933"/>
                </a:lnTo>
                <a:lnTo>
                  <a:pt x="508801" y="395141"/>
                </a:lnTo>
                <a:lnTo>
                  <a:pt x="520676" y="369315"/>
                </a:lnTo>
                <a:lnTo>
                  <a:pt x="529662" y="342686"/>
                </a:lnTo>
                <a:lnTo>
                  <a:pt x="535776" y="315488"/>
                </a:lnTo>
                <a:lnTo>
                  <a:pt x="539041" y="287951"/>
                </a:lnTo>
                <a:lnTo>
                  <a:pt x="539475" y="260308"/>
                </a:lnTo>
                <a:lnTo>
                  <a:pt x="537099" y="232790"/>
                </a:lnTo>
                <a:lnTo>
                  <a:pt x="531933" y="205631"/>
                </a:lnTo>
                <a:lnTo>
                  <a:pt x="523996" y="179061"/>
                </a:lnTo>
                <a:lnTo>
                  <a:pt x="513309" y="153313"/>
                </a:lnTo>
                <a:lnTo>
                  <a:pt x="499892" y="128619"/>
                </a:lnTo>
                <a:lnTo>
                  <a:pt x="483764" y="105210"/>
                </a:lnTo>
                <a:lnTo>
                  <a:pt x="464946" y="83320"/>
                </a:lnTo>
                <a:lnTo>
                  <a:pt x="443458" y="63178"/>
                </a:lnTo>
                <a:lnTo>
                  <a:pt x="419933" y="45461"/>
                </a:lnTo>
                <a:lnTo>
                  <a:pt x="395141" y="30675"/>
                </a:lnTo>
                <a:lnTo>
                  <a:pt x="369315" y="18799"/>
                </a:lnTo>
                <a:lnTo>
                  <a:pt x="342686" y="9813"/>
                </a:lnTo>
                <a:lnTo>
                  <a:pt x="315488" y="3698"/>
                </a:lnTo>
                <a:lnTo>
                  <a:pt x="287951" y="434"/>
                </a:lnTo>
                <a:lnTo>
                  <a:pt x="260308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9" name="Shape 7"/>
          <p:cNvSpPr/>
          <p:nvPr/>
        </p:nvSpPr>
        <p:spPr>
          <a:xfrm>
            <a:off x="5825497" y="466312"/>
            <a:ext cx="336161" cy="299195"/>
          </a:xfrm>
          <a:custGeom>
            <a:avLst/>
            <a:gdLst/>
            <a:ahLst/>
            <a:cxnLst/>
            <a:rect l="l" t="t" r="r" b="b"/>
            <a:pathLst>
              <a:path w="336161" h="299195">
                <a:moveTo>
                  <a:pt x="24730" y="0"/>
                </a:moveTo>
                <a:lnTo>
                  <a:pt x="0" y="29419"/>
                </a:lnTo>
                <a:lnTo>
                  <a:pt x="261506" y="249456"/>
                </a:lnTo>
                <a:lnTo>
                  <a:pt x="129064" y="260900"/>
                </a:lnTo>
                <a:lnTo>
                  <a:pt x="132366" y="299195"/>
                </a:lnTo>
                <a:lnTo>
                  <a:pt x="336161" y="281594"/>
                </a:lnTo>
                <a:lnTo>
                  <a:pt x="313025" y="83643"/>
                </a:lnTo>
                <a:lnTo>
                  <a:pt x="274855" y="88104"/>
                </a:lnTo>
                <a:lnTo>
                  <a:pt x="290727" y="223812"/>
                </a:lnTo>
                <a:lnTo>
                  <a:pt x="2473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197708" y="377113"/>
            <a:ext cx="4902367" cy="15201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函数：封装智慧的魔法盒子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" y="3015627"/>
            <a:ext cx="5544065" cy="529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微波炉类比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031" y="3768424"/>
            <a:ext cx="4407670" cy="155432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函数就像微波炉：输入食材（参数），按下按钮（调用），得到结果（返回值）。def定义函数，return返回结果。代码复用的核心，让程序更清晰易维护。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14897" y="1049240"/>
            <a:ext cx="5544065" cy="529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计算平均值函数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0285" y="1732598"/>
            <a:ext cx="5544820" cy="173767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def calc_average(data): total = sum(data); return total / len(data); abundances = [29.8, 23.1, 13.2]; result = calc_average(abundances); print(result)。封装后随时调用，避免重复编写相同代码！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数据可视化实战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7322" y="2203185"/>
            <a:ext cx="3327510" cy="4015408"/>
          </a:xfrm>
          <a:prstGeom prst="rect">
            <a:avLst/>
          </a:prstGeom>
          <a:solidFill>
            <a:srgbClr val="DEF101"/>
          </a:solidFill>
          <a:ln w="47625">
            <a:solidFill>
              <a:srgbClr val="1E1E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57422" y="1098832"/>
            <a:ext cx="7077156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数据可视化：让数据开口说话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11355" y="2203185"/>
            <a:ext cx="3327510" cy="4015408"/>
          </a:xfrm>
          <a:prstGeom prst="rect">
            <a:avLst/>
          </a:prstGeom>
          <a:solidFill>
            <a:srgbClr val="DEF101"/>
          </a:solidFill>
          <a:ln w="47625">
            <a:solidFill>
              <a:srgbClr val="1E1E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7562" y="2203185"/>
            <a:ext cx="3327510" cy="4015408"/>
          </a:xfrm>
          <a:prstGeom prst="rect">
            <a:avLst/>
          </a:prstGeom>
          <a:solidFill>
            <a:srgbClr val="DEF101"/>
          </a:solidFill>
          <a:ln w="47625">
            <a:solidFill>
              <a:srgbClr val="1E1E1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8962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7" name="Shape 5"/>
          <p:cNvSpPr/>
          <p:nvPr/>
        </p:nvSpPr>
        <p:spPr>
          <a:xfrm>
            <a:off x="11342534" y="29842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8" name="Shape 6"/>
          <p:cNvSpPr/>
          <p:nvPr/>
        </p:nvSpPr>
        <p:spPr>
          <a:xfrm>
            <a:off x="3764915" y="4038600"/>
            <a:ext cx="658495" cy="76200"/>
          </a:xfrm>
          <a:custGeom>
            <a:avLst/>
            <a:gdLst/>
            <a:ahLst/>
            <a:cxnLst/>
            <a:rect l="l" t="t" r="r" b="b"/>
            <a:pathLst>
              <a:path w="658495" h="76200">
                <a:moveTo>
                  <a:pt x="658495" y="0"/>
                </a:moveTo>
                <a:lnTo>
                  <a:pt x="0" y="0"/>
                </a:lnTo>
                <a:lnTo>
                  <a:pt x="0" y="76200"/>
                </a:lnTo>
                <a:lnTo>
                  <a:pt x="658495" y="76200"/>
                </a:lnTo>
                <a:lnTo>
                  <a:pt x="658495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Shape 7"/>
          <p:cNvSpPr/>
          <p:nvPr/>
        </p:nvSpPr>
        <p:spPr>
          <a:xfrm>
            <a:off x="7726680" y="4086860"/>
            <a:ext cx="658495" cy="76200"/>
          </a:xfrm>
          <a:custGeom>
            <a:avLst/>
            <a:gdLst/>
            <a:ahLst/>
            <a:cxnLst/>
            <a:rect l="l" t="t" r="r" b="b"/>
            <a:pathLst>
              <a:path w="658495" h="76200">
                <a:moveTo>
                  <a:pt x="658495" y="0"/>
                </a:moveTo>
                <a:lnTo>
                  <a:pt x="0" y="0"/>
                </a:lnTo>
                <a:lnTo>
                  <a:pt x="0" y="76200"/>
                </a:lnTo>
                <a:lnTo>
                  <a:pt x="658495" y="76200"/>
                </a:lnTo>
                <a:lnTo>
                  <a:pt x="658495" y="0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10" name="Text 8"/>
          <p:cNvSpPr/>
          <p:nvPr/>
        </p:nvSpPr>
        <p:spPr>
          <a:xfrm>
            <a:off x="514985" y="2667635"/>
            <a:ext cx="323151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可视化意义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1523" y="3277221"/>
            <a:ext cx="3019108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数据可视化是给数据配上翻译，让枯燥数字变成直观图形故事。一图胜千言，图表能快速揭示数据规律和趋势。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59605" y="2667635"/>
            <a:ext cx="323151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核心工具介绍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5556" y="3277221"/>
            <a:ext cx="3019108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numpy是数学引擎，处理数值数组高效快速；matplotlib是数字画笔，Python最流行的绘图库，功能强大且灵活。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20735" y="2667635"/>
            <a:ext cx="3231515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基本绘图流程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21763" y="3277221"/>
            <a:ext cx="3019108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1.导入库 2.准备数据 3.创建画布 4.绘制图形 5.添加装饰（标题、标签）6.显示/保存。按照这个流程，任何人都能创建专业图表。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1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2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3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38747"/>
          </a:xfrm>
          <a:custGeom>
            <a:avLst/>
            <a:gdLst/>
            <a:ahLst/>
            <a:cxnLst/>
            <a:rect l="l" t="t" r="r" b="b"/>
            <a:pathLst>
              <a:path w="12191144" h="6838747">
                <a:moveTo>
                  <a:pt x="12191144" y="0"/>
                </a:moveTo>
                <a:lnTo>
                  <a:pt x="0" y="0"/>
                </a:lnTo>
                <a:lnTo>
                  <a:pt x="0" y="6838747"/>
                </a:lnTo>
                <a:lnTo>
                  <a:pt x="12191144" y="6838747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5238810" y="1155619"/>
            <a:ext cx="6413250" cy="2228753"/>
          </a:xfrm>
          <a:custGeom>
            <a:avLst/>
            <a:gdLst/>
            <a:ahLst/>
            <a:cxnLst/>
            <a:rect l="l" t="t" r="r" b="b"/>
            <a:pathLst>
              <a:path w="6413250" h="2228753">
                <a:moveTo>
                  <a:pt x="6413250" y="0"/>
                </a:moveTo>
                <a:lnTo>
                  <a:pt x="0" y="0"/>
                </a:lnTo>
                <a:lnTo>
                  <a:pt x="0" y="2228753"/>
                </a:lnTo>
                <a:lnTo>
                  <a:pt x="6413250" y="2228753"/>
                </a:lnTo>
                <a:lnTo>
                  <a:pt x="6413250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4" name="Shape 2"/>
          <p:cNvSpPr/>
          <p:nvPr/>
        </p:nvSpPr>
        <p:spPr>
          <a:xfrm>
            <a:off x="5238810" y="3924024"/>
            <a:ext cx="6413250" cy="2228753"/>
          </a:xfrm>
          <a:custGeom>
            <a:avLst/>
            <a:gdLst/>
            <a:ahLst/>
            <a:cxnLst/>
            <a:rect l="l" t="t" r="r" b="b"/>
            <a:pathLst>
              <a:path w="6413250" h="2228753">
                <a:moveTo>
                  <a:pt x="6413250" y="0"/>
                </a:moveTo>
                <a:lnTo>
                  <a:pt x="0" y="0"/>
                </a:lnTo>
                <a:lnTo>
                  <a:pt x="0" y="2228753"/>
                </a:lnTo>
                <a:lnTo>
                  <a:pt x="6413250" y="2228753"/>
                </a:lnTo>
                <a:lnTo>
                  <a:pt x="6413250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5" name="Shape 3"/>
          <p:cNvSpPr/>
          <p:nvPr/>
        </p:nvSpPr>
        <p:spPr>
          <a:xfrm>
            <a:off x="11118301" y="476516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4"/>
                </a:lnTo>
                <a:lnTo>
                  <a:pt x="25831" y="365908"/>
                </a:lnTo>
                <a:lnTo>
                  <a:pt x="39567" y="390385"/>
                </a:lnTo>
                <a:lnTo>
                  <a:pt x="55832" y="413096"/>
                </a:lnTo>
                <a:lnTo>
                  <a:pt x="74437" y="433848"/>
                </a:lnTo>
                <a:lnTo>
                  <a:pt x="95189" y="452453"/>
                </a:lnTo>
                <a:lnTo>
                  <a:pt x="117900" y="468718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4" y="493469"/>
                </a:lnTo>
                <a:lnTo>
                  <a:pt x="365908" y="482454"/>
                </a:lnTo>
                <a:lnTo>
                  <a:pt x="390385" y="468718"/>
                </a:lnTo>
                <a:lnTo>
                  <a:pt x="413096" y="452453"/>
                </a:lnTo>
                <a:lnTo>
                  <a:pt x="433848" y="433848"/>
                </a:lnTo>
                <a:lnTo>
                  <a:pt x="452453" y="413096"/>
                </a:lnTo>
                <a:lnTo>
                  <a:pt x="468718" y="390385"/>
                </a:lnTo>
                <a:lnTo>
                  <a:pt x="482454" y="365908"/>
                </a:lnTo>
                <a:lnTo>
                  <a:pt x="493469" y="339854"/>
                </a:lnTo>
                <a:lnTo>
                  <a:pt x="501573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3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8" y="117900"/>
                </a:lnTo>
                <a:lnTo>
                  <a:pt x="452453" y="95189"/>
                </a:lnTo>
                <a:lnTo>
                  <a:pt x="433848" y="74437"/>
                </a:lnTo>
                <a:lnTo>
                  <a:pt x="413096" y="55832"/>
                </a:lnTo>
                <a:lnTo>
                  <a:pt x="390385" y="39567"/>
                </a:lnTo>
                <a:lnTo>
                  <a:pt x="365908" y="25831"/>
                </a:lnTo>
                <a:lnTo>
                  <a:pt x="339854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6" name="Shape 4"/>
          <p:cNvSpPr/>
          <p:nvPr/>
        </p:nvSpPr>
        <p:spPr>
          <a:xfrm>
            <a:off x="900430" y="5669915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0" y="0"/>
                </a:moveTo>
                <a:lnTo>
                  <a:pt x="0" y="494665"/>
                </a:lnTo>
                <a:lnTo>
                  <a:pt x="353695" y="494665"/>
                </a:lnTo>
                <a:lnTo>
                  <a:pt x="353695" y="140955"/>
                </a:lnTo>
                <a:lnTo>
                  <a:pt x="122437" y="1409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67360" y="5669915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0" y="0"/>
                </a:moveTo>
                <a:lnTo>
                  <a:pt x="0" y="494665"/>
                </a:lnTo>
                <a:lnTo>
                  <a:pt x="353695" y="494665"/>
                </a:lnTo>
                <a:lnTo>
                  <a:pt x="353695" y="140955"/>
                </a:lnTo>
                <a:lnTo>
                  <a:pt x="122437" y="1409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8" name="Shape 6"/>
          <p:cNvSpPr/>
          <p:nvPr/>
        </p:nvSpPr>
        <p:spPr>
          <a:xfrm>
            <a:off x="11342318" y="5883585"/>
            <a:ext cx="204084" cy="199464"/>
          </a:xfrm>
          <a:custGeom>
            <a:avLst/>
            <a:gdLst/>
            <a:ahLst/>
            <a:cxnLst/>
            <a:rect l="l" t="t" r="r" b="b"/>
            <a:pathLst>
              <a:path w="204084" h="199464">
                <a:moveTo>
                  <a:pt x="204084" y="0"/>
                </a:moveTo>
                <a:lnTo>
                  <a:pt x="0" y="0"/>
                </a:lnTo>
                <a:lnTo>
                  <a:pt x="0" y="199464"/>
                </a:lnTo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42318" y="5883585"/>
            <a:ext cx="204084" cy="199464"/>
          </a:xfrm>
          <a:custGeom>
            <a:avLst/>
            <a:gdLst/>
            <a:ahLst/>
            <a:cxnLst/>
            <a:rect l="l" t="t" r="r" b="b"/>
            <a:pathLst>
              <a:path w="204084" h="199464">
                <a:moveTo>
                  <a:pt x="204084" y="199464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70" y="1155065"/>
            <a:ext cx="4954270" cy="165608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动手实践：</a:t>
            </a:r>
            <a:endParaRPr lang="en-US" sz="4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绘制汞同位素散点图</a:t>
            </a:r>
            <a:endParaRPr lang="en-US" sz="1600" dirty="0"/>
          </a:p>
        </p:txBody>
      </p:sp>
      <p:pic>
        <p:nvPicPr>
          <p:cNvPr id="11" name="Image 0" descr="https://kimi-img.moonshot.cn/pub/slides/slides_tmpl/image/25-09-04-14:55:16-d2sjfl61bb2p4onbq0q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0200" y="1828800"/>
            <a:ext cx="1810385" cy="1402080"/>
          </a:xfrm>
          <a:prstGeom prst="rect">
            <a:avLst/>
          </a:prstGeom>
        </p:spPr>
      </p:pic>
      <p:pic>
        <p:nvPicPr>
          <p:cNvPr id="12" name="Image 1" descr="https://kimi-img.moonshot.cn/pub/slides/slides_tmpl/image/25-09-04-14:55:16-d2sjfl61bb2p4onbq0r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4580255"/>
            <a:ext cx="2066290" cy="14020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334063" y="3108000"/>
            <a:ext cx="204084" cy="199464"/>
          </a:xfrm>
          <a:custGeom>
            <a:avLst/>
            <a:gdLst/>
            <a:ahLst/>
            <a:cxnLst/>
            <a:rect l="l" t="t" r="r" b="b"/>
            <a:pathLst>
              <a:path w="204084" h="199464">
                <a:moveTo>
                  <a:pt x="204084" y="0"/>
                </a:moveTo>
                <a:lnTo>
                  <a:pt x="0" y="0"/>
                </a:lnTo>
                <a:lnTo>
                  <a:pt x="0" y="199464"/>
                </a:lnTo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0000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1334063" y="3108000"/>
            <a:ext cx="204084" cy="199464"/>
          </a:xfrm>
          <a:custGeom>
            <a:avLst/>
            <a:gdLst/>
            <a:ahLst/>
            <a:cxnLst/>
            <a:rect l="l" t="t" r="r" b="b"/>
            <a:pathLst>
              <a:path w="204084" h="199464">
                <a:moveTo>
                  <a:pt x="204084" y="199464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41910">
            <a:solidFill>
              <a:srgbClr val="0000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93450" y="1235362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完整代码展示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623548" y="1353375"/>
            <a:ext cx="3812983" cy="22028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import numpy as np; import matplotlib.pyplot as plt; mass_numbers = [196, 198, 199, 200, 201, 202, 204]; abundances = [0.15, 10.0, 16.9, 23.1, 13.2, 29.8, 6.9]; plt.scatter(mass_numbers, abundances, color='blue', s=100); plt.title('汞同位素相对丰度分布'); plt.xlabel('质量数'); plt.ylabel('相对丰度(%)'); plt.show()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493450" y="4071280"/>
            <a:ext cx="3636579" cy="40259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代码解析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7623548" y="4580453"/>
            <a:ext cx="3812983" cy="140271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scatter()绘制散点图，参数s控制点大小，color设置颜色。title()添加标题，xlabel()和ylabel()标注坐标轴。plt.show()显示图表。运行后观察汞同位素分布特征，是不是像一把打开环境秘密的钥匙？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811765" y="583523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0" y="0"/>
                </a:moveTo>
                <a:lnTo>
                  <a:pt x="0" y="494808"/>
                </a:lnTo>
                <a:lnTo>
                  <a:pt x="353874" y="494808"/>
                </a:lnTo>
                <a:lnTo>
                  <a:pt x="353874" y="140996"/>
                </a:lnTo>
                <a:lnTo>
                  <a:pt x="122499" y="1409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378193" y="5835239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0" y="0"/>
                </a:moveTo>
                <a:lnTo>
                  <a:pt x="0" y="494808"/>
                </a:lnTo>
                <a:lnTo>
                  <a:pt x="353874" y="494808"/>
                </a:lnTo>
                <a:lnTo>
                  <a:pt x="353874" y="140996"/>
                </a:lnTo>
                <a:lnTo>
                  <a:pt x="122499" y="1409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-635" y="1339215"/>
            <a:ext cx="4213860" cy="132207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进阶挑战：</a:t>
            </a:r>
            <a:endParaRPr lang="en-US" sz="4000" b="1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用AI优化你的图表</a:t>
            </a:r>
            <a:endParaRPr lang="en-US" sz="1600" dirty="0"/>
          </a:p>
        </p:txBody>
      </p:sp>
      <p:pic>
        <p:nvPicPr>
          <p:cNvPr id="6" name="Image 0" descr="https://kimi-img.moonshot.cn/pub/slides/slides_tmpl/image/25-09-04-14:55:16-d2sjfl61bb2p4onbq120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82060" y="6273359"/>
            <a:ext cx="114291" cy="114291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9-04-14:55:16-d2sjfl61bb2p4onbq13g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5280" y="598805"/>
            <a:ext cx="2389505" cy="5855335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9-04-14:55:16-d2sjfl61bb2p4onbq13g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63715" y="598805"/>
            <a:ext cx="2389505" cy="5855335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9-04-14:55:16-d2sjfl61bb2p4onbq13g.jp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521190" y="598805"/>
            <a:ext cx="2389505" cy="5855335"/>
          </a:xfrm>
          <a:prstGeom prst="rect">
            <a:avLst/>
          </a:prstGeom>
        </p:spPr>
      </p:pic>
      <p:sp>
        <p:nvSpPr>
          <p:cNvPr id="10" name="Text 4"/>
          <p:cNvSpPr/>
          <p:nvPr>
            <p:custDataLst>
              <p:tags r:id="rId7"/>
            </p:custDataLst>
          </p:nvPr>
        </p:nvSpPr>
        <p:spPr>
          <a:xfrm>
            <a:off x="4321678" y="1065665"/>
            <a:ext cx="193084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挑战任务</a:t>
            </a:r>
            <a:endParaRPr lang="en-US" sz="1600" dirty="0"/>
          </a:p>
        </p:txBody>
      </p:sp>
      <p:sp>
        <p:nvSpPr>
          <p:cNvPr id="11" name="Text 5"/>
          <p:cNvSpPr/>
          <p:nvPr>
            <p:custDataLst>
              <p:tags r:id="rId8"/>
            </p:custDataLst>
          </p:nvPr>
        </p:nvSpPr>
        <p:spPr>
          <a:xfrm>
            <a:off x="4360865" y="1717259"/>
            <a:ext cx="1852466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向DeepSeek提问：请优化我的汞同位素散点图，要求用不同形状区分自然源和人为源汞，添加数据标签显示具体数值，并将图表保存为PNG图片。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9"/>
            </p:custDataLst>
          </p:nvPr>
        </p:nvSpPr>
        <p:spPr>
          <a:xfrm>
            <a:off x="7018687" y="1048495"/>
            <a:ext cx="193084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预期改进</a:t>
            </a:r>
            <a:endParaRPr lang="en-US" sz="1600" dirty="0"/>
          </a:p>
        </p:txBody>
      </p:sp>
      <p:sp>
        <p:nvSpPr>
          <p:cNvPr id="13" name="Text 7"/>
          <p:cNvSpPr/>
          <p:nvPr>
            <p:custDataLst>
              <p:tags r:id="rId10"/>
            </p:custDataLst>
          </p:nvPr>
        </p:nvSpPr>
        <p:spPr>
          <a:xfrm>
            <a:off x="7057874" y="1701657"/>
            <a:ext cx="1852466" cy="235331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AI可能建议使用不同marker参数（如'o'和'^'）区分来源，用plt.text()添加标签，用plt.savefig()保存图片。这些技巧让图表更专业！</a:t>
            </a:r>
            <a:endParaRPr lang="en-US" sz="1600" dirty="0"/>
          </a:p>
        </p:txBody>
      </p:sp>
      <p:sp>
        <p:nvSpPr>
          <p:cNvPr id="14" name="Text 8"/>
          <p:cNvSpPr/>
          <p:nvPr>
            <p:custDataLst>
              <p:tags r:id="rId11"/>
            </p:custDataLst>
          </p:nvPr>
        </p:nvSpPr>
        <p:spPr>
          <a:xfrm>
            <a:off x="9754767" y="1065665"/>
            <a:ext cx="1930841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学习收获</a:t>
            </a:r>
            <a:endParaRPr lang="en-US" sz="1600" dirty="0"/>
          </a:p>
        </p:txBody>
      </p:sp>
      <p:sp>
        <p:nvSpPr>
          <p:cNvPr id="15" name="Text 9"/>
          <p:cNvSpPr/>
          <p:nvPr>
            <p:custDataLst>
              <p:tags r:id="rId12"/>
            </p:custDataLst>
          </p:nvPr>
        </p:nvSpPr>
        <p:spPr>
          <a:xfrm>
            <a:off x="9793954" y="1717259"/>
            <a:ext cx="1852466" cy="267652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通过这个挑战，你不仅学会高级绘图技巧，更重要的是掌握与AI协作的方法：提出精准需求、验证AI建议、理解改进原理。这是未来编程的核心竞争力！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无代码探索工具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428355" y="42164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9-04-14:55:16-d2sjfl61bb2p4onbq0q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635"/>
            <a:ext cx="11734800" cy="418782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08665" y="3238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1"/>
          <p:cNvSpPr/>
          <p:nvPr/>
        </p:nvSpPr>
        <p:spPr>
          <a:xfrm>
            <a:off x="11342370" y="323850"/>
            <a:ext cx="353695" cy="494665"/>
          </a:xfrm>
          <a:custGeom>
            <a:avLst/>
            <a:gdLst/>
            <a:ahLst/>
            <a:cxnLst/>
            <a:rect l="l" t="t" r="r" b="b"/>
            <a:pathLst>
              <a:path w="353695" h="494665">
                <a:moveTo>
                  <a:pt x="353695" y="0"/>
                </a:moveTo>
                <a:lnTo>
                  <a:pt x="0" y="0"/>
                </a:lnTo>
                <a:lnTo>
                  <a:pt x="0" y="353710"/>
                </a:lnTo>
                <a:lnTo>
                  <a:pt x="231258" y="353710"/>
                </a:lnTo>
                <a:lnTo>
                  <a:pt x="353695" y="494665"/>
                </a:lnTo>
                <a:lnTo>
                  <a:pt x="35369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Text 2"/>
          <p:cNvSpPr/>
          <p:nvPr/>
        </p:nvSpPr>
        <p:spPr>
          <a:xfrm>
            <a:off x="2438541" y="1219482"/>
            <a:ext cx="7077156" cy="701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Orange：零代码的数据魔法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9-04-14:55:15-d2sjfku1bb2p4onbq0o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2514600"/>
            <a:ext cx="1269365" cy="134112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9-04-14:55:16-d2sjfl61bb2p4onbq0p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324600" y="2614295"/>
            <a:ext cx="1461135" cy="124714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6"/>
            </p:custDataLst>
          </p:nvPr>
        </p:nvSpPr>
        <p:spPr>
          <a:xfrm>
            <a:off x="1807779" y="2723241"/>
            <a:ext cx="3636579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工具介绍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7"/>
            </p:custDataLst>
          </p:nvPr>
        </p:nvSpPr>
        <p:spPr>
          <a:xfrm>
            <a:off x="680085" y="4246245"/>
            <a:ext cx="4900930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ange是可视化数据挖掘工具，像乐高积木一样无需编程。通过拖拽组件、连接流程，就能完成数据导入、清洗、分析和可视化。特别适合快速探索数据、验证假设、制作演示。编程不是唯一途径，无代码工具同样强大！     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下载链接：</a:t>
            </a:r>
            <a:r>
              <a:rPr 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MiSans" pitchFamily="34" charset="-122"/>
                <a:ea typeface="MiSans" pitchFamily="34" charset="-122"/>
                <a:cs typeface="MiSans" pitchFamily="34" charset="-120"/>
              </a:rPr>
              <a:t>https://orange3-volcanoes.readthedocs.io/en/latest/installing.html</a:t>
            </a:r>
            <a:endParaRPr lang="en-US" sz="1600" b="1" dirty="0">
              <a:solidFill>
                <a:schemeClr val="tx1"/>
              </a:solidFill>
              <a:highlight>
                <a:srgbClr val="FFFF00"/>
              </a:highlight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7709340" y="2723241"/>
            <a:ext cx="3636579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6611009" y="4299199"/>
            <a:ext cx="4871545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File组件导入数据，Data Table查看表格，Scatter Plot绘制散点图，Statistics进行统计分析，Python Script还可插入自定义代码。界面左侧是组件库，右侧是工作流画布，中间是连接线。直观易懂，半小时即可上手！</a:t>
            </a:r>
            <a:endParaRPr lang="en-US" sz="1600" dirty="0"/>
          </a:p>
        </p:txBody>
      </p:sp>
      <p:pic>
        <p:nvPicPr>
          <p:cNvPr id="12" name="图片 11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8600" y="323533"/>
            <a:ext cx="1143000" cy="333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24847" y="317478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558418" y="317478"/>
            <a:ext cx="353874" cy="494808"/>
          </a:xfrm>
          <a:custGeom>
            <a:avLst/>
            <a:gdLst/>
            <a:ahLst/>
            <a:cxnLst/>
            <a:rect l="l" t="t" r="r" b="b"/>
            <a:pathLst>
              <a:path w="353874" h="494808">
                <a:moveTo>
                  <a:pt x="353874" y="0"/>
                </a:moveTo>
                <a:lnTo>
                  <a:pt x="0" y="0"/>
                </a:lnTo>
                <a:lnTo>
                  <a:pt x="0" y="353812"/>
                </a:lnTo>
                <a:lnTo>
                  <a:pt x="231375" y="353812"/>
                </a:lnTo>
                <a:lnTo>
                  <a:pt x="353874" y="494808"/>
                </a:lnTo>
                <a:lnTo>
                  <a:pt x="35387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Text 2"/>
          <p:cNvSpPr/>
          <p:nvPr/>
        </p:nvSpPr>
        <p:spPr>
          <a:xfrm>
            <a:off x="379638" y="310768"/>
            <a:ext cx="6510517" cy="5867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动手实践：Orange探索汞同位素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9-04-14:55:16-d2sjfl61bb2p4onbq14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54200"/>
            <a:ext cx="12192000" cy="793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62685" y="1511300"/>
            <a:ext cx="736600" cy="736600"/>
          </a:xfrm>
          <a:custGeom>
            <a:avLst/>
            <a:gdLst/>
            <a:ahLst/>
            <a:cxnLst/>
            <a:rect l="l" t="t" r="r" b="b"/>
            <a:pathLst>
              <a:path w="736600" h="736600">
                <a:moveTo>
                  <a:pt x="368300" y="0"/>
                </a:moveTo>
                <a:lnTo>
                  <a:pt x="339517" y="1108"/>
                </a:lnTo>
                <a:lnTo>
                  <a:pt x="311340" y="4377"/>
                </a:lnTo>
                <a:lnTo>
                  <a:pt x="283851" y="9727"/>
                </a:lnTo>
                <a:lnTo>
                  <a:pt x="257132" y="17074"/>
                </a:lnTo>
                <a:lnTo>
                  <a:pt x="231264" y="26337"/>
                </a:lnTo>
                <a:lnTo>
                  <a:pt x="206329" y="37433"/>
                </a:lnTo>
                <a:lnTo>
                  <a:pt x="182410" y="50283"/>
                </a:lnTo>
                <a:lnTo>
                  <a:pt x="159589" y="64802"/>
                </a:lnTo>
                <a:lnTo>
                  <a:pt x="137945" y="80910"/>
                </a:lnTo>
                <a:lnTo>
                  <a:pt x="117564" y="98525"/>
                </a:lnTo>
                <a:lnTo>
                  <a:pt x="98525" y="117564"/>
                </a:lnTo>
                <a:lnTo>
                  <a:pt x="80910" y="137945"/>
                </a:lnTo>
                <a:lnTo>
                  <a:pt x="64802" y="159589"/>
                </a:lnTo>
                <a:lnTo>
                  <a:pt x="50283" y="182410"/>
                </a:lnTo>
                <a:lnTo>
                  <a:pt x="37433" y="206329"/>
                </a:lnTo>
                <a:lnTo>
                  <a:pt x="26337" y="231264"/>
                </a:lnTo>
                <a:lnTo>
                  <a:pt x="17074" y="257132"/>
                </a:lnTo>
                <a:lnTo>
                  <a:pt x="9727" y="283851"/>
                </a:lnTo>
                <a:lnTo>
                  <a:pt x="4377" y="311340"/>
                </a:lnTo>
                <a:lnTo>
                  <a:pt x="1108" y="339517"/>
                </a:lnTo>
                <a:lnTo>
                  <a:pt x="0" y="368300"/>
                </a:lnTo>
                <a:lnTo>
                  <a:pt x="1108" y="397083"/>
                </a:lnTo>
                <a:lnTo>
                  <a:pt x="4377" y="425260"/>
                </a:lnTo>
                <a:lnTo>
                  <a:pt x="9727" y="452749"/>
                </a:lnTo>
                <a:lnTo>
                  <a:pt x="17074" y="479468"/>
                </a:lnTo>
                <a:lnTo>
                  <a:pt x="26337" y="505336"/>
                </a:lnTo>
                <a:lnTo>
                  <a:pt x="37433" y="530270"/>
                </a:lnTo>
                <a:lnTo>
                  <a:pt x="50283" y="554190"/>
                </a:lnTo>
                <a:lnTo>
                  <a:pt x="64802" y="577011"/>
                </a:lnTo>
                <a:lnTo>
                  <a:pt x="80910" y="598654"/>
                </a:lnTo>
                <a:lnTo>
                  <a:pt x="98525" y="619036"/>
                </a:lnTo>
                <a:lnTo>
                  <a:pt x="117564" y="638075"/>
                </a:lnTo>
                <a:lnTo>
                  <a:pt x="137945" y="655689"/>
                </a:lnTo>
                <a:lnTo>
                  <a:pt x="159589" y="671798"/>
                </a:lnTo>
                <a:lnTo>
                  <a:pt x="182410" y="686317"/>
                </a:lnTo>
                <a:lnTo>
                  <a:pt x="206329" y="699166"/>
                </a:lnTo>
                <a:lnTo>
                  <a:pt x="231264" y="710263"/>
                </a:lnTo>
                <a:lnTo>
                  <a:pt x="257132" y="719526"/>
                </a:lnTo>
                <a:lnTo>
                  <a:pt x="283851" y="726873"/>
                </a:lnTo>
                <a:lnTo>
                  <a:pt x="311340" y="732223"/>
                </a:lnTo>
                <a:lnTo>
                  <a:pt x="339517" y="735492"/>
                </a:lnTo>
                <a:lnTo>
                  <a:pt x="368300" y="736600"/>
                </a:lnTo>
                <a:lnTo>
                  <a:pt x="397083" y="735492"/>
                </a:lnTo>
                <a:lnTo>
                  <a:pt x="425260" y="732223"/>
                </a:lnTo>
                <a:lnTo>
                  <a:pt x="452749" y="726873"/>
                </a:lnTo>
                <a:lnTo>
                  <a:pt x="479468" y="719526"/>
                </a:lnTo>
                <a:lnTo>
                  <a:pt x="505336" y="710263"/>
                </a:lnTo>
                <a:lnTo>
                  <a:pt x="530270" y="699166"/>
                </a:lnTo>
                <a:lnTo>
                  <a:pt x="554190" y="686317"/>
                </a:lnTo>
                <a:lnTo>
                  <a:pt x="577011" y="671798"/>
                </a:lnTo>
                <a:lnTo>
                  <a:pt x="598654" y="655689"/>
                </a:lnTo>
                <a:lnTo>
                  <a:pt x="619036" y="638075"/>
                </a:lnTo>
                <a:lnTo>
                  <a:pt x="638075" y="619036"/>
                </a:lnTo>
                <a:lnTo>
                  <a:pt x="655689" y="598654"/>
                </a:lnTo>
                <a:lnTo>
                  <a:pt x="671798" y="577011"/>
                </a:lnTo>
                <a:lnTo>
                  <a:pt x="686317" y="554190"/>
                </a:lnTo>
                <a:lnTo>
                  <a:pt x="699166" y="530270"/>
                </a:lnTo>
                <a:lnTo>
                  <a:pt x="710263" y="505336"/>
                </a:lnTo>
                <a:lnTo>
                  <a:pt x="719526" y="479468"/>
                </a:lnTo>
                <a:lnTo>
                  <a:pt x="726873" y="452749"/>
                </a:lnTo>
                <a:lnTo>
                  <a:pt x="732223" y="425260"/>
                </a:lnTo>
                <a:lnTo>
                  <a:pt x="735492" y="397083"/>
                </a:lnTo>
                <a:lnTo>
                  <a:pt x="736600" y="368300"/>
                </a:lnTo>
                <a:lnTo>
                  <a:pt x="735492" y="339517"/>
                </a:lnTo>
                <a:lnTo>
                  <a:pt x="732223" y="311340"/>
                </a:lnTo>
                <a:lnTo>
                  <a:pt x="726873" y="283851"/>
                </a:lnTo>
                <a:lnTo>
                  <a:pt x="719526" y="257132"/>
                </a:lnTo>
                <a:lnTo>
                  <a:pt x="710263" y="231264"/>
                </a:lnTo>
                <a:lnTo>
                  <a:pt x="699166" y="206329"/>
                </a:lnTo>
                <a:lnTo>
                  <a:pt x="686317" y="182410"/>
                </a:lnTo>
                <a:lnTo>
                  <a:pt x="671798" y="159589"/>
                </a:lnTo>
                <a:lnTo>
                  <a:pt x="655689" y="137945"/>
                </a:lnTo>
                <a:lnTo>
                  <a:pt x="638075" y="117564"/>
                </a:lnTo>
                <a:lnTo>
                  <a:pt x="619036" y="98525"/>
                </a:lnTo>
                <a:lnTo>
                  <a:pt x="598654" y="80910"/>
                </a:lnTo>
                <a:lnTo>
                  <a:pt x="577011" y="64802"/>
                </a:lnTo>
                <a:lnTo>
                  <a:pt x="554190" y="50283"/>
                </a:lnTo>
                <a:lnTo>
                  <a:pt x="530270" y="37433"/>
                </a:lnTo>
                <a:lnTo>
                  <a:pt x="505336" y="26337"/>
                </a:lnTo>
                <a:lnTo>
                  <a:pt x="479468" y="17074"/>
                </a:lnTo>
                <a:lnTo>
                  <a:pt x="452749" y="9727"/>
                </a:lnTo>
                <a:lnTo>
                  <a:pt x="425260" y="4377"/>
                </a:lnTo>
                <a:lnTo>
                  <a:pt x="397083" y="1108"/>
                </a:lnTo>
                <a:lnTo>
                  <a:pt x="36830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7" name="Shape 4"/>
          <p:cNvSpPr/>
          <p:nvPr/>
        </p:nvSpPr>
        <p:spPr>
          <a:xfrm>
            <a:off x="4210050" y="1517650"/>
            <a:ext cx="736600" cy="736600"/>
          </a:xfrm>
          <a:custGeom>
            <a:avLst/>
            <a:gdLst/>
            <a:ahLst/>
            <a:cxnLst/>
            <a:rect l="l" t="t" r="r" b="b"/>
            <a:pathLst>
              <a:path w="736600" h="736600">
                <a:moveTo>
                  <a:pt x="368300" y="0"/>
                </a:moveTo>
                <a:lnTo>
                  <a:pt x="339517" y="1108"/>
                </a:lnTo>
                <a:lnTo>
                  <a:pt x="311340" y="4377"/>
                </a:lnTo>
                <a:lnTo>
                  <a:pt x="283851" y="9727"/>
                </a:lnTo>
                <a:lnTo>
                  <a:pt x="257132" y="17074"/>
                </a:lnTo>
                <a:lnTo>
                  <a:pt x="231264" y="26337"/>
                </a:lnTo>
                <a:lnTo>
                  <a:pt x="206329" y="37433"/>
                </a:lnTo>
                <a:lnTo>
                  <a:pt x="182410" y="50283"/>
                </a:lnTo>
                <a:lnTo>
                  <a:pt x="159589" y="64802"/>
                </a:lnTo>
                <a:lnTo>
                  <a:pt x="137945" y="80910"/>
                </a:lnTo>
                <a:lnTo>
                  <a:pt x="117564" y="98525"/>
                </a:lnTo>
                <a:lnTo>
                  <a:pt x="98525" y="117564"/>
                </a:lnTo>
                <a:lnTo>
                  <a:pt x="80910" y="137945"/>
                </a:lnTo>
                <a:lnTo>
                  <a:pt x="64802" y="159589"/>
                </a:lnTo>
                <a:lnTo>
                  <a:pt x="50283" y="182410"/>
                </a:lnTo>
                <a:lnTo>
                  <a:pt x="37433" y="206329"/>
                </a:lnTo>
                <a:lnTo>
                  <a:pt x="26337" y="231264"/>
                </a:lnTo>
                <a:lnTo>
                  <a:pt x="17074" y="257132"/>
                </a:lnTo>
                <a:lnTo>
                  <a:pt x="9727" y="283851"/>
                </a:lnTo>
                <a:lnTo>
                  <a:pt x="4377" y="311340"/>
                </a:lnTo>
                <a:lnTo>
                  <a:pt x="1108" y="339517"/>
                </a:lnTo>
                <a:lnTo>
                  <a:pt x="0" y="368300"/>
                </a:lnTo>
                <a:lnTo>
                  <a:pt x="1108" y="397083"/>
                </a:lnTo>
                <a:lnTo>
                  <a:pt x="4377" y="425260"/>
                </a:lnTo>
                <a:lnTo>
                  <a:pt x="9727" y="452749"/>
                </a:lnTo>
                <a:lnTo>
                  <a:pt x="17074" y="479468"/>
                </a:lnTo>
                <a:lnTo>
                  <a:pt x="26337" y="505336"/>
                </a:lnTo>
                <a:lnTo>
                  <a:pt x="37433" y="530270"/>
                </a:lnTo>
                <a:lnTo>
                  <a:pt x="50283" y="554190"/>
                </a:lnTo>
                <a:lnTo>
                  <a:pt x="64802" y="577011"/>
                </a:lnTo>
                <a:lnTo>
                  <a:pt x="80910" y="598654"/>
                </a:lnTo>
                <a:lnTo>
                  <a:pt x="98525" y="619036"/>
                </a:lnTo>
                <a:lnTo>
                  <a:pt x="117564" y="638075"/>
                </a:lnTo>
                <a:lnTo>
                  <a:pt x="137945" y="655689"/>
                </a:lnTo>
                <a:lnTo>
                  <a:pt x="159589" y="671798"/>
                </a:lnTo>
                <a:lnTo>
                  <a:pt x="182410" y="686317"/>
                </a:lnTo>
                <a:lnTo>
                  <a:pt x="206329" y="699166"/>
                </a:lnTo>
                <a:lnTo>
                  <a:pt x="231264" y="710263"/>
                </a:lnTo>
                <a:lnTo>
                  <a:pt x="257132" y="719526"/>
                </a:lnTo>
                <a:lnTo>
                  <a:pt x="283851" y="726873"/>
                </a:lnTo>
                <a:lnTo>
                  <a:pt x="311340" y="732223"/>
                </a:lnTo>
                <a:lnTo>
                  <a:pt x="339517" y="735492"/>
                </a:lnTo>
                <a:lnTo>
                  <a:pt x="368300" y="736600"/>
                </a:lnTo>
                <a:lnTo>
                  <a:pt x="397083" y="735492"/>
                </a:lnTo>
                <a:lnTo>
                  <a:pt x="425260" y="732223"/>
                </a:lnTo>
                <a:lnTo>
                  <a:pt x="452749" y="726873"/>
                </a:lnTo>
                <a:lnTo>
                  <a:pt x="479468" y="719526"/>
                </a:lnTo>
                <a:lnTo>
                  <a:pt x="505336" y="710263"/>
                </a:lnTo>
                <a:lnTo>
                  <a:pt x="530270" y="699166"/>
                </a:lnTo>
                <a:lnTo>
                  <a:pt x="554190" y="686317"/>
                </a:lnTo>
                <a:lnTo>
                  <a:pt x="577011" y="671798"/>
                </a:lnTo>
                <a:lnTo>
                  <a:pt x="598654" y="655689"/>
                </a:lnTo>
                <a:lnTo>
                  <a:pt x="619036" y="638075"/>
                </a:lnTo>
                <a:lnTo>
                  <a:pt x="638075" y="619036"/>
                </a:lnTo>
                <a:lnTo>
                  <a:pt x="655689" y="598654"/>
                </a:lnTo>
                <a:lnTo>
                  <a:pt x="671798" y="577011"/>
                </a:lnTo>
                <a:lnTo>
                  <a:pt x="686317" y="554190"/>
                </a:lnTo>
                <a:lnTo>
                  <a:pt x="699166" y="530270"/>
                </a:lnTo>
                <a:lnTo>
                  <a:pt x="710263" y="505336"/>
                </a:lnTo>
                <a:lnTo>
                  <a:pt x="719526" y="479468"/>
                </a:lnTo>
                <a:lnTo>
                  <a:pt x="726873" y="452749"/>
                </a:lnTo>
                <a:lnTo>
                  <a:pt x="732223" y="425260"/>
                </a:lnTo>
                <a:lnTo>
                  <a:pt x="735492" y="397083"/>
                </a:lnTo>
                <a:lnTo>
                  <a:pt x="736600" y="368300"/>
                </a:lnTo>
                <a:lnTo>
                  <a:pt x="735492" y="339517"/>
                </a:lnTo>
                <a:lnTo>
                  <a:pt x="732223" y="311340"/>
                </a:lnTo>
                <a:lnTo>
                  <a:pt x="726873" y="283851"/>
                </a:lnTo>
                <a:lnTo>
                  <a:pt x="719526" y="257132"/>
                </a:lnTo>
                <a:lnTo>
                  <a:pt x="710263" y="231264"/>
                </a:lnTo>
                <a:lnTo>
                  <a:pt x="699166" y="206329"/>
                </a:lnTo>
                <a:lnTo>
                  <a:pt x="686317" y="182410"/>
                </a:lnTo>
                <a:lnTo>
                  <a:pt x="671798" y="159589"/>
                </a:lnTo>
                <a:lnTo>
                  <a:pt x="655689" y="137945"/>
                </a:lnTo>
                <a:lnTo>
                  <a:pt x="638075" y="117564"/>
                </a:lnTo>
                <a:lnTo>
                  <a:pt x="619036" y="98525"/>
                </a:lnTo>
                <a:lnTo>
                  <a:pt x="598654" y="80910"/>
                </a:lnTo>
                <a:lnTo>
                  <a:pt x="577011" y="64802"/>
                </a:lnTo>
                <a:lnTo>
                  <a:pt x="554190" y="50283"/>
                </a:lnTo>
                <a:lnTo>
                  <a:pt x="530270" y="37433"/>
                </a:lnTo>
                <a:lnTo>
                  <a:pt x="505336" y="26337"/>
                </a:lnTo>
                <a:lnTo>
                  <a:pt x="479468" y="17074"/>
                </a:lnTo>
                <a:lnTo>
                  <a:pt x="452749" y="9727"/>
                </a:lnTo>
                <a:lnTo>
                  <a:pt x="425260" y="4377"/>
                </a:lnTo>
                <a:lnTo>
                  <a:pt x="397083" y="1108"/>
                </a:lnTo>
                <a:lnTo>
                  <a:pt x="36830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5"/>
          <p:cNvSpPr/>
          <p:nvPr/>
        </p:nvSpPr>
        <p:spPr>
          <a:xfrm>
            <a:off x="7296150" y="1511300"/>
            <a:ext cx="736600" cy="736600"/>
          </a:xfrm>
          <a:custGeom>
            <a:avLst/>
            <a:gdLst/>
            <a:ahLst/>
            <a:cxnLst/>
            <a:rect l="l" t="t" r="r" b="b"/>
            <a:pathLst>
              <a:path w="736600" h="736600">
                <a:moveTo>
                  <a:pt x="368300" y="0"/>
                </a:moveTo>
                <a:lnTo>
                  <a:pt x="339518" y="1108"/>
                </a:lnTo>
                <a:lnTo>
                  <a:pt x="311342" y="4377"/>
                </a:lnTo>
                <a:lnTo>
                  <a:pt x="283853" y="9727"/>
                </a:lnTo>
                <a:lnTo>
                  <a:pt x="257134" y="17074"/>
                </a:lnTo>
                <a:lnTo>
                  <a:pt x="231267" y="26337"/>
                </a:lnTo>
                <a:lnTo>
                  <a:pt x="206332" y="37433"/>
                </a:lnTo>
                <a:lnTo>
                  <a:pt x="182413" y="50283"/>
                </a:lnTo>
                <a:lnTo>
                  <a:pt x="159591" y="64802"/>
                </a:lnTo>
                <a:lnTo>
                  <a:pt x="137948" y="80910"/>
                </a:lnTo>
                <a:lnTo>
                  <a:pt x="117566" y="98525"/>
                </a:lnTo>
                <a:lnTo>
                  <a:pt x="98527" y="117564"/>
                </a:lnTo>
                <a:lnTo>
                  <a:pt x="80912" y="137945"/>
                </a:lnTo>
                <a:lnTo>
                  <a:pt x="64804" y="159589"/>
                </a:lnTo>
                <a:lnTo>
                  <a:pt x="50285" y="182410"/>
                </a:lnTo>
                <a:lnTo>
                  <a:pt x="37435" y="206329"/>
                </a:lnTo>
                <a:lnTo>
                  <a:pt x="26337" y="231264"/>
                </a:lnTo>
                <a:lnTo>
                  <a:pt x="17074" y="257132"/>
                </a:lnTo>
                <a:lnTo>
                  <a:pt x="9727" y="283851"/>
                </a:lnTo>
                <a:lnTo>
                  <a:pt x="4377" y="311340"/>
                </a:lnTo>
                <a:lnTo>
                  <a:pt x="1108" y="339517"/>
                </a:lnTo>
                <a:lnTo>
                  <a:pt x="0" y="368300"/>
                </a:lnTo>
                <a:lnTo>
                  <a:pt x="1108" y="397083"/>
                </a:lnTo>
                <a:lnTo>
                  <a:pt x="4377" y="425260"/>
                </a:lnTo>
                <a:lnTo>
                  <a:pt x="9727" y="452749"/>
                </a:lnTo>
                <a:lnTo>
                  <a:pt x="17074" y="479468"/>
                </a:lnTo>
                <a:lnTo>
                  <a:pt x="26337" y="505336"/>
                </a:lnTo>
                <a:lnTo>
                  <a:pt x="37435" y="530270"/>
                </a:lnTo>
                <a:lnTo>
                  <a:pt x="50285" y="554190"/>
                </a:lnTo>
                <a:lnTo>
                  <a:pt x="64804" y="577011"/>
                </a:lnTo>
                <a:lnTo>
                  <a:pt x="80912" y="598654"/>
                </a:lnTo>
                <a:lnTo>
                  <a:pt x="98527" y="619036"/>
                </a:lnTo>
                <a:lnTo>
                  <a:pt x="117566" y="638075"/>
                </a:lnTo>
                <a:lnTo>
                  <a:pt x="137948" y="655689"/>
                </a:lnTo>
                <a:lnTo>
                  <a:pt x="159591" y="671798"/>
                </a:lnTo>
                <a:lnTo>
                  <a:pt x="182413" y="686317"/>
                </a:lnTo>
                <a:lnTo>
                  <a:pt x="206332" y="699166"/>
                </a:lnTo>
                <a:lnTo>
                  <a:pt x="231267" y="710263"/>
                </a:lnTo>
                <a:lnTo>
                  <a:pt x="257134" y="719526"/>
                </a:lnTo>
                <a:lnTo>
                  <a:pt x="283853" y="726873"/>
                </a:lnTo>
                <a:lnTo>
                  <a:pt x="311342" y="732223"/>
                </a:lnTo>
                <a:lnTo>
                  <a:pt x="339518" y="735492"/>
                </a:lnTo>
                <a:lnTo>
                  <a:pt x="368300" y="736600"/>
                </a:lnTo>
                <a:lnTo>
                  <a:pt x="397082" y="735492"/>
                </a:lnTo>
                <a:lnTo>
                  <a:pt x="425258" y="732223"/>
                </a:lnTo>
                <a:lnTo>
                  <a:pt x="452747" y="726873"/>
                </a:lnTo>
                <a:lnTo>
                  <a:pt x="479466" y="719526"/>
                </a:lnTo>
                <a:lnTo>
                  <a:pt x="505333" y="710263"/>
                </a:lnTo>
                <a:lnTo>
                  <a:pt x="530268" y="699166"/>
                </a:lnTo>
                <a:lnTo>
                  <a:pt x="554187" y="686317"/>
                </a:lnTo>
                <a:lnTo>
                  <a:pt x="577009" y="671798"/>
                </a:lnTo>
                <a:lnTo>
                  <a:pt x="598652" y="655689"/>
                </a:lnTo>
                <a:lnTo>
                  <a:pt x="619034" y="638075"/>
                </a:lnTo>
                <a:lnTo>
                  <a:pt x="638073" y="619036"/>
                </a:lnTo>
                <a:lnTo>
                  <a:pt x="655688" y="598654"/>
                </a:lnTo>
                <a:lnTo>
                  <a:pt x="671796" y="577011"/>
                </a:lnTo>
                <a:lnTo>
                  <a:pt x="686315" y="554190"/>
                </a:lnTo>
                <a:lnTo>
                  <a:pt x="699165" y="530270"/>
                </a:lnTo>
                <a:lnTo>
                  <a:pt x="710262" y="505336"/>
                </a:lnTo>
                <a:lnTo>
                  <a:pt x="719526" y="479468"/>
                </a:lnTo>
                <a:lnTo>
                  <a:pt x="726873" y="452749"/>
                </a:lnTo>
                <a:lnTo>
                  <a:pt x="732222" y="425260"/>
                </a:lnTo>
                <a:lnTo>
                  <a:pt x="735492" y="397083"/>
                </a:lnTo>
                <a:lnTo>
                  <a:pt x="736600" y="368300"/>
                </a:lnTo>
                <a:lnTo>
                  <a:pt x="735492" y="339517"/>
                </a:lnTo>
                <a:lnTo>
                  <a:pt x="732222" y="311340"/>
                </a:lnTo>
                <a:lnTo>
                  <a:pt x="726873" y="283851"/>
                </a:lnTo>
                <a:lnTo>
                  <a:pt x="719526" y="257132"/>
                </a:lnTo>
                <a:lnTo>
                  <a:pt x="710262" y="231264"/>
                </a:lnTo>
                <a:lnTo>
                  <a:pt x="699165" y="206329"/>
                </a:lnTo>
                <a:lnTo>
                  <a:pt x="686315" y="182410"/>
                </a:lnTo>
                <a:lnTo>
                  <a:pt x="671796" y="159589"/>
                </a:lnTo>
                <a:lnTo>
                  <a:pt x="655688" y="137945"/>
                </a:lnTo>
                <a:lnTo>
                  <a:pt x="638073" y="117564"/>
                </a:lnTo>
                <a:lnTo>
                  <a:pt x="619034" y="98525"/>
                </a:lnTo>
                <a:lnTo>
                  <a:pt x="598652" y="80910"/>
                </a:lnTo>
                <a:lnTo>
                  <a:pt x="577009" y="64802"/>
                </a:lnTo>
                <a:lnTo>
                  <a:pt x="554187" y="50283"/>
                </a:lnTo>
                <a:lnTo>
                  <a:pt x="530268" y="37433"/>
                </a:lnTo>
                <a:lnTo>
                  <a:pt x="505333" y="26337"/>
                </a:lnTo>
                <a:lnTo>
                  <a:pt x="479466" y="17074"/>
                </a:lnTo>
                <a:lnTo>
                  <a:pt x="452747" y="9727"/>
                </a:lnTo>
                <a:lnTo>
                  <a:pt x="425258" y="4377"/>
                </a:lnTo>
                <a:lnTo>
                  <a:pt x="397082" y="1108"/>
                </a:lnTo>
                <a:lnTo>
                  <a:pt x="368300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9" name="Shape 6"/>
          <p:cNvSpPr/>
          <p:nvPr/>
        </p:nvSpPr>
        <p:spPr>
          <a:xfrm>
            <a:off x="10388600" y="1511300"/>
            <a:ext cx="736600" cy="736600"/>
          </a:xfrm>
          <a:custGeom>
            <a:avLst/>
            <a:gdLst/>
            <a:ahLst/>
            <a:cxnLst/>
            <a:rect l="l" t="t" r="r" b="b"/>
            <a:pathLst>
              <a:path w="736600" h="736600">
                <a:moveTo>
                  <a:pt x="368300" y="0"/>
                </a:moveTo>
                <a:lnTo>
                  <a:pt x="339518" y="1108"/>
                </a:lnTo>
                <a:lnTo>
                  <a:pt x="311342" y="4377"/>
                </a:lnTo>
                <a:lnTo>
                  <a:pt x="283853" y="9727"/>
                </a:lnTo>
                <a:lnTo>
                  <a:pt x="257134" y="17074"/>
                </a:lnTo>
                <a:lnTo>
                  <a:pt x="231267" y="26337"/>
                </a:lnTo>
                <a:lnTo>
                  <a:pt x="206332" y="37433"/>
                </a:lnTo>
                <a:lnTo>
                  <a:pt x="182413" y="50283"/>
                </a:lnTo>
                <a:lnTo>
                  <a:pt x="159591" y="64802"/>
                </a:lnTo>
                <a:lnTo>
                  <a:pt x="137948" y="80910"/>
                </a:lnTo>
                <a:lnTo>
                  <a:pt x="117566" y="98525"/>
                </a:lnTo>
                <a:lnTo>
                  <a:pt x="98527" y="117564"/>
                </a:lnTo>
                <a:lnTo>
                  <a:pt x="80912" y="137945"/>
                </a:lnTo>
                <a:lnTo>
                  <a:pt x="64804" y="159589"/>
                </a:lnTo>
                <a:lnTo>
                  <a:pt x="50285" y="182410"/>
                </a:lnTo>
                <a:lnTo>
                  <a:pt x="37435" y="206329"/>
                </a:lnTo>
                <a:lnTo>
                  <a:pt x="26337" y="231264"/>
                </a:lnTo>
                <a:lnTo>
                  <a:pt x="17074" y="257132"/>
                </a:lnTo>
                <a:lnTo>
                  <a:pt x="9727" y="283851"/>
                </a:lnTo>
                <a:lnTo>
                  <a:pt x="4377" y="311340"/>
                </a:lnTo>
                <a:lnTo>
                  <a:pt x="1108" y="339517"/>
                </a:lnTo>
                <a:lnTo>
                  <a:pt x="0" y="368300"/>
                </a:lnTo>
                <a:lnTo>
                  <a:pt x="1108" y="397083"/>
                </a:lnTo>
                <a:lnTo>
                  <a:pt x="4377" y="425260"/>
                </a:lnTo>
                <a:lnTo>
                  <a:pt x="9727" y="452749"/>
                </a:lnTo>
                <a:lnTo>
                  <a:pt x="17074" y="479468"/>
                </a:lnTo>
                <a:lnTo>
                  <a:pt x="26337" y="505336"/>
                </a:lnTo>
                <a:lnTo>
                  <a:pt x="37435" y="530270"/>
                </a:lnTo>
                <a:lnTo>
                  <a:pt x="50285" y="554190"/>
                </a:lnTo>
                <a:lnTo>
                  <a:pt x="64804" y="577011"/>
                </a:lnTo>
                <a:lnTo>
                  <a:pt x="80912" y="598654"/>
                </a:lnTo>
                <a:lnTo>
                  <a:pt x="98527" y="619036"/>
                </a:lnTo>
                <a:lnTo>
                  <a:pt x="117566" y="638075"/>
                </a:lnTo>
                <a:lnTo>
                  <a:pt x="137948" y="655689"/>
                </a:lnTo>
                <a:lnTo>
                  <a:pt x="159591" y="671798"/>
                </a:lnTo>
                <a:lnTo>
                  <a:pt x="182413" y="686317"/>
                </a:lnTo>
                <a:lnTo>
                  <a:pt x="206332" y="699166"/>
                </a:lnTo>
                <a:lnTo>
                  <a:pt x="231267" y="710263"/>
                </a:lnTo>
                <a:lnTo>
                  <a:pt x="257134" y="719526"/>
                </a:lnTo>
                <a:lnTo>
                  <a:pt x="283853" y="726873"/>
                </a:lnTo>
                <a:lnTo>
                  <a:pt x="311342" y="732223"/>
                </a:lnTo>
                <a:lnTo>
                  <a:pt x="339518" y="735492"/>
                </a:lnTo>
                <a:lnTo>
                  <a:pt x="368300" y="736600"/>
                </a:lnTo>
                <a:lnTo>
                  <a:pt x="397082" y="735492"/>
                </a:lnTo>
                <a:lnTo>
                  <a:pt x="425258" y="732223"/>
                </a:lnTo>
                <a:lnTo>
                  <a:pt x="452747" y="726873"/>
                </a:lnTo>
                <a:lnTo>
                  <a:pt x="479466" y="719526"/>
                </a:lnTo>
                <a:lnTo>
                  <a:pt x="505333" y="710263"/>
                </a:lnTo>
                <a:lnTo>
                  <a:pt x="530268" y="699166"/>
                </a:lnTo>
                <a:lnTo>
                  <a:pt x="554187" y="686317"/>
                </a:lnTo>
                <a:lnTo>
                  <a:pt x="577009" y="671798"/>
                </a:lnTo>
                <a:lnTo>
                  <a:pt x="598652" y="655689"/>
                </a:lnTo>
                <a:lnTo>
                  <a:pt x="619034" y="638075"/>
                </a:lnTo>
                <a:lnTo>
                  <a:pt x="638073" y="619036"/>
                </a:lnTo>
                <a:lnTo>
                  <a:pt x="655688" y="598654"/>
                </a:lnTo>
                <a:lnTo>
                  <a:pt x="671796" y="577011"/>
                </a:lnTo>
                <a:lnTo>
                  <a:pt x="686315" y="554190"/>
                </a:lnTo>
                <a:lnTo>
                  <a:pt x="699165" y="530270"/>
                </a:lnTo>
                <a:lnTo>
                  <a:pt x="710262" y="505336"/>
                </a:lnTo>
                <a:lnTo>
                  <a:pt x="719526" y="479468"/>
                </a:lnTo>
                <a:lnTo>
                  <a:pt x="726873" y="452749"/>
                </a:lnTo>
                <a:lnTo>
                  <a:pt x="732222" y="425260"/>
                </a:lnTo>
                <a:lnTo>
                  <a:pt x="735492" y="397083"/>
                </a:lnTo>
                <a:lnTo>
                  <a:pt x="736600" y="368300"/>
                </a:lnTo>
                <a:lnTo>
                  <a:pt x="735492" y="339517"/>
                </a:lnTo>
                <a:lnTo>
                  <a:pt x="732222" y="311340"/>
                </a:lnTo>
                <a:lnTo>
                  <a:pt x="726873" y="283851"/>
                </a:lnTo>
                <a:lnTo>
                  <a:pt x="719526" y="257132"/>
                </a:lnTo>
                <a:lnTo>
                  <a:pt x="710262" y="231264"/>
                </a:lnTo>
                <a:lnTo>
                  <a:pt x="699165" y="206329"/>
                </a:lnTo>
                <a:lnTo>
                  <a:pt x="686315" y="182410"/>
                </a:lnTo>
                <a:lnTo>
                  <a:pt x="671796" y="159589"/>
                </a:lnTo>
                <a:lnTo>
                  <a:pt x="655688" y="137945"/>
                </a:lnTo>
                <a:lnTo>
                  <a:pt x="638073" y="117564"/>
                </a:lnTo>
                <a:lnTo>
                  <a:pt x="619034" y="98525"/>
                </a:lnTo>
                <a:lnTo>
                  <a:pt x="598652" y="80910"/>
                </a:lnTo>
                <a:lnTo>
                  <a:pt x="577009" y="64802"/>
                </a:lnTo>
                <a:lnTo>
                  <a:pt x="554187" y="50283"/>
                </a:lnTo>
                <a:lnTo>
                  <a:pt x="530268" y="37433"/>
                </a:lnTo>
                <a:lnTo>
                  <a:pt x="505333" y="26337"/>
                </a:lnTo>
                <a:lnTo>
                  <a:pt x="479466" y="17074"/>
                </a:lnTo>
                <a:lnTo>
                  <a:pt x="452747" y="9727"/>
                </a:lnTo>
                <a:lnTo>
                  <a:pt x="425258" y="4377"/>
                </a:lnTo>
                <a:lnTo>
                  <a:pt x="397082" y="1108"/>
                </a:lnTo>
                <a:lnTo>
                  <a:pt x="368300" y="0"/>
                </a:lnTo>
                <a:close/>
              </a:path>
            </a:pathLst>
          </a:custGeom>
          <a:solidFill>
            <a:srgbClr val="DDF100"/>
          </a:solidFill>
        </p:spPr>
      </p:sp>
      <p:pic>
        <p:nvPicPr>
          <p:cNvPr id="10" name="Image 1" descr="https://kimi-img.moonshot.cn/pub/slides/slides_tmpl/image/25-09-04-14:55:15-d2sjfku1bb2p4onbq0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724660"/>
            <a:ext cx="306705" cy="322580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9-04-14:55:15-d2sjfku1bb2p4onbq0h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7670" y="1725295"/>
            <a:ext cx="396240" cy="321945"/>
          </a:xfrm>
          <a:prstGeom prst="rect">
            <a:avLst/>
          </a:prstGeom>
        </p:spPr>
      </p:pic>
      <p:pic>
        <p:nvPicPr>
          <p:cNvPr id="12" name="Image 3" descr="https://kimi-img.moonshot.cn/pub/slides/slides_tmpl/image/25-09-04-14:55:15-d2sjfku1bb2p4onbq0k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855" y="1721485"/>
            <a:ext cx="384175" cy="325755"/>
          </a:xfrm>
          <a:prstGeom prst="rect">
            <a:avLst/>
          </a:prstGeom>
        </p:spPr>
      </p:pic>
      <p:pic>
        <p:nvPicPr>
          <p:cNvPr id="13" name="Image 4" descr="https://kimi-img.moonshot.cn/pub/slides/slides_tmpl/image/25-09-04-14:55:15-d2sjfku1bb2p4onbq0d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9600" y="1724660"/>
            <a:ext cx="377190" cy="3225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2083" y="2508222"/>
            <a:ext cx="2153497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步骤一：启动与导入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347345" y="3137853"/>
            <a:ext cx="2477135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打开Orange软件，从左侧组件库拖拽File组件到画布，双击选择汞同位素数据文件（CSV格式）。</a:t>
            </a:r>
            <a:endParaRPr lang="en-US" sz="1600" dirty="0"/>
          </a:p>
        </p:txBody>
      </p:sp>
      <p:sp>
        <p:nvSpPr>
          <p:cNvPr id="16" name="Text 9"/>
          <p:cNvSpPr/>
          <p:nvPr/>
        </p:nvSpPr>
        <p:spPr>
          <a:xfrm>
            <a:off x="3488894" y="2508222"/>
            <a:ext cx="2153497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步骤二：查看数据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305175" y="3137853"/>
            <a:ext cx="2477135" cy="169183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拖拽Data Table组件，从File组件拉线连接。双击Data Table查看数据内容，确认质量数和丰度列是否正确识别。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6477504" y="2560416"/>
            <a:ext cx="2153497" cy="6724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步骤三：绘制散点图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263005" y="3137853"/>
            <a:ext cx="2477135" cy="1371759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拖拽Scatter Plot组件，连接Data Table。双击设置X轴为质量数，Y轴为丰度，选择颜色和形状区分不同污染源。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9484315" y="2560416"/>
            <a:ext cx="2153497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步骤四：对比体验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9220835" y="3137853"/>
            <a:ext cx="2477135" cy="169183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对比Orange和Python绘图的异同：Orange更快捷直观，Python更灵活可控。两者互补，根据场景选择最佳工具！</a:t>
            </a:r>
            <a:endParaRPr lang="en-US" sz="1600" dirty="0"/>
          </a:p>
        </p:txBody>
      </p:sp>
      <p:pic>
        <p:nvPicPr>
          <p:cNvPr id="22" name="图片 21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20910" y="315913"/>
            <a:ext cx="1143000" cy="333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2958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09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11206511" y="539712"/>
            <a:ext cx="470934" cy="658460"/>
          </a:xfrm>
          <a:custGeom>
            <a:avLst/>
            <a:gdLst/>
            <a:ahLst/>
            <a:cxnLst/>
            <a:rect l="l" t="t" r="r" b="b"/>
            <a:pathLst>
              <a:path w="470934" h="658460">
                <a:moveTo>
                  <a:pt x="470934" y="0"/>
                </a:moveTo>
                <a:lnTo>
                  <a:pt x="0" y="0"/>
                </a:lnTo>
                <a:lnTo>
                  <a:pt x="0" y="470833"/>
                </a:lnTo>
                <a:lnTo>
                  <a:pt x="307915" y="470833"/>
                </a:lnTo>
                <a:lnTo>
                  <a:pt x="470934" y="658460"/>
                </a:lnTo>
                <a:lnTo>
                  <a:pt x="47093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118681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10235" y="5587365"/>
            <a:ext cx="471170" cy="658495"/>
          </a:xfrm>
          <a:custGeom>
            <a:avLst/>
            <a:gdLst/>
            <a:ahLst/>
            <a:cxnLst/>
            <a:rect l="l" t="t" r="r" b="b"/>
            <a:pathLst>
              <a:path w="471170" h="658495">
                <a:moveTo>
                  <a:pt x="0" y="0"/>
                </a:moveTo>
                <a:lnTo>
                  <a:pt x="0" y="658495"/>
                </a:lnTo>
                <a:lnTo>
                  <a:pt x="471170" y="658495"/>
                </a:lnTo>
                <a:lnTo>
                  <a:pt x="471170" y="187630"/>
                </a:lnTo>
                <a:lnTo>
                  <a:pt x="163100" y="187630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Text 4"/>
          <p:cNvSpPr/>
          <p:nvPr/>
        </p:nvSpPr>
        <p:spPr>
          <a:xfrm>
            <a:off x="7391379" y="3088189"/>
            <a:ext cx="4760616" cy="3776028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3900" dirty="0">
                <a:solidFill>
                  <a:srgbClr val="D9D9D9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07</a:t>
            </a:r>
            <a:endParaRPr lang="en-US" sz="1600" dirty="0"/>
          </a:p>
        </p:txBody>
      </p:sp>
      <p:pic>
        <p:nvPicPr>
          <p:cNvPr id="7" name="Image 0" descr="https://kimi-img.moonshot.cn/pub/slides/slides_tmpl/image/25-09-04-14:55:15-d2sjfku1bb2p4onbq0mg.png"/>
          <p:cNvPicPr>
            <a:picLocks noChangeAspect="1"/>
          </p:cNvPicPr>
          <p:nvPr/>
        </p:nvPicPr>
        <p:blipFill>
          <a:blip r:embed="rId1"/>
          <a:srcRect b="26800"/>
          <a:stretch>
            <a:fillRect/>
          </a:stretch>
        </p:blipFill>
        <p:spPr>
          <a:xfrm>
            <a:off x="610235" y="762000"/>
            <a:ext cx="578231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0235" y="3505200"/>
            <a:ext cx="6704965" cy="1979930"/>
          </a:xfrm>
          <a:prstGeom prst="rect">
            <a:avLst/>
          </a:prstGeom>
          <a:solidFill>
            <a:srgbClr val="000000"/>
          </a:solidFill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课程总结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439150" y="21590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2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3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4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12191144" h="6857615">
                <a:moveTo>
                  <a:pt x="12191144" y="0"/>
                </a:moveTo>
                <a:lnTo>
                  <a:pt x="0" y="0"/>
                </a:lnTo>
                <a:lnTo>
                  <a:pt x="0" y="6857615"/>
                </a:lnTo>
                <a:lnTo>
                  <a:pt x="12191144" y="6857615"/>
                </a:lnTo>
                <a:lnTo>
                  <a:pt x="12191144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4227195" y="2533650"/>
            <a:ext cx="3737610" cy="3543935"/>
          </a:xfrm>
          <a:custGeom>
            <a:avLst/>
            <a:gdLst/>
            <a:ahLst/>
            <a:cxnLst/>
            <a:rect l="l" t="t" r="r" b="b"/>
            <a:pathLst>
              <a:path w="3737610" h="3543935">
                <a:moveTo>
                  <a:pt x="3623444" y="0"/>
                </a:moveTo>
                <a:lnTo>
                  <a:pt x="114166" y="0"/>
                </a:lnTo>
                <a:lnTo>
                  <a:pt x="83816" y="4153"/>
                </a:lnTo>
                <a:lnTo>
                  <a:pt x="56544" y="15875"/>
                </a:lnTo>
                <a:lnTo>
                  <a:pt x="33439" y="34057"/>
                </a:lnTo>
                <a:lnTo>
                  <a:pt x="15587" y="57590"/>
                </a:lnTo>
                <a:lnTo>
                  <a:pt x="4078" y="85366"/>
                </a:lnTo>
                <a:lnTo>
                  <a:pt x="0" y="116277"/>
                </a:lnTo>
                <a:lnTo>
                  <a:pt x="0" y="3427657"/>
                </a:lnTo>
                <a:lnTo>
                  <a:pt x="4078" y="3458569"/>
                </a:lnTo>
                <a:lnTo>
                  <a:pt x="15587" y="3486345"/>
                </a:lnTo>
                <a:lnTo>
                  <a:pt x="33439" y="3509878"/>
                </a:lnTo>
                <a:lnTo>
                  <a:pt x="56544" y="3528060"/>
                </a:lnTo>
                <a:lnTo>
                  <a:pt x="83816" y="3539782"/>
                </a:lnTo>
                <a:lnTo>
                  <a:pt x="114166" y="3543935"/>
                </a:lnTo>
                <a:lnTo>
                  <a:pt x="3623444" y="3543935"/>
                </a:lnTo>
                <a:lnTo>
                  <a:pt x="3653794" y="3539782"/>
                </a:lnTo>
                <a:lnTo>
                  <a:pt x="3681066" y="3528060"/>
                </a:lnTo>
                <a:lnTo>
                  <a:pt x="3704171" y="3509878"/>
                </a:lnTo>
                <a:lnTo>
                  <a:pt x="3722023" y="3486345"/>
                </a:lnTo>
                <a:lnTo>
                  <a:pt x="3733532" y="3458569"/>
                </a:lnTo>
                <a:lnTo>
                  <a:pt x="3737610" y="3427657"/>
                </a:lnTo>
                <a:lnTo>
                  <a:pt x="3737610" y="116277"/>
                </a:lnTo>
                <a:lnTo>
                  <a:pt x="3733532" y="85366"/>
                </a:lnTo>
                <a:lnTo>
                  <a:pt x="3722023" y="57590"/>
                </a:lnTo>
                <a:lnTo>
                  <a:pt x="3704171" y="34057"/>
                </a:lnTo>
                <a:lnTo>
                  <a:pt x="3681066" y="15875"/>
                </a:lnTo>
                <a:lnTo>
                  <a:pt x="3653794" y="4153"/>
                </a:lnTo>
                <a:lnTo>
                  <a:pt x="3623444" y="0"/>
                </a:lnTo>
                <a:close/>
              </a:path>
            </a:pathLst>
          </a:custGeom>
          <a:solidFill>
            <a:srgbClr val="EEEEEE"/>
          </a:solidFill>
        </p:spPr>
      </p:sp>
      <p:sp>
        <p:nvSpPr>
          <p:cNvPr id="4" name="Shape 2"/>
          <p:cNvSpPr/>
          <p:nvPr/>
        </p:nvSpPr>
        <p:spPr>
          <a:xfrm>
            <a:off x="8212455" y="2533650"/>
            <a:ext cx="3737610" cy="3544570"/>
          </a:xfrm>
          <a:custGeom>
            <a:avLst/>
            <a:gdLst/>
            <a:ahLst/>
            <a:cxnLst/>
            <a:rect l="l" t="t" r="r" b="b"/>
            <a:pathLst>
              <a:path w="3737610" h="3544570">
                <a:moveTo>
                  <a:pt x="3623444" y="0"/>
                </a:moveTo>
                <a:lnTo>
                  <a:pt x="114166" y="0"/>
                </a:lnTo>
                <a:lnTo>
                  <a:pt x="83816" y="4154"/>
                </a:lnTo>
                <a:lnTo>
                  <a:pt x="56544" y="15878"/>
                </a:lnTo>
                <a:lnTo>
                  <a:pt x="33439" y="34063"/>
                </a:lnTo>
                <a:lnTo>
                  <a:pt x="15587" y="57600"/>
                </a:lnTo>
                <a:lnTo>
                  <a:pt x="4078" y="85382"/>
                </a:lnTo>
                <a:lnTo>
                  <a:pt x="0" y="116298"/>
                </a:lnTo>
                <a:lnTo>
                  <a:pt x="0" y="3428272"/>
                </a:lnTo>
                <a:lnTo>
                  <a:pt x="4078" y="3459188"/>
                </a:lnTo>
                <a:lnTo>
                  <a:pt x="15587" y="3486970"/>
                </a:lnTo>
                <a:lnTo>
                  <a:pt x="33439" y="3510506"/>
                </a:lnTo>
                <a:lnTo>
                  <a:pt x="56544" y="3528692"/>
                </a:lnTo>
                <a:lnTo>
                  <a:pt x="83816" y="3540416"/>
                </a:lnTo>
                <a:lnTo>
                  <a:pt x="114166" y="3544570"/>
                </a:lnTo>
                <a:lnTo>
                  <a:pt x="3623444" y="3544570"/>
                </a:lnTo>
                <a:lnTo>
                  <a:pt x="3653794" y="3540416"/>
                </a:lnTo>
                <a:lnTo>
                  <a:pt x="3681066" y="3528692"/>
                </a:lnTo>
                <a:lnTo>
                  <a:pt x="3704171" y="3510506"/>
                </a:lnTo>
                <a:lnTo>
                  <a:pt x="3722023" y="3486970"/>
                </a:lnTo>
                <a:lnTo>
                  <a:pt x="3733532" y="3459188"/>
                </a:lnTo>
                <a:lnTo>
                  <a:pt x="3737610" y="3428272"/>
                </a:lnTo>
                <a:lnTo>
                  <a:pt x="3737610" y="116298"/>
                </a:lnTo>
                <a:lnTo>
                  <a:pt x="3733532" y="85382"/>
                </a:lnTo>
                <a:lnTo>
                  <a:pt x="3722023" y="57600"/>
                </a:lnTo>
                <a:lnTo>
                  <a:pt x="3704171" y="34063"/>
                </a:lnTo>
                <a:lnTo>
                  <a:pt x="3681066" y="15878"/>
                </a:lnTo>
                <a:lnTo>
                  <a:pt x="3653794" y="4154"/>
                </a:lnTo>
                <a:lnTo>
                  <a:pt x="3623444" y="0"/>
                </a:lnTo>
                <a:close/>
              </a:path>
            </a:pathLst>
          </a:custGeom>
          <a:solidFill>
            <a:srgbClr val="CCCCCC"/>
          </a:solidFill>
        </p:spPr>
      </p:sp>
      <p:sp>
        <p:nvSpPr>
          <p:cNvPr id="5" name="Shape 3"/>
          <p:cNvSpPr/>
          <p:nvPr/>
        </p:nvSpPr>
        <p:spPr>
          <a:xfrm>
            <a:off x="10778762" y="520664"/>
            <a:ext cx="353874" cy="465158"/>
          </a:xfrm>
          <a:custGeom>
            <a:avLst/>
            <a:gdLst/>
            <a:ahLst/>
            <a:cxnLst/>
            <a:rect l="l" t="t" r="r" b="b"/>
            <a:pathLst>
              <a:path w="353874" h="465158">
                <a:moveTo>
                  <a:pt x="336402" y="0"/>
                </a:moveTo>
                <a:lnTo>
                  <a:pt x="17472" y="0"/>
                </a:lnTo>
                <a:lnTo>
                  <a:pt x="10672" y="1373"/>
                </a:lnTo>
                <a:lnTo>
                  <a:pt x="5118" y="5118"/>
                </a:lnTo>
                <a:lnTo>
                  <a:pt x="1373" y="10671"/>
                </a:lnTo>
                <a:lnTo>
                  <a:pt x="0" y="17470"/>
                </a:lnTo>
                <a:lnTo>
                  <a:pt x="0" y="336354"/>
                </a:lnTo>
                <a:lnTo>
                  <a:pt x="1373" y="343154"/>
                </a:lnTo>
                <a:lnTo>
                  <a:pt x="5118" y="348707"/>
                </a:lnTo>
                <a:lnTo>
                  <a:pt x="10672" y="352451"/>
                </a:lnTo>
                <a:lnTo>
                  <a:pt x="17472" y="353824"/>
                </a:lnTo>
                <a:lnTo>
                  <a:pt x="228472" y="353824"/>
                </a:lnTo>
                <a:lnTo>
                  <a:pt x="233280" y="356022"/>
                </a:lnTo>
                <a:lnTo>
                  <a:pt x="323210" y="459529"/>
                </a:lnTo>
                <a:lnTo>
                  <a:pt x="332473" y="465158"/>
                </a:lnTo>
                <a:lnTo>
                  <a:pt x="342517" y="464436"/>
                </a:lnTo>
                <a:lnTo>
                  <a:pt x="350574" y="458396"/>
                </a:lnTo>
                <a:lnTo>
                  <a:pt x="353874" y="448073"/>
                </a:lnTo>
                <a:lnTo>
                  <a:pt x="353874" y="17470"/>
                </a:lnTo>
                <a:lnTo>
                  <a:pt x="352501" y="10671"/>
                </a:lnTo>
                <a:lnTo>
                  <a:pt x="348756" y="5118"/>
                </a:lnTo>
                <a:lnTo>
                  <a:pt x="343202" y="1373"/>
                </a:lnTo>
                <a:lnTo>
                  <a:pt x="336402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6" name="Shape 4"/>
          <p:cNvSpPr/>
          <p:nvPr/>
        </p:nvSpPr>
        <p:spPr>
          <a:xfrm>
            <a:off x="11212334" y="520664"/>
            <a:ext cx="353874" cy="465158"/>
          </a:xfrm>
          <a:custGeom>
            <a:avLst/>
            <a:gdLst/>
            <a:ahLst/>
            <a:cxnLst/>
            <a:rect l="l" t="t" r="r" b="b"/>
            <a:pathLst>
              <a:path w="353874" h="465158">
                <a:moveTo>
                  <a:pt x="336402" y="0"/>
                </a:moveTo>
                <a:lnTo>
                  <a:pt x="17472" y="0"/>
                </a:lnTo>
                <a:lnTo>
                  <a:pt x="10672" y="1373"/>
                </a:lnTo>
                <a:lnTo>
                  <a:pt x="5118" y="5118"/>
                </a:lnTo>
                <a:lnTo>
                  <a:pt x="1373" y="10671"/>
                </a:lnTo>
                <a:lnTo>
                  <a:pt x="0" y="17470"/>
                </a:lnTo>
                <a:lnTo>
                  <a:pt x="0" y="336354"/>
                </a:lnTo>
                <a:lnTo>
                  <a:pt x="1373" y="343154"/>
                </a:lnTo>
                <a:lnTo>
                  <a:pt x="5118" y="348707"/>
                </a:lnTo>
                <a:lnTo>
                  <a:pt x="10672" y="352451"/>
                </a:lnTo>
                <a:lnTo>
                  <a:pt x="17472" y="353824"/>
                </a:lnTo>
                <a:lnTo>
                  <a:pt x="228472" y="353824"/>
                </a:lnTo>
                <a:lnTo>
                  <a:pt x="233280" y="356022"/>
                </a:lnTo>
                <a:lnTo>
                  <a:pt x="323210" y="459529"/>
                </a:lnTo>
                <a:lnTo>
                  <a:pt x="332473" y="465158"/>
                </a:lnTo>
                <a:lnTo>
                  <a:pt x="342517" y="464436"/>
                </a:lnTo>
                <a:lnTo>
                  <a:pt x="350574" y="458396"/>
                </a:lnTo>
                <a:lnTo>
                  <a:pt x="353874" y="448073"/>
                </a:lnTo>
                <a:lnTo>
                  <a:pt x="353874" y="17470"/>
                </a:lnTo>
                <a:lnTo>
                  <a:pt x="352501" y="10671"/>
                </a:lnTo>
                <a:lnTo>
                  <a:pt x="348756" y="5118"/>
                </a:lnTo>
                <a:lnTo>
                  <a:pt x="343202" y="1373"/>
                </a:lnTo>
                <a:lnTo>
                  <a:pt x="336402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450279" y="520439"/>
            <a:ext cx="508285" cy="508285"/>
          </a:xfrm>
          <a:custGeom>
            <a:avLst/>
            <a:gdLst/>
            <a:ahLst/>
            <a:cxnLst/>
            <a:rect l="l" t="t" r="r" b="b"/>
            <a:pathLst>
              <a:path w="508285" h="508285">
                <a:moveTo>
                  <a:pt x="254142" y="0"/>
                </a:moveTo>
                <a:lnTo>
                  <a:pt x="224504" y="1710"/>
                </a:lnTo>
                <a:lnTo>
                  <a:pt x="195870" y="6712"/>
                </a:lnTo>
                <a:lnTo>
                  <a:pt x="168431" y="14816"/>
                </a:lnTo>
                <a:lnTo>
                  <a:pt x="142377" y="25831"/>
                </a:lnTo>
                <a:lnTo>
                  <a:pt x="117900" y="39567"/>
                </a:lnTo>
                <a:lnTo>
                  <a:pt x="95189" y="55832"/>
                </a:lnTo>
                <a:lnTo>
                  <a:pt x="74437" y="74437"/>
                </a:lnTo>
                <a:lnTo>
                  <a:pt x="55832" y="95189"/>
                </a:lnTo>
                <a:lnTo>
                  <a:pt x="39567" y="117900"/>
                </a:lnTo>
                <a:lnTo>
                  <a:pt x="25831" y="142377"/>
                </a:lnTo>
                <a:lnTo>
                  <a:pt x="14816" y="168431"/>
                </a:lnTo>
                <a:lnTo>
                  <a:pt x="6712" y="195870"/>
                </a:lnTo>
                <a:lnTo>
                  <a:pt x="1710" y="224504"/>
                </a:lnTo>
                <a:lnTo>
                  <a:pt x="0" y="254142"/>
                </a:lnTo>
                <a:lnTo>
                  <a:pt x="1710" y="283781"/>
                </a:lnTo>
                <a:lnTo>
                  <a:pt x="6712" y="312415"/>
                </a:lnTo>
                <a:lnTo>
                  <a:pt x="14816" y="339854"/>
                </a:lnTo>
                <a:lnTo>
                  <a:pt x="25831" y="365908"/>
                </a:lnTo>
                <a:lnTo>
                  <a:pt x="39567" y="390385"/>
                </a:lnTo>
                <a:lnTo>
                  <a:pt x="55832" y="413096"/>
                </a:lnTo>
                <a:lnTo>
                  <a:pt x="74437" y="433848"/>
                </a:lnTo>
                <a:lnTo>
                  <a:pt x="95189" y="452453"/>
                </a:lnTo>
                <a:lnTo>
                  <a:pt x="117900" y="468718"/>
                </a:lnTo>
                <a:lnTo>
                  <a:pt x="142377" y="482454"/>
                </a:lnTo>
                <a:lnTo>
                  <a:pt x="168431" y="493469"/>
                </a:lnTo>
                <a:lnTo>
                  <a:pt x="195870" y="501573"/>
                </a:lnTo>
                <a:lnTo>
                  <a:pt x="224504" y="506575"/>
                </a:lnTo>
                <a:lnTo>
                  <a:pt x="254142" y="508285"/>
                </a:lnTo>
                <a:lnTo>
                  <a:pt x="283781" y="506575"/>
                </a:lnTo>
                <a:lnTo>
                  <a:pt x="312415" y="501573"/>
                </a:lnTo>
                <a:lnTo>
                  <a:pt x="339854" y="493469"/>
                </a:lnTo>
                <a:lnTo>
                  <a:pt x="365908" y="482454"/>
                </a:lnTo>
                <a:lnTo>
                  <a:pt x="390385" y="468718"/>
                </a:lnTo>
                <a:lnTo>
                  <a:pt x="413096" y="452453"/>
                </a:lnTo>
                <a:lnTo>
                  <a:pt x="433848" y="433848"/>
                </a:lnTo>
                <a:lnTo>
                  <a:pt x="452453" y="413096"/>
                </a:lnTo>
                <a:lnTo>
                  <a:pt x="468718" y="390385"/>
                </a:lnTo>
                <a:lnTo>
                  <a:pt x="482454" y="365908"/>
                </a:lnTo>
                <a:lnTo>
                  <a:pt x="493469" y="339854"/>
                </a:lnTo>
                <a:lnTo>
                  <a:pt x="501573" y="312415"/>
                </a:lnTo>
                <a:lnTo>
                  <a:pt x="506575" y="283781"/>
                </a:lnTo>
                <a:lnTo>
                  <a:pt x="508285" y="254142"/>
                </a:lnTo>
                <a:lnTo>
                  <a:pt x="506575" y="224504"/>
                </a:lnTo>
                <a:lnTo>
                  <a:pt x="501573" y="195870"/>
                </a:lnTo>
                <a:lnTo>
                  <a:pt x="493469" y="168431"/>
                </a:lnTo>
                <a:lnTo>
                  <a:pt x="482454" y="142377"/>
                </a:lnTo>
                <a:lnTo>
                  <a:pt x="468718" y="117900"/>
                </a:lnTo>
                <a:lnTo>
                  <a:pt x="452453" y="95189"/>
                </a:lnTo>
                <a:lnTo>
                  <a:pt x="433848" y="74437"/>
                </a:lnTo>
                <a:lnTo>
                  <a:pt x="413096" y="55832"/>
                </a:lnTo>
                <a:lnTo>
                  <a:pt x="390385" y="39567"/>
                </a:lnTo>
                <a:lnTo>
                  <a:pt x="365908" y="25831"/>
                </a:lnTo>
                <a:lnTo>
                  <a:pt x="339854" y="14816"/>
                </a:lnTo>
                <a:lnTo>
                  <a:pt x="312415" y="6712"/>
                </a:lnTo>
                <a:lnTo>
                  <a:pt x="283781" y="1710"/>
                </a:lnTo>
                <a:lnTo>
                  <a:pt x="254142" y="0"/>
                </a:lnTo>
                <a:close/>
              </a:path>
            </a:pathLst>
          </a:custGeom>
          <a:solidFill>
            <a:srgbClr val="DDF100"/>
          </a:solidFill>
        </p:spPr>
      </p:sp>
      <p:sp>
        <p:nvSpPr>
          <p:cNvPr id="8" name="Shape 6"/>
          <p:cNvSpPr/>
          <p:nvPr/>
        </p:nvSpPr>
        <p:spPr>
          <a:xfrm>
            <a:off x="7689738" y="2590618"/>
            <a:ext cx="216021" cy="216021"/>
          </a:xfrm>
          <a:custGeom>
            <a:avLst/>
            <a:gdLst/>
            <a:ahLst/>
            <a:cxnLst/>
            <a:rect l="l" t="t" r="r" b="b"/>
            <a:pathLst>
              <a:path w="216021" h="216021">
                <a:moveTo>
                  <a:pt x="108011" y="0"/>
                </a:moveTo>
                <a:lnTo>
                  <a:pt x="79296" y="3858"/>
                </a:lnTo>
                <a:lnTo>
                  <a:pt x="53495" y="14746"/>
                </a:lnTo>
                <a:lnTo>
                  <a:pt x="31635" y="31635"/>
                </a:lnTo>
                <a:lnTo>
                  <a:pt x="14746" y="53495"/>
                </a:lnTo>
                <a:lnTo>
                  <a:pt x="3858" y="79296"/>
                </a:lnTo>
                <a:lnTo>
                  <a:pt x="0" y="108011"/>
                </a:lnTo>
                <a:lnTo>
                  <a:pt x="3858" y="136724"/>
                </a:lnTo>
                <a:lnTo>
                  <a:pt x="14746" y="162526"/>
                </a:lnTo>
                <a:lnTo>
                  <a:pt x="31635" y="184386"/>
                </a:lnTo>
                <a:lnTo>
                  <a:pt x="53495" y="201274"/>
                </a:lnTo>
                <a:lnTo>
                  <a:pt x="79296" y="212162"/>
                </a:lnTo>
                <a:lnTo>
                  <a:pt x="108011" y="216021"/>
                </a:lnTo>
                <a:lnTo>
                  <a:pt x="136724" y="212162"/>
                </a:lnTo>
                <a:lnTo>
                  <a:pt x="162526" y="201274"/>
                </a:lnTo>
                <a:lnTo>
                  <a:pt x="184386" y="184386"/>
                </a:lnTo>
                <a:lnTo>
                  <a:pt x="201274" y="162526"/>
                </a:lnTo>
                <a:lnTo>
                  <a:pt x="212162" y="136724"/>
                </a:lnTo>
                <a:lnTo>
                  <a:pt x="216021" y="108011"/>
                </a:lnTo>
                <a:lnTo>
                  <a:pt x="212162" y="79296"/>
                </a:lnTo>
                <a:lnTo>
                  <a:pt x="201274" y="53495"/>
                </a:lnTo>
                <a:lnTo>
                  <a:pt x="184386" y="31635"/>
                </a:lnTo>
                <a:lnTo>
                  <a:pt x="162526" y="14746"/>
                </a:lnTo>
                <a:lnTo>
                  <a:pt x="136724" y="3858"/>
                </a:lnTo>
                <a:lnTo>
                  <a:pt x="108011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9" name="Shape 7"/>
          <p:cNvSpPr/>
          <p:nvPr/>
        </p:nvSpPr>
        <p:spPr>
          <a:xfrm>
            <a:off x="7733416" y="2631226"/>
            <a:ext cx="89720" cy="140933"/>
          </a:xfrm>
          <a:custGeom>
            <a:avLst/>
            <a:gdLst/>
            <a:ahLst/>
            <a:cxnLst/>
            <a:rect l="l" t="t" r="r" b="b"/>
            <a:pathLst>
              <a:path w="89720" h="140933">
                <a:moveTo>
                  <a:pt x="89720" y="0"/>
                </a:moveTo>
                <a:lnTo>
                  <a:pt x="0" y="70470"/>
                </a:lnTo>
                <a:lnTo>
                  <a:pt x="89720" y="140933"/>
                </a:lnTo>
                <a:lnTo>
                  <a:pt x="89720" y="0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1677257" y="2590618"/>
            <a:ext cx="216021" cy="216021"/>
          </a:xfrm>
          <a:custGeom>
            <a:avLst/>
            <a:gdLst/>
            <a:ahLst/>
            <a:cxnLst/>
            <a:rect l="l" t="t" r="r" b="b"/>
            <a:pathLst>
              <a:path w="216021" h="216021">
                <a:moveTo>
                  <a:pt x="108011" y="0"/>
                </a:moveTo>
                <a:lnTo>
                  <a:pt x="79296" y="3858"/>
                </a:lnTo>
                <a:lnTo>
                  <a:pt x="53495" y="14746"/>
                </a:lnTo>
                <a:lnTo>
                  <a:pt x="31635" y="31635"/>
                </a:lnTo>
                <a:lnTo>
                  <a:pt x="14746" y="53495"/>
                </a:lnTo>
                <a:lnTo>
                  <a:pt x="3858" y="79296"/>
                </a:lnTo>
                <a:lnTo>
                  <a:pt x="0" y="108011"/>
                </a:lnTo>
                <a:lnTo>
                  <a:pt x="3858" y="136724"/>
                </a:lnTo>
                <a:lnTo>
                  <a:pt x="14746" y="162526"/>
                </a:lnTo>
                <a:lnTo>
                  <a:pt x="31635" y="184386"/>
                </a:lnTo>
                <a:lnTo>
                  <a:pt x="53495" y="201274"/>
                </a:lnTo>
                <a:lnTo>
                  <a:pt x="79296" y="212162"/>
                </a:lnTo>
                <a:lnTo>
                  <a:pt x="108011" y="216021"/>
                </a:lnTo>
                <a:lnTo>
                  <a:pt x="136724" y="212162"/>
                </a:lnTo>
                <a:lnTo>
                  <a:pt x="162526" y="201274"/>
                </a:lnTo>
                <a:lnTo>
                  <a:pt x="184386" y="184386"/>
                </a:lnTo>
                <a:lnTo>
                  <a:pt x="201274" y="162526"/>
                </a:lnTo>
                <a:lnTo>
                  <a:pt x="212162" y="136724"/>
                </a:lnTo>
                <a:lnTo>
                  <a:pt x="216021" y="108011"/>
                </a:lnTo>
                <a:lnTo>
                  <a:pt x="212162" y="79296"/>
                </a:lnTo>
                <a:lnTo>
                  <a:pt x="201274" y="53495"/>
                </a:lnTo>
                <a:lnTo>
                  <a:pt x="184386" y="31635"/>
                </a:lnTo>
                <a:lnTo>
                  <a:pt x="162526" y="14746"/>
                </a:lnTo>
                <a:lnTo>
                  <a:pt x="136724" y="3858"/>
                </a:lnTo>
                <a:lnTo>
                  <a:pt x="108011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1" name="Shape 9"/>
          <p:cNvSpPr/>
          <p:nvPr/>
        </p:nvSpPr>
        <p:spPr>
          <a:xfrm>
            <a:off x="11720936" y="2631226"/>
            <a:ext cx="89720" cy="140933"/>
          </a:xfrm>
          <a:custGeom>
            <a:avLst/>
            <a:gdLst/>
            <a:ahLst/>
            <a:cxnLst/>
            <a:rect l="l" t="t" r="r" b="b"/>
            <a:pathLst>
              <a:path w="89720" h="140933">
                <a:moveTo>
                  <a:pt x="89720" y="0"/>
                </a:moveTo>
                <a:lnTo>
                  <a:pt x="0" y="70470"/>
                </a:lnTo>
                <a:lnTo>
                  <a:pt x="89720" y="140933"/>
                </a:lnTo>
                <a:lnTo>
                  <a:pt x="89720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2" name="Image 0" descr="https://kimi-img.moonshot.cn/pub/slides/slides_tmpl/image/25-09-04-14:55:16-d2sjfl61bb2p4onbq11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935" y="2533650"/>
            <a:ext cx="3742055" cy="354901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702580" y="2591937"/>
            <a:ext cx="216030" cy="220333"/>
          </a:xfrm>
          <a:custGeom>
            <a:avLst/>
            <a:gdLst/>
            <a:ahLst/>
            <a:cxnLst/>
            <a:rect l="l" t="t" r="r" b="b"/>
            <a:pathLst>
              <a:path w="216030" h="220333">
                <a:moveTo>
                  <a:pt x="108015" y="0"/>
                </a:moveTo>
                <a:lnTo>
                  <a:pt x="79300" y="3935"/>
                </a:lnTo>
                <a:lnTo>
                  <a:pt x="53497" y="15040"/>
                </a:lnTo>
                <a:lnTo>
                  <a:pt x="31636" y="32266"/>
                </a:lnTo>
                <a:lnTo>
                  <a:pt x="14747" y="54563"/>
                </a:lnTo>
                <a:lnTo>
                  <a:pt x="3858" y="80879"/>
                </a:lnTo>
                <a:lnTo>
                  <a:pt x="0" y="110167"/>
                </a:lnTo>
                <a:lnTo>
                  <a:pt x="3858" y="139454"/>
                </a:lnTo>
                <a:lnTo>
                  <a:pt x="14747" y="165770"/>
                </a:lnTo>
                <a:lnTo>
                  <a:pt x="31636" y="188067"/>
                </a:lnTo>
                <a:lnTo>
                  <a:pt x="53497" y="205292"/>
                </a:lnTo>
                <a:lnTo>
                  <a:pt x="79300" y="216398"/>
                </a:lnTo>
                <a:lnTo>
                  <a:pt x="108015" y="220333"/>
                </a:lnTo>
                <a:lnTo>
                  <a:pt x="136730" y="216398"/>
                </a:lnTo>
                <a:lnTo>
                  <a:pt x="162532" y="205292"/>
                </a:lnTo>
                <a:lnTo>
                  <a:pt x="184393" y="188067"/>
                </a:lnTo>
                <a:lnTo>
                  <a:pt x="201283" y="165770"/>
                </a:lnTo>
                <a:lnTo>
                  <a:pt x="212171" y="139454"/>
                </a:lnTo>
                <a:lnTo>
                  <a:pt x="216030" y="110167"/>
                </a:lnTo>
                <a:lnTo>
                  <a:pt x="212171" y="80879"/>
                </a:lnTo>
                <a:lnTo>
                  <a:pt x="201283" y="54563"/>
                </a:lnTo>
                <a:lnTo>
                  <a:pt x="184393" y="32266"/>
                </a:lnTo>
                <a:lnTo>
                  <a:pt x="162532" y="15040"/>
                </a:lnTo>
                <a:lnTo>
                  <a:pt x="136730" y="3935"/>
                </a:lnTo>
                <a:lnTo>
                  <a:pt x="108015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4" name="Shape 11"/>
          <p:cNvSpPr/>
          <p:nvPr/>
        </p:nvSpPr>
        <p:spPr>
          <a:xfrm>
            <a:off x="3746260" y="2633355"/>
            <a:ext cx="89724" cy="143747"/>
          </a:xfrm>
          <a:custGeom>
            <a:avLst/>
            <a:gdLst/>
            <a:ahLst/>
            <a:cxnLst/>
            <a:rect l="l" t="t" r="r" b="b"/>
            <a:pathLst>
              <a:path w="89724" h="143747">
                <a:moveTo>
                  <a:pt x="89724" y="0"/>
                </a:moveTo>
                <a:lnTo>
                  <a:pt x="0" y="71877"/>
                </a:lnTo>
                <a:lnTo>
                  <a:pt x="89724" y="143747"/>
                </a:lnTo>
                <a:lnTo>
                  <a:pt x="89724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5" name="Image 1" descr="https://kimi-img.moonshot.cn/pub/slides/slides_tmpl/image/25-09-04-14:55:16-d2sjfl61bb2p4onbq12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95" y="2528570"/>
            <a:ext cx="3737610" cy="3549015"/>
          </a:xfrm>
          <a:prstGeom prst="rect">
            <a:avLst/>
          </a:prstGeom>
        </p:spPr>
      </p:pic>
      <p:pic>
        <p:nvPicPr>
          <p:cNvPr id="16" name="Image 2" descr="https://kimi-img.moonshot.cn/pub/slides/slides_tmpl/image/25-09-04-14:55:17-d2sjfle1bb2p4onbq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995" y="2533650"/>
            <a:ext cx="3737610" cy="35490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53335" y="1300798"/>
            <a:ext cx="7444740" cy="70675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回顾与展望：数据探索之旅继续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0166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知识点回顾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32475" y="3389607"/>
            <a:ext cx="3232357" cy="17424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今天我们学会了：与DeepSeek对话的提示词技巧、Python环境搭建、变量/列表/循环/函数基础语法、matplotlib数据可视化、Orange无代码工具。你已经具备了独立探索数据的基础能力！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397512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下节课预告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479821" y="3389607"/>
            <a:ext cx="3232357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预告：下次将学习更高级的数据分析方法，包括数据筛选过滤、分组统计汇总、多图表组合展示。我们将用更强大的技术深入挖掘汞同位素数据的环境故事！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44860" y="2947594"/>
            <a:ext cx="3396974" cy="367665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课后作业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427169" y="3389607"/>
            <a:ext cx="3232357" cy="146304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作业：收集身边的环境数据（如班级同学身高体重、家庭用电量），用今天学到的方法进行分析和可视化。下节课分享你的发现，期待看到你们的精彩作品！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8387715" y="21082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4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5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6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2463" y="5919715"/>
            <a:ext cx="439359" cy="614178"/>
          </a:xfrm>
          <a:custGeom>
            <a:avLst/>
            <a:gdLst/>
            <a:ahLst/>
            <a:cxnLst/>
            <a:rect l="l" t="t" r="r" b="b"/>
            <a:pathLst>
              <a:path w="439359" h="614178">
                <a:moveTo>
                  <a:pt x="0" y="0"/>
                </a:moveTo>
                <a:lnTo>
                  <a:pt x="0" y="614178"/>
                </a:lnTo>
                <a:lnTo>
                  <a:pt x="439359" y="614178"/>
                </a:lnTo>
                <a:lnTo>
                  <a:pt x="439359" y="175007"/>
                </a:lnTo>
                <a:lnTo>
                  <a:pt x="152091" y="175007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3" name="Shape 1"/>
          <p:cNvSpPr/>
          <p:nvPr/>
        </p:nvSpPr>
        <p:spPr>
          <a:xfrm>
            <a:off x="254409" y="5919715"/>
            <a:ext cx="439359" cy="614178"/>
          </a:xfrm>
          <a:custGeom>
            <a:avLst/>
            <a:gdLst/>
            <a:ahLst/>
            <a:cxnLst/>
            <a:rect l="l" t="t" r="r" b="b"/>
            <a:pathLst>
              <a:path w="439359" h="614178">
                <a:moveTo>
                  <a:pt x="0" y="0"/>
                </a:moveTo>
                <a:lnTo>
                  <a:pt x="0" y="614178"/>
                </a:lnTo>
                <a:lnTo>
                  <a:pt x="439359" y="614178"/>
                </a:lnTo>
                <a:lnTo>
                  <a:pt x="439359" y="175007"/>
                </a:lnTo>
                <a:lnTo>
                  <a:pt x="152091" y="175007"/>
                </a:lnTo>
                <a:lnTo>
                  <a:pt x="0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4" name="Shape 2"/>
          <p:cNvSpPr/>
          <p:nvPr/>
        </p:nvSpPr>
        <p:spPr>
          <a:xfrm>
            <a:off x="5486434" y="304800"/>
            <a:ext cx="439359" cy="614178"/>
          </a:xfrm>
          <a:custGeom>
            <a:avLst/>
            <a:gdLst/>
            <a:ahLst/>
            <a:cxnLst/>
            <a:rect l="l" t="t" r="r" b="b"/>
            <a:pathLst>
              <a:path w="439359" h="614178">
                <a:moveTo>
                  <a:pt x="439359" y="0"/>
                </a:moveTo>
                <a:lnTo>
                  <a:pt x="0" y="0"/>
                </a:lnTo>
                <a:lnTo>
                  <a:pt x="0" y="439171"/>
                </a:lnTo>
                <a:lnTo>
                  <a:pt x="287267" y="439171"/>
                </a:lnTo>
                <a:lnTo>
                  <a:pt x="439359" y="614178"/>
                </a:lnTo>
                <a:lnTo>
                  <a:pt x="439359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5" name="Shape 3"/>
          <p:cNvSpPr/>
          <p:nvPr/>
        </p:nvSpPr>
        <p:spPr>
          <a:xfrm>
            <a:off x="6024488" y="304800"/>
            <a:ext cx="439359" cy="614178"/>
          </a:xfrm>
          <a:custGeom>
            <a:avLst/>
            <a:gdLst/>
            <a:ahLst/>
            <a:cxnLst/>
            <a:rect l="l" t="t" r="r" b="b"/>
            <a:pathLst>
              <a:path w="439359" h="614178">
                <a:moveTo>
                  <a:pt x="439359" y="0"/>
                </a:moveTo>
                <a:lnTo>
                  <a:pt x="0" y="0"/>
                </a:lnTo>
                <a:lnTo>
                  <a:pt x="0" y="439171"/>
                </a:lnTo>
                <a:lnTo>
                  <a:pt x="287267" y="439171"/>
                </a:lnTo>
                <a:lnTo>
                  <a:pt x="439359" y="614178"/>
                </a:lnTo>
                <a:lnTo>
                  <a:pt x="439359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6" name="Shape 4"/>
          <p:cNvSpPr/>
          <p:nvPr/>
        </p:nvSpPr>
        <p:spPr>
          <a:xfrm>
            <a:off x="3616738" y="1985443"/>
            <a:ext cx="926080" cy="617644"/>
          </a:xfrm>
          <a:custGeom>
            <a:avLst/>
            <a:gdLst/>
            <a:ahLst/>
            <a:cxnLst/>
            <a:rect l="l" t="t" r="r" b="b"/>
            <a:pathLst>
              <a:path w="926080" h="617644">
                <a:moveTo>
                  <a:pt x="926080" y="617644"/>
                </a:moveTo>
                <a:lnTo>
                  <a:pt x="525177" y="254021"/>
                </a:lnTo>
                <a:lnTo>
                  <a:pt x="897905" y="8695"/>
                </a:lnTo>
                <a:lnTo>
                  <a:pt x="616272" y="8695"/>
                </a:lnTo>
                <a:lnTo>
                  <a:pt x="233584" y="280114"/>
                </a:lnTo>
                <a:lnTo>
                  <a:pt x="233584" y="8695"/>
                </a:lnTo>
                <a:lnTo>
                  <a:pt x="0" y="8695"/>
                </a:lnTo>
                <a:lnTo>
                  <a:pt x="0" y="617644"/>
                </a:lnTo>
                <a:lnTo>
                  <a:pt x="233584" y="617644"/>
                </a:lnTo>
                <a:lnTo>
                  <a:pt x="233584" y="447146"/>
                </a:lnTo>
                <a:lnTo>
                  <a:pt x="374415" y="354057"/>
                </a:lnTo>
                <a:lnTo>
                  <a:pt x="654376" y="617644"/>
                </a:lnTo>
                <a:lnTo>
                  <a:pt x="926080" y="617644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Shape 5"/>
          <p:cNvSpPr/>
          <p:nvPr/>
        </p:nvSpPr>
        <p:spPr>
          <a:xfrm>
            <a:off x="3665010" y="4019885"/>
            <a:ext cx="426266" cy="603781"/>
          </a:xfrm>
          <a:custGeom>
            <a:avLst/>
            <a:gdLst/>
            <a:ahLst/>
            <a:cxnLst/>
            <a:rect l="l" t="t" r="r" b="b"/>
            <a:pathLst>
              <a:path w="426266" h="603781">
                <a:moveTo>
                  <a:pt x="426266" y="0"/>
                </a:moveTo>
                <a:lnTo>
                  <a:pt x="0" y="0"/>
                </a:lnTo>
                <a:lnTo>
                  <a:pt x="0" y="107048"/>
                </a:lnTo>
                <a:lnTo>
                  <a:pt x="151874" y="107048"/>
                </a:lnTo>
                <a:lnTo>
                  <a:pt x="151874" y="603781"/>
                </a:lnTo>
                <a:lnTo>
                  <a:pt x="274399" y="603781"/>
                </a:lnTo>
                <a:lnTo>
                  <a:pt x="274399" y="107048"/>
                </a:lnTo>
                <a:lnTo>
                  <a:pt x="426266" y="107048"/>
                </a:lnTo>
                <a:lnTo>
                  <a:pt x="426266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8" name="Image 0" descr="https://kimi-img.moonshot.cn/pub/slides/slides_tmpl/image/25-09-04-14:55:17-d2sjfle1bb2p4onbq16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596" y="0"/>
            <a:ext cx="4815621" cy="685751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1378828" y="6114620"/>
            <a:ext cx="431657" cy="457457"/>
          </a:xfrm>
          <a:custGeom>
            <a:avLst/>
            <a:gdLst/>
            <a:ahLst/>
            <a:cxnLst/>
            <a:rect l="l" t="t" r="r" b="b"/>
            <a:pathLst>
              <a:path w="431657" h="457457">
                <a:moveTo>
                  <a:pt x="431657" y="0"/>
                </a:moveTo>
                <a:lnTo>
                  <a:pt x="0" y="0"/>
                </a:lnTo>
                <a:lnTo>
                  <a:pt x="0" y="457457"/>
                </a:lnTo>
                <a:lnTo>
                  <a:pt x="431657" y="457457"/>
                </a:lnTo>
                <a:lnTo>
                  <a:pt x="431657" y="0"/>
                </a:lnTo>
                <a:close/>
              </a:path>
            </a:pathLst>
          </a:custGeom>
          <a:solidFill>
            <a:srgbClr val="1E1E1E"/>
          </a:solidFill>
        </p:spPr>
      </p:sp>
      <p:sp>
        <p:nvSpPr>
          <p:cNvPr id="10" name="Shape 7"/>
          <p:cNvSpPr/>
          <p:nvPr/>
        </p:nvSpPr>
        <p:spPr>
          <a:xfrm>
            <a:off x="11485252" y="6198371"/>
            <a:ext cx="187526" cy="294189"/>
          </a:xfrm>
          <a:custGeom>
            <a:avLst/>
            <a:gdLst/>
            <a:ahLst/>
            <a:cxnLst/>
            <a:rect l="l" t="t" r="r" b="b"/>
            <a:pathLst>
              <a:path w="187526" h="294189">
                <a:moveTo>
                  <a:pt x="187526" y="0"/>
                </a:moveTo>
                <a:lnTo>
                  <a:pt x="0" y="147094"/>
                </a:lnTo>
                <a:lnTo>
                  <a:pt x="187526" y="294189"/>
                </a:lnTo>
                <a:lnTo>
                  <a:pt x="187526" y="0"/>
                </a:lnTo>
                <a:close/>
              </a:path>
            </a:pathLst>
          </a:custGeom>
          <a:solidFill>
            <a:srgbClr val="FFFFFF"/>
          </a:solidFill>
        </p:spPr>
      </p:sp>
      <p:pic>
        <p:nvPicPr>
          <p:cNvPr id="11" name="Image 1" descr="https://kimi-img.moonshot.cn/pub/slides/slides_tmpl/image/25-09-04-14:55:17-d2sjfle1bb2p4onbq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773555"/>
            <a:ext cx="4730750" cy="33108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988" y="5183544"/>
            <a:ext cx="1972962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主讲</a:t>
            </a: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人: </a:t>
            </a:r>
            <a:r>
              <a:rPr lang="zh-CN" alt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周楚凡</a:t>
            </a:r>
            <a:endParaRPr lang="zh-CN" altLang="en-US" sz="2000" b="1" dirty="0">
              <a:solidFill>
                <a:srgbClr val="000000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2747010" y="5183823"/>
            <a:ext cx="3603625" cy="398780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汇报时间:2026/04/04</a:t>
            </a:r>
            <a:endParaRPr lang="en-US" sz="1600" dirty="0"/>
          </a:p>
        </p:txBody>
      </p:sp>
      <p:grpSp>
        <p:nvGrpSpPr>
          <p:cNvPr id="28" name="组合 27"/>
          <p:cNvGrpSpPr/>
          <p:nvPr/>
        </p:nvGrpSpPr>
        <p:grpSpPr>
          <a:xfrm>
            <a:off x="155575" y="209550"/>
            <a:ext cx="2021840" cy="693420"/>
            <a:chOff x="15990" y="125"/>
            <a:chExt cx="3184" cy="1092"/>
          </a:xfrm>
        </p:grpSpPr>
        <p:pic>
          <p:nvPicPr>
            <p:cNvPr id="29" name="图片 1" descr="国科大标准Logo横式一（蓝色）"/>
            <p:cNvPicPr>
              <a:picLocks noChangeAspect="1"/>
            </p:cNvPicPr>
            <p:nvPr/>
          </p:nvPicPr>
          <p:blipFill>
            <a:blip r:embed="rId3"/>
            <a:srcRect r="80804"/>
            <a:stretch>
              <a:fillRect/>
            </a:stretch>
          </p:blipFill>
          <p:spPr>
            <a:xfrm>
              <a:off x="15990" y="125"/>
              <a:ext cx="1000" cy="1093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0" name="图片 29"/>
            <p:cNvPicPr/>
            <p:nvPr/>
          </p:nvPicPr>
          <p:blipFill>
            <a:blip r:embed="rId4"/>
            <a:srcRect r="86048"/>
            <a:stretch>
              <a:fillRect/>
            </a:stretch>
          </p:blipFill>
          <p:spPr>
            <a:xfrm>
              <a:off x="16990" y="134"/>
              <a:ext cx="1136" cy="1082"/>
            </a:xfrm>
            <a:prstGeom prst="rect">
              <a:avLst/>
            </a:prstGeom>
          </p:spPr>
        </p:pic>
        <p:pic>
          <p:nvPicPr>
            <p:cNvPr id="31" name="图片 30"/>
            <p:cNvPicPr/>
            <p:nvPr/>
          </p:nvPicPr>
          <p:blipFill>
            <a:blip r:embed="rId5"/>
            <a:srcRect r="85453"/>
            <a:stretch>
              <a:fillRect/>
            </a:stretch>
          </p:blipFill>
          <p:spPr>
            <a:xfrm>
              <a:off x="18100" y="125"/>
              <a:ext cx="1074" cy="1083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2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3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4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5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6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7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8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9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0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1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2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3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4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5.xml><?xml version="1.0" encoding="utf-8"?>
<p:tagLst xmlns:p="http://schemas.openxmlformats.org/presentationml/2006/main">
  <p:tag name="KSO_WM_DIAGRAM_VIRTUALLY_FRAME" val="{&quot;height&quot;:441.9966929133858,&quot;left&quot;:28.031574803149606,&quot;top&quot;:77.49456692913387,&quot;width&quot;:632.4761417322835}"/>
</p:tagLst>
</file>

<file path=ppt/tags/tag16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17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18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19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0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1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2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3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4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5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6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7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8.xml><?xml version="1.0" encoding="utf-8"?>
<p:tagLst xmlns:p="http://schemas.openxmlformats.org/presentationml/2006/main">
  <p:tag name="KSO_WM_DIAGRAM_VIRTUALLY_FRAME" val="{&quot;height&quot;:503.4542519685039,&quot;left&quot;:313.9510236220473,&quot;top&quot;:17.495748031496063,&quot;width&quot;:621.4989763779528}"/>
</p:tagLst>
</file>

<file path=ppt/tags/tag29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0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1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2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3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4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5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6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7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8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39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0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1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2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3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4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5.xml><?xml version="1.0" encoding="utf-8"?>
<p:tagLst xmlns:p="http://schemas.openxmlformats.org/presentationml/2006/main">
  <p:tag name="KSO_WM_DIAGRAM_VIRTUALLY_FRAME" val="{&quot;height&quot;:279.85,&quot;left&quot;:19.05,&quot;top&quot;:199.1,&quot;width&quot;:922.1}"/>
</p:tagLst>
</file>

<file path=ppt/tags/tag46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47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48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49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0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1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2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3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4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5.xml><?xml version="1.0" encoding="utf-8"?>
<p:tagLst xmlns:p="http://schemas.openxmlformats.org/presentationml/2006/main">
  <p:tag name="KSO_WM_DIAGRAM_VIRTUALLY_FRAME" val="{&quot;height&quot;:461.05,&quot;left&quot;:326.4,&quot;top&quot;:47.15,&quot;width&quot;:611.45}"/>
</p:tagLst>
</file>

<file path=ppt/tags/tag56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ags/tag57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ags/tag58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ags/tag59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ags/tag60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ags/tag61.xml><?xml version="1.0" encoding="utf-8"?>
<p:tagLst xmlns:p="http://schemas.openxmlformats.org/presentationml/2006/main">
  <p:tag name="KSO_WM_DIAGRAM_VIRTUALLY_FRAME" val="{&quot;height&quot;:259.8696062992126,&quot;left&quot;:36,&quot;top&quot;:198,&quot;width&quot;:868.1381102362204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5455</Words>
  <Application>WPS 演示</Application>
  <PresentationFormat>On-screen Show (16:9)</PresentationFormat>
  <Paragraphs>328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Arial</vt:lpstr>
      <vt:lpstr>宋体</vt:lpstr>
      <vt:lpstr>Wingdings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Python与AI助手：轻松上手数据探索</dc:title>
  <dc:creator>Kimi</dc:creator>
  <dc:subject>Python与AI助手：轻松上手数据探索</dc:subject>
  <cp:lastModifiedBy>yoko</cp:lastModifiedBy>
  <cp:revision>10</cp:revision>
  <dcterms:created xsi:type="dcterms:W3CDTF">2026-03-27T07:51:00Z</dcterms:created>
  <dcterms:modified xsi:type="dcterms:W3CDTF">2026-04-03T05:38:17Z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ython与AI助手：轻松上手数据探索","ContentProducer":"001191110108MACG2KBH8F10000","ProduceID":"19d2e44f-3a62-8959-8000-0000ac64a9cb","ReservedCode1":"","ContentPropagator":"001191110108MACG2KBH8F20000","PropagateID":"19d2e44f-3a62-8959-8000-0000ac64a9cb","ReservedCode2":""}</vt:lpwstr>
  </property>
  <property fmtid="{D5CDD505-2E9C-101B-9397-08002B2CF9AE}" pid="3" name="KSOProductBuildVer">
    <vt:lpwstr>2052-12.1.0.25225</vt:lpwstr>
  </property>
  <property fmtid="{D5CDD505-2E9C-101B-9397-08002B2CF9AE}" pid="4" name="ICV">
    <vt:lpwstr>144E18E726E042F5BAE3073557CC914C_12</vt:lpwstr>
  </property>
</Properties>
</file>